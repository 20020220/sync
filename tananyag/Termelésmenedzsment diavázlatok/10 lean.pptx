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9" r:id="rId2"/>
    <p:sldId id="346" r:id="rId3"/>
    <p:sldId id="339" r:id="rId4"/>
    <p:sldId id="347" r:id="rId5"/>
    <p:sldId id="342" r:id="rId6"/>
    <p:sldId id="341" r:id="rId7"/>
    <p:sldId id="340" r:id="rId8"/>
    <p:sldId id="311" r:id="rId9"/>
    <p:sldId id="332" r:id="rId10"/>
    <p:sldId id="334" r:id="rId11"/>
    <p:sldId id="335" r:id="rId12"/>
    <p:sldId id="313" r:id="rId13"/>
    <p:sldId id="312" r:id="rId14"/>
    <p:sldId id="314" r:id="rId15"/>
    <p:sldId id="315" r:id="rId16"/>
    <p:sldId id="316" r:id="rId17"/>
    <p:sldId id="322" r:id="rId18"/>
    <p:sldId id="323" r:id="rId19"/>
    <p:sldId id="318" r:id="rId20"/>
    <p:sldId id="324" r:id="rId21"/>
    <p:sldId id="330" r:id="rId22"/>
    <p:sldId id="331" r:id="rId23"/>
    <p:sldId id="344" r:id="rId24"/>
    <p:sldId id="320" r:id="rId25"/>
    <p:sldId id="333" r:id="rId26"/>
    <p:sldId id="345" r:id="rId27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249" autoAdjust="0"/>
  </p:normalViewPr>
  <p:slideViewPr>
    <p:cSldViewPr snapToGrid="0">
      <p:cViewPr varScale="1">
        <p:scale>
          <a:sx n="104" d="100"/>
          <a:sy n="104" d="100"/>
        </p:scale>
        <p:origin x="16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484672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Kitekintés:</a:t>
            </a:r>
          </a:p>
          <a:p>
            <a:r>
              <a:rPr lang="hu-HU" sz="3600" dirty="0">
                <a:solidFill>
                  <a:schemeClr val="bg1"/>
                </a:solidFill>
              </a:rPr>
              <a:t>Veszteség és érték a Toyota szemléletében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80B48B-7FAA-4F5E-9F8C-7DD51CF8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Változások fő irányai a szervezetirányításban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99B747-7323-4B0C-81A4-B25603457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65960"/>
            <a:ext cx="8229600" cy="442077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hu-HU" dirty="0"/>
              <a:t>Hagyományos munkamegosztás leépítése</a:t>
            </a:r>
          </a:p>
          <a:p>
            <a:pPr>
              <a:lnSpc>
                <a:spcPct val="150000"/>
              </a:lnSpc>
            </a:pPr>
            <a:r>
              <a:rPr lang="hu-HU" dirty="0"/>
              <a:t>Csoport-/projekt- munkavégzés erőteljes alkalmazása</a:t>
            </a:r>
          </a:p>
          <a:p>
            <a:pPr>
              <a:lnSpc>
                <a:spcPct val="150000"/>
              </a:lnSpc>
            </a:pPr>
            <a:r>
              <a:rPr lang="hu-HU" dirty="0"/>
              <a:t>Funkciók integrálása a feladatorientáció érvényesítésére</a:t>
            </a:r>
          </a:p>
          <a:p>
            <a:pPr>
              <a:lnSpc>
                <a:spcPct val="150000"/>
              </a:lnSpc>
            </a:pPr>
            <a:r>
              <a:rPr lang="hu-HU" dirty="0"/>
              <a:t>Módszertani megalapozottság és egységesítés</a:t>
            </a:r>
          </a:p>
          <a:p>
            <a:pPr>
              <a:lnSpc>
                <a:spcPct val="150000"/>
              </a:lnSpc>
            </a:pPr>
            <a:r>
              <a:rPr lang="hu-HU" dirty="0"/>
              <a:t>Vezetési és termelési struktúra egyszerűsítése</a:t>
            </a:r>
          </a:p>
          <a:p>
            <a:pPr>
              <a:lnSpc>
                <a:spcPct val="150000"/>
              </a:lnSpc>
            </a:pPr>
            <a:r>
              <a:rPr lang="hu-HU" dirty="0"/>
              <a:t>Nem értékteremtő tevékenységek és folyamatok kiiktatása (</a:t>
            </a:r>
            <a:r>
              <a:rPr lang="hu-HU" dirty="0" err="1"/>
              <a:t>outsourcing</a:t>
            </a:r>
            <a:r>
              <a:rPr lang="hu-HU" dirty="0"/>
              <a:t>)</a:t>
            </a:r>
          </a:p>
          <a:p>
            <a:pPr>
              <a:lnSpc>
                <a:spcPct val="150000"/>
              </a:lnSpc>
            </a:pPr>
            <a:r>
              <a:rPr lang="hu-HU" dirty="0"/>
              <a:t>Hierarchikus lépcsők erőteljes csökkentése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11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D362CC-D249-410E-A541-7AB8A8D8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8474"/>
            <a:ext cx="8229600" cy="1143000"/>
          </a:xfrm>
        </p:spPr>
        <p:txBody>
          <a:bodyPr/>
          <a:lstStyle/>
          <a:p>
            <a:r>
              <a:rPr lang="hu-HU" dirty="0" err="1"/>
              <a:t>Lean</a:t>
            </a:r>
            <a:r>
              <a:rPr lang="hu-HU" dirty="0"/>
              <a:t> menedzsment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4F158D1-BF8D-4723-BE4E-C4C48232E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5703"/>
            <a:ext cx="8229600" cy="5363737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sz="2000" dirty="0"/>
              <a:t>&lt;</a:t>
            </a:r>
            <a:r>
              <a:rPr lang="hu-HU" sz="2000" dirty="0" err="1"/>
              <a:t>eng</a:t>
            </a:r>
            <a:r>
              <a:rPr lang="hu-HU" sz="2000" dirty="0"/>
              <a:t>&gt; </a:t>
            </a:r>
            <a:r>
              <a:rPr lang="hu-HU" sz="2000" dirty="0" err="1"/>
              <a:t>lean</a:t>
            </a:r>
            <a:r>
              <a:rPr lang="hu-HU" sz="2000" dirty="0"/>
              <a:t> = sovány, szikár, vézna, unalmas…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hu-HU" sz="2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sz="2000" dirty="0"/>
              <a:t>egy vállalatszervezési, vállalatirányítási módszer, amelynek célja, hogy a vállalat minél gazdaságosabban állítsa elő a termékeit, szolgáltatásait. A </a:t>
            </a:r>
            <a:r>
              <a:rPr lang="hu-HU" sz="2000" dirty="0" err="1"/>
              <a:t>lean</a:t>
            </a:r>
            <a:r>
              <a:rPr lang="hu-HU" sz="2000" dirty="0"/>
              <a:t> vállalat a tevékenységeit elsősorban az alapján alakítja ki, hogy a vevő számára mi az érték. Ami a vevő számára nem teremt értéket, amiért a vevő nem fizet, azt a </a:t>
            </a:r>
            <a:r>
              <a:rPr lang="hu-HU" sz="2000" dirty="0" err="1"/>
              <a:t>lean</a:t>
            </a:r>
            <a:r>
              <a:rPr lang="hu-HU" sz="2000" dirty="0"/>
              <a:t> veszteségnek (pazarlásnak) tekinti, és a munkafolyamatok hatékonyságát ezeknek a veszteségeknek a megelőzésével, megszüntetésével vagy minimálisra csökkentésével növeli.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sz="2000" dirty="0"/>
              <a:t>Kulcselemek: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u-HU" sz="1800" dirty="0"/>
              <a:t>Felesleges erőforrások alkalmazásának elkerülése (0 hiba, 0 készlet, …, kihasználatlan erőforrások)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u-HU" sz="1800" dirty="0"/>
              <a:t>Folyamatos és aprólékosan előkészített változások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u-HU" sz="1800" dirty="0"/>
              <a:t>Erős technológiai orientáltság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hu-HU" sz="1800" dirty="0"/>
              <a:t>Rugalmasan kezelt emberi tényező (belső vállalkozás, külső vállalkozás)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3336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2901D6-3EFA-41D6-825A-D47A9C75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Lean</a:t>
            </a:r>
            <a:r>
              <a:rPr lang="hu-HU" dirty="0"/>
              <a:t> célok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232C4E-B73B-473F-B5BE-BEF2F4B3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132" y="1767468"/>
            <a:ext cx="8229600" cy="44207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u-HU" dirty="0"/>
              <a:t>Jobb vevő- és piacorientáció</a:t>
            </a:r>
          </a:p>
          <a:p>
            <a:pPr>
              <a:lnSpc>
                <a:spcPct val="90000"/>
              </a:lnSpc>
            </a:pPr>
            <a:r>
              <a:rPr lang="hu-HU" dirty="0"/>
              <a:t>Termelékenység növelése</a:t>
            </a:r>
          </a:p>
          <a:p>
            <a:pPr>
              <a:lnSpc>
                <a:spcPct val="90000"/>
              </a:lnSpc>
            </a:pPr>
            <a:r>
              <a:rPr lang="hu-HU" dirty="0"/>
              <a:t>Önköltség csökkentése</a:t>
            </a:r>
          </a:p>
          <a:p>
            <a:pPr>
              <a:lnSpc>
                <a:spcPct val="90000"/>
              </a:lnSpc>
            </a:pPr>
            <a:r>
              <a:rPr lang="hu-HU" dirty="0"/>
              <a:t>Hatékony információáramlás</a:t>
            </a:r>
          </a:p>
          <a:p>
            <a:pPr>
              <a:lnSpc>
                <a:spcPct val="90000"/>
              </a:lnSpc>
            </a:pPr>
            <a:r>
              <a:rPr lang="hu-HU" dirty="0"/>
              <a:t>Egyszerűbb, áttekinthetőbb szervezet</a:t>
            </a:r>
          </a:p>
          <a:p>
            <a:pPr>
              <a:lnSpc>
                <a:spcPct val="90000"/>
              </a:lnSpc>
            </a:pPr>
            <a:r>
              <a:rPr lang="hu-HU" dirty="0"/>
              <a:t>Rugalmasság fokozása</a:t>
            </a:r>
          </a:p>
          <a:p>
            <a:pPr>
              <a:lnSpc>
                <a:spcPct val="90000"/>
              </a:lnSpc>
            </a:pPr>
            <a:r>
              <a:rPr lang="hu-HU" dirty="0"/>
              <a:t>Vertikalitás csökkentése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235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lapelvek">
            <a:extLst>
              <a:ext uri="{FF2B5EF4-FFF2-40B4-BE49-F238E27FC236}">
                <a16:creationId xmlns:a16="http://schemas.microsoft.com/office/drawing/2014/main" id="{0D53AD00-16EB-44C3-B6FD-919FA7966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717" y="338860"/>
            <a:ext cx="2553629" cy="194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DB22115-E006-4906-B1CE-3C3056EB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02" y="169431"/>
            <a:ext cx="8229600" cy="1143000"/>
          </a:xfrm>
        </p:spPr>
        <p:txBody>
          <a:bodyPr/>
          <a:lstStyle/>
          <a:p>
            <a:r>
              <a:rPr lang="hu-HU" dirty="0" err="1"/>
              <a:t>Lean</a:t>
            </a:r>
            <a:r>
              <a:rPr lang="hu-HU" dirty="0"/>
              <a:t> alapelvek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EC7A3F-DF94-4208-9F37-13CC283A2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75" y="2286002"/>
            <a:ext cx="8229600" cy="4950454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b="1" dirty="0"/>
              <a:t>Alapvető cél</a:t>
            </a:r>
            <a:r>
              <a:rPr lang="hu-HU" dirty="0"/>
              <a:t>: legjobb minőség, legrövidebb átfutási idő, biztonság és kiváló morál.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b="1" dirty="0"/>
              <a:t>Érték meghatározása</a:t>
            </a:r>
            <a:r>
              <a:rPr lang="hu-HU" dirty="0"/>
              <a:t>: a vevők és igényeinek megismerése annak érdekében, hogy a szervezet tudja, mi jelent számára értéket.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b="1" dirty="0"/>
              <a:t>Értékáram meghatározása:</a:t>
            </a:r>
            <a:r>
              <a:rPr lang="hu-HU" dirty="0"/>
              <a:t> a veszteségek és forrásaik felismerése, azok eliminálása.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b="1" dirty="0"/>
              <a:t>Áramlás (flow) megvalósítása: </a:t>
            </a:r>
            <a:r>
              <a:rPr lang="hu-HU" dirty="0"/>
              <a:t>az éppen időben elv (JIT – </a:t>
            </a:r>
            <a:r>
              <a:rPr lang="hu-HU" dirty="0" err="1"/>
              <a:t>Just</a:t>
            </a:r>
            <a:r>
              <a:rPr lang="hu-HU" dirty="0"/>
              <a:t> in Time) és a beépített minőség (</a:t>
            </a:r>
            <a:r>
              <a:rPr lang="hu-HU" dirty="0" err="1"/>
              <a:t>jidoka</a:t>
            </a:r>
            <a:r>
              <a:rPr lang="hu-HU" dirty="0"/>
              <a:t>) módszereivel és eszközeivel a folyamatos, kiegyensúlyozott működés biztosítása.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b="1" dirty="0"/>
              <a:t>Húzó (</a:t>
            </a:r>
            <a:r>
              <a:rPr lang="hu-HU" b="1" dirty="0" err="1"/>
              <a:t>pull</a:t>
            </a:r>
            <a:r>
              <a:rPr lang="hu-HU" b="1" dirty="0"/>
              <a:t>) gyártás kialakítása:</a:t>
            </a:r>
            <a:r>
              <a:rPr lang="hu-HU" dirty="0"/>
              <a:t> a hagyományos toló gondolkodás helyett az igényekhez igazodó gyártási rendszer kialakítása, mert az nem vezet felesleges készletekhez és segít a problémákat felszínre hozni. Szeretném megjegyezni, hogy szakirodalmi és szervezeti népszerűsége ellenére a húzó rendszer nem mindenható, sőt kialakításának sajátos feltételei vannak. Bizonyos iparágakban vagy méretnagyság esetén több kárt okozhat, mint hasznos – ez azonban termelésmenedzsment és nem minőségmenedzsment kérdés!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b="1" dirty="0"/>
              <a:t>Tökéletesítés:</a:t>
            </a:r>
            <a:r>
              <a:rPr lang="hu-HU" dirty="0"/>
              <a:t> a folyamatos fejlesztés megvalósítása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03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E4617B-D5CA-47BD-86DF-1DA34FD2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Lean</a:t>
            </a:r>
            <a:r>
              <a:rPr lang="hu-HU" dirty="0"/>
              <a:t> termelés jellemzői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11ECB2-7787-42A7-8D7B-83CB21AA6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757" y="2022231"/>
            <a:ext cx="8229600" cy="4420771"/>
          </a:xfrm>
        </p:spPr>
        <p:txBody>
          <a:bodyPr>
            <a:normAutofit/>
          </a:bodyPr>
          <a:lstStyle/>
          <a:p>
            <a:r>
              <a:rPr lang="hu-HU" dirty="0"/>
              <a:t>átlátható munkahely-kialakítás</a:t>
            </a:r>
          </a:p>
          <a:p>
            <a:r>
              <a:rPr lang="hu-HU" dirty="0"/>
              <a:t>önellenőrzés beépítése a folyamatokba</a:t>
            </a:r>
          </a:p>
          <a:p>
            <a:r>
              <a:rPr lang="hu-HU" dirty="0"/>
              <a:t>a munkavégzés szabványosítása</a:t>
            </a:r>
          </a:p>
          <a:p>
            <a:r>
              <a:rPr lang="hu-HU" dirty="0"/>
              <a:t>megelőző karbantartás a teljesítőképesség fenntartására</a:t>
            </a:r>
          </a:p>
          <a:p>
            <a:r>
              <a:rPr lang="hu-HU" dirty="0"/>
              <a:t>kiegyenlített termelés megvalósítása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855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B54E2F-75BB-45D7-AB38-E3A39C82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Toyota és </a:t>
            </a:r>
            <a:r>
              <a:rPr lang="hu-HU" dirty="0" err="1"/>
              <a:t>lean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0562FD-D8A5-48EF-9FC6-F1D35BB92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32" y="1941856"/>
            <a:ext cx="8090859" cy="391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7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A86C5C-02A7-4D51-99ED-038D019AA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22627" y="475963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800" dirty="0"/>
              <a:t>Toyota sajátosságai</a:t>
            </a:r>
          </a:p>
        </p:txBody>
      </p:sp>
      <p:sp>
        <p:nvSpPr>
          <p:cNvPr id="2" name="Tartalom helye 1">
            <a:extLst>
              <a:ext uri="{FF2B5EF4-FFF2-40B4-BE49-F238E27FC236}">
                <a16:creationId xmlns:a16="http://schemas.microsoft.com/office/drawing/2014/main" id="{16593E8C-35D0-499C-895B-EABA585B9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</a:pPr>
            <a:r>
              <a:rPr lang="hu-HU" altLang="hu-HU" dirty="0"/>
              <a:t>Több lábon álló </a:t>
            </a:r>
            <a:r>
              <a:rPr lang="hu-HU" altLang="hu-HU" dirty="0" err="1"/>
              <a:t>keiretsu</a:t>
            </a:r>
            <a:r>
              <a:rPr lang="hu-HU" altLang="hu-HU" dirty="0"/>
              <a:t> (konglomerátum)</a:t>
            </a:r>
          </a:p>
          <a:p>
            <a:pPr>
              <a:lnSpc>
                <a:spcPct val="130000"/>
              </a:lnSpc>
            </a:pPr>
            <a:r>
              <a:rPr lang="hu-HU" altLang="hu-HU" dirty="0" err="1"/>
              <a:t>Genchi</a:t>
            </a:r>
            <a:r>
              <a:rPr lang="hu-HU" altLang="hu-HU" dirty="0"/>
              <a:t> </a:t>
            </a:r>
            <a:r>
              <a:rPr lang="hu-HU" altLang="hu-HU" dirty="0" err="1"/>
              <a:t>genbutsu</a:t>
            </a:r>
            <a:r>
              <a:rPr lang="hu-HU" altLang="hu-HU" dirty="0"/>
              <a:t> – személyes részvétel</a:t>
            </a:r>
          </a:p>
          <a:p>
            <a:pPr>
              <a:lnSpc>
                <a:spcPct val="130000"/>
              </a:lnSpc>
            </a:pPr>
            <a:r>
              <a:rPr lang="hu-HU" altLang="hu-HU" dirty="0" err="1"/>
              <a:t>Jidoka</a:t>
            </a:r>
            <a:r>
              <a:rPr lang="hu-HU" altLang="hu-HU" dirty="0"/>
              <a:t> – beépített minőség</a:t>
            </a:r>
          </a:p>
          <a:p>
            <a:pPr>
              <a:lnSpc>
                <a:spcPct val="130000"/>
              </a:lnSpc>
            </a:pPr>
            <a:r>
              <a:rPr lang="hu-HU" altLang="hu-HU" dirty="0" err="1"/>
              <a:t>Poka-yoke</a:t>
            </a:r>
            <a:r>
              <a:rPr lang="hu-HU" altLang="hu-HU" dirty="0"/>
              <a:t> – bolondbiztos működés</a:t>
            </a:r>
          </a:p>
          <a:p>
            <a:pPr>
              <a:lnSpc>
                <a:spcPct val="130000"/>
              </a:lnSpc>
            </a:pPr>
            <a:r>
              <a:rPr lang="hu-HU" altLang="hu-HU" dirty="0"/>
              <a:t>Veszteség feltárása és felszámolása</a:t>
            </a:r>
          </a:p>
          <a:p>
            <a:pPr>
              <a:lnSpc>
                <a:spcPct val="130000"/>
              </a:lnSpc>
            </a:pPr>
            <a:r>
              <a:rPr lang="hu-HU" altLang="hu-HU" dirty="0" err="1"/>
              <a:t>Heijunka</a:t>
            </a:r>
            <a:r>
              <a:rPr lang="hu-HU" altLang="hu-HU" dirty="0"/>
              <a:t> - kiegyenlített termelés</a:t>
            </a:r>
          </a:p>
          <a:p>
            <a:pPr>
              <a:lnSpc>
                <a:spcPct val="130000"/>
              </a:lnSpc>
            </a:pPr>
            <a:r>
              <a:rPr lang="hu-HU" altLang="hu-HU" dirty="0" err="1"/>
              <a:t>Hansei</a:t>
            </a:r>
            <a:r>
              <a:rPr lang="hu-HU" altLang="hu-HU" dirty="0"/>
              <a:t> – folyamatos újragondolás</a:t>
            </a:r>
          </a:p>
          <a:p>
            <a:pPr marL="0" indent="0">
              <a:lnSpc>
                <a:spcPct val="130000"/>
              </a:lnSpc>
              <a:buNone/>
            </a:pPr>
            <a:endParaRPr lang="hu-HU" altLang="hu-HU" dirty="0"/>
          </a:p>
          <a:p>
            <a:pPr marL="0" indent="0">
              <a:lnSpc>
                <a:spcPct val="130000"/>
              </a:lnSpc>
              <a:buNone/>
            </a:pPr>
            <a:r>
              <a:rPr lang="hu-HU" altLang="hu-HU" sz="1900" i="1" dirty="0"/>
              <a:t>A vonatkozó részek  J. K. </a:t>
            </a:r>
            <a:r>
              <a:rPr lang="hu-HU" altLang="hu-HU" sz="1900" i="1" dirty="0" err="1"/>
              <a:t>Liker</a:t>
            </a:r>
            <a:r>
              <a:rPr lang="hu-HU" altLang="hu-HU" sz="1900" i="1" dirty="0"/>
              <a:t>: A Toyota-módszer c. könyve alapján készültek</a:t>
            </a:r>
          </a:p>
          <a:p>
            <a:pPr>
              <a:lnSpc>
                <a:spcPct val="130000"/>
              </a:lnSpc>
            </a:pPr>
            <a:endParaRPr lang="hu-HU" altLang="hu-HU" dirty="0"/>
          </a:p>
          <a:p>
            <a:endParaRPr lang="en-US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CC4ED390-1893-44E1-AD19-78DDD72F9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516563"/>
            <a:ext cx="120967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04C5796-9AED-41C4-931E-A45BCD57D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117" y="1867320"/>
            <a:ext cx="1851490" cy="274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FD9C62B-A96B-4903-8171-B9310A945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41538" y="495905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/>
              <a:t>Toyota-alapelvek piramisa</a:t>
            </a:r>
          </a:p>
        </p:txBody>
      </p:sp>
      <p:sp>
        <p:nvSpPr>
          <p:cNvPr id="164868" name="AutoShape 4">
            <a:extLst>
              <a:ext uri="{FF2B5EF4-FFF2-40B4-BE49-F238E27FC236}">
                <a16:creationId xmlns:a16="http://schemas.microsoft.com/office/drawing/2014/main" id="{51A91FA9-AE61-46BE-91E4-1FC2E9960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9150" y="1484313"/>
            <a:ext cx="5761038" cy="4968875"/>
          </a:xfrm>
          <a:prstGeom prst="triangle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hu-HU" dirty="0">
              <a:latin typeface="Arial" charset="0"/>
            </a:endParaRPr>
          </a:p>
        </p:txBody>
      </p:sp>
      <p:sp>
        <p:nvSpPr>
          <p:cNvPr id="26628" name="Line 5">
            <a:extLst>
              <a:ext uri="{FF2B5EF4-FFF2-40B4-BE49-F238E27FC236}">
                <a16:creationId xmlns:a16="http://schemas.microsoft.com/office/drawing/2014/main" id="{28C6EF7C-D583-4F2A-9CE7-304C00481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5275" y="3068638"/>
            <a:ext cx="1728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29" name="Line 6">
            <a:extLst>
              <a:ext uri="{FF2B5EF4-FFF2-40B4-BE49-F238E27FC236}">
                <a16:creationId xmlns:a16="http://schemas.microsoft.com/office/drawing/2014/main" id="{D5A98CC5-4CB1-48F7-8431-8333EE311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4550" y="4292600"/>
            <a:ext cx="3168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0" name="Line 7">
            <a:extLst>
              <a:ext uri="{FF2B5EF4-FFF2-40B4-BE49-F238E27FC236}">
                <a16:creationId xmlns:a16="http://schemas.microsoft.com/office/drawing/2014/main" id="{EB4990DA-A07E-4C19-92CF-305B10CBA2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6850" y="5445125"/>
            <a:ext cx="43926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1" name="Text Box 8">
            <a:extLst>
              <a:ext uri="{FF2B5EF4-FFF2-40B4-BE49-F238E27FC236}">
                <a16:creationId xmlns:a16="http://schemas.microsoft.com/office/drawing/2014/main" id="{00DC509D-0F97-46E9-AF42-78024D07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450" y="2276475"/>
            <a:ext cx="273685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u-HU" altLang="hu-HU" sz="1800"/>
              <a:t>Probléma-</a:t>
            </a:r>
          </a:p>
          <a:p>
            <a:pPr algn="ctr" eaLnBrk="1" hangingPunct="1">
              <a:spcBef>
                <a:spcPct val="50000"/>
              </a:spcBef>
            </a:pPr>
            <a:r>
              <a:rPr lang="hu-HU" altLang="hu-HU" sz="1800"/>
              <a:t>megoldás</a:t>
            </a:r>
          </a:p>
        </p:txBody>
      </p:sp>
      <p:sp>
        <p:nvSpPr>
          <p:cNvPr id="26632" name="Text Box 9">
            <a:extLst>
              <a:ext uri="{FF2B5EF4-FFF2-40B4-BE49-F238E27FC236}">
                <a16:creationId xmlns:a16="http://schemas.microsoft.com/office/drawing/2014/main" id="{05D76A5B-B06D-4621-87BF-C76FB7A58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3" y="3284538"/>
            <a:ext cx="20161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u-HU" altLang="hu-HU" sz="2000"/>
              <a:t>Munkatársak és partnerek</a:t>
            </a:r>
          </a:p>
        </p:txBody>
      </p:sp>
      <p:sp>
        <p:nvSpPr>
          <p:cNvPr id="26633" name="Text Box 10">
            <a:extLst>
              <a:ext uri="{FF2B5EF4-FFF2-40B4-BE49-F238E27FC236}">
                <a16:creationId xmlns:a16="http://schemas.microsoft.com/office/drawing/2014/main" id="{AE269229-0F36-4ED9-B03C-CD15159DE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4913" y="4652963"/>
            <a:ext cx="2305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u-HU" altLang="hu-HU" sz="2000" b="1"/>
              <a:t>Folyamat</a:t>
            </a:r>
          </a:p>
        </p:txBody>
      </p:sp>
      <p:sp>
        <p:nvSpPr>
          <p:cNvPr id="26634" name="Text Box 11">
            <a:extLst>
              <a:ext uri="{FF2B5EF4-FFF2-40B4-BE49-F238E27FC236}">
                <a16:creationId xmlns:a16="http://schemas.microsoft.com/office/drawing/2014/main" id="{251F02A0-9614-498A-9B78-5558A7214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5734050"/>
            <a:ext cx="3817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u-HU" altLang="hu-HU" b="1"/>
              <a:t>Filozófia</a:t>
            </a:r>
          </a:p>
        </p:txBody>
      </p:sp>
      <p:sp>
        <p:nvSpPr>
          <p:cNvPr id="26635" name="Text Box 12">
            <a:extLst>
              <a:ext uri="{FF2B5EF4-FFF2-40B4-BE49-F238E27FC236}">
                <a16:creationId xmlns:a16="http://schemas.microsoft.com/office/drawing/2014/main" id="{4F07B1CD-51E6-47BA-9170-F2B3346BBDDF}"/>
              </a:ext>
            </a:extLst>
          </p:cNvPr>
          <p:cNvSpPr txBox="1">
            <a:spLocks noChangeArrowheads="1"/>
          </p:cNvSpPr>
          <p:nvPr/>
        </p:nvSpPr>
        <p:spPr bwMode="auto">
          <a:xfrm rot="-3579610">
            <a:off x="1502569" y="5490369"/>
            <a:ext cx="1208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u-HU" altLang="hu-HU" sz="2000"/>
              <a:t>Kihívás</a:t>
            </a:r>
          </a:p>
        </p:txBody>
      </p:sp>
      <p:sp>
        <p:nvSpPr>
          <p:cNvPr id="26636" name="Text Box 13">
            <a:extLst>
              <a:ext uri="{FF2B5EF4-FFF2-40B4-BE49-F238E27FC236}">
                <a16:creationId xmlns:a16="http://schemas.microsoft.com/office/drawing/2014/main" id="{B72FAF31-7F42-4BD6-8DDC-8290115DC2A9}"/>
              </a:ext>
            </a:extLst>
          </p:cNvPr>
          <p:cNvSpPr txBox="1">
            <a:spLocks noChangeArrowheads="1"/>
          </p:cNvSpPr>
          <p:nvPr/>
        </p:nvSpPr>
        <p:spPr bwMode="auto">
          <a:xfrm rot="-3579610">
            <a:off x="1516062" y="3425826"/>
            <a:ext cx="16557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u-HU" altLang="hu-HU" sz="1800"/>
              <a:t>Kaizen</a:t>
            </a:r>
          </a:p>
        </p:txBody>
      </p:sp>
      <p:sp>
        <p:nvSpPr>
          <p:cNvPr id="26637" name="Text Box 14">
            <a:extLst>
              <a:ext uri="{FF2B5EF4-FFF2-40B4-BE49-F238E27FC236}">
                <a16:creationId xmlns:a16="http://schemas.microsoft.com/office/drawing/2014/main" id="{F604B523-F602-41EF-95EC-AF3BF8C27BFC}"/>
              </a:ext>
            </a:extLst>
          </p:cNvPr>
          <p:cNvSpPr txBox="1">
            <a:spLocks noChangeArrowheads="1"/>
          </p:cNvSpPr>
          <p:nvPr/>
        </p:nvSpPr>
        <p:spPr bwMode="auto">
          <a:xfrm rot="-3580583">
            <a:off x="2451100" y="3138488"/>
            <a:ext cx="1584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u-HU" altLang="hu-HU" sz="1600"/>
              <a:t>Tisztelet és csapatmunka</a:t>
            </a:r>
          </a:p>
        </p:txBody>
      </p:sp>
      <p:sp>
        <p:nvSpPr>
          <p:cNvPr id="26638" name="Text Box 15">
            <a:extLst>
              <a:ext uri="{FF2B5EF4-FFF2-40B4-BE49-F238E27FC236}">
                <a16:creationId xmlns:a16="http://schemas.microsoft.com/office/drawing/2014/main" id="{1C4DDEE6-1EE0-4B05-ACE2-24199C4D1F5A}"/>
              </a:ext>
            </a:extLst>
          </p:cNvPr>
          <p:cNvSpPr txBox="1">
            <a:spLocks noChangeArrowheads="1"/>
          </p:cNvSpPr>
          <p:nvPr/>
        </p:nvSpPr>
        <p:spPr bwMode="auto">
          <a:xfrm rot="-3580583">
            <a:off x="3349625" y="1841500"/>
            <a:ext cx="1584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u-HU" altLang="hu-HU" sz="1600"/>
              <a:t>Genchi Genbutsu</a:t>
            </a:r>
          </a:p>
        </p:txBody>
      </p:sp>
      <p:sp>
        <p:nvSpPr>
          <p:cNvPr id="26639" name="AutoShape 16">
            <a:extLst>
              <a:ext uri="{FF2B5EF4-FFF2-40B4-BE49-F238E27FC236}">
                <a16:creationId xmlns:a16="http://schemas.microsoft.com/office/drawing/2014/main" id="{B5C4A34D-5754-443A-A28B-514875AC7328}"/>
              </a:ext>
            </a:extLst>
          </p:cNvPr>
          <p:cNvSpPr>
            <a:spLocks/>
          </p:cNvSpPr>
          <p:nvPr/>
        </p:nvSpPr>
        <p:spPr bwMode="auto">
          <a:xfrm rot="1800000">
            <a:off x="2214563" y="5314950"/>
            <a:ext cx="144462" cy="1152525"/>
          </a:xfrm>
          <a:prstGeom prst="leftBracket">
            <a:avLst>
              <a:gd name="adj" fmla="val 91932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6640" name="AutoShape 17">
            <a:extLst>
              <a:ext uri="{FF2B5EF4-FFF2-40B4-BE49-F238E27FC236}">
                <a16:creationId xmlns:a16="http://schemas.microsoft.com/office/drawing/2014/main" id="{236D9E0D-C233-4BE1-82E2-A402D6C219AC}"/>
              </a:ext>
            </a:extLst>
          </p:cNvPr>
          <p:cNvSpPr>
            <a:spLocks/>
          </p:cNvSpPr>
          <p:nvPr/>
        </p:nvSpPr>
        <p:spPr bwMode="auto">
          <a:xfrm rot="1800000">
            <a:off x="4176713" y="1628775"/>
            <a:ext cx="144462" cy="1152525"/>
          </a:xfrm>
          <a:prstGeom prst="leftBracket">
            <a:avLst>
              <a:gd name="adj" fmla="val 91932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6641" name="AutoShape 18">
            <a:extLst>
              <a:ext uri="{FF2B5EF4-FFF2-40B4-BE49-F238E27FC236}">
                <a16:creationId xmlns:a16="http://schemas.microsoft.com/office/drawing/2014/main" id="{E8D27A97-D7E9-4706-8E58-A7D31E825F74}"/>
              </a:ext>
            </a:extLst>
          </p:cNvPr>
          <p:cNvSpPr>
            <a:spLocks/>
          </p:cNvSpPr>
          <p:nvPr/>
        </p:nvSpPr>
        <p:spPr bwMode="auto">
          <a:xfrm rot="1800000">
            <a:off x="3529013" y="3068638"/>
            <a:ext cx="144462" cy="1152525"/>
          </a:xfrm>
          <a:prstGeom prst="leftBracket">
            <a:avLst>
              <a:gd name="adj" fmla="val 91932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6642" name="AutoShape 19">
            <a:extLst>
              <a:ext uri="{FF2B5EF4-FFF2-40B4-BE49-F238E27FC236}">
                <a16:creationId xmlns:a16="http://schemas.microsoft.com/office/drawing/2014/main" id="{54CD5984-C234-4BCA-AFE8-9C47EB3F1E66}"/>
              </a:ext>
            </a:extLst>
          </p:cNvPr>
          <p:cNvSpPr>
            <a:spLocks/>
          </p:cNvSpPr>
          <p:nvPr/>
        </p:nvSpPr>
        <p:spPr bwMode="auto">
          <a:xfrm rot="1800000">
            <a:off x="2698750" y="2159000"/>
            <a:ext cx="577850" cy="3106738"/>
          </a:xfrm>
          <a:prstGeom prst="leftBracket">
            <a:avLst>
              <a:gd name="adj" fmla="val 6195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05896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FB6860D-5D98-4D01-B2E1-9C8D8633E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95501" y="544668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000" dirty="0"/>
              <a:t>Alapelvek: Filozófia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77768DD-AB56-45BF-9429-4BCA3866C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459863"/>
            <a:ext cx="66786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hu-HU" altLang="hu-HU" sz="2000" dirty="0">
                <a:latin typeface="+mn-lt"/>
              </a:rPr>
              <a:t>Vezetési döntések hosszú távú filozófiára alapozása, akár a rövid távú pénzügyi célok rovására is!</a:t>
            </a:r>
            <a:endParaRPr lang="hu-HU" altLang="hu-HU" sz="2000" i="1" dirty="0">
              <a:latin typeface="+mn-lt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37BE2D0-6CA9-461A-8FD7-90FF646CC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68350" y="2167749"/>
            <a:ext cx="7488237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 sz="2800" dirty="0">
                <a:solidFill>
                  <a:srgbClr val="800000"/>
                </a:solidFill>
                <a:latin typeface="+mj-lt"/>
              </a:rPr>
              <a:t>Alapelvek: Folyamat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C5B3CA07-CAB7-4CE1-8AA3-1CD79B1E9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733521"/>
            <a:ext cx="66786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hu-HU" altLang="hu-HU" sz="2000" dirty="0">
                <a:latin typeface="+mn-lt"/>
              </a:rPr>
              <a:t>2. Folyamatáramlás létrehozása a problémák felszínre hozására</a:t>
            </a:r>
          </a:p>
          <a:p>
            <a:pPr eaLnBrk="1" hangingPunct="1"/>
            <a:r>
              <a:rPr lang="hu-HU" altLang="hu-HU" sz="2000" dirty="0">
                <a:latin typeface="+mn-lt"/>
              </a:rPr>
              <a:t>3. Húzórendszerek a túltermelés ellen</a:t>
            </a:r>
          </a:p>
          <a:p>
            <a:pPr eaLnBrk="1" hangingPunct="1"/>
            <a:r>
              <a:rPr lang="hu-HU" altLang="hu-HU" sz="2000" dirty="0">
                <a:latin typeface="+mn-lt"/>
              </a:rPr>
              <a:t>4. </a:t>
            </a:r>
            <a:r>
              <a:rPr lang="hu-HU" altLang="hu-HU" sz="2000" dirty="0" err="1">
                <a:latin typeface="+mn-lt"/>
              </a:rPr>
              <a:t>Heijunka</a:t>
            </a:r>
            <a:endParaRPr lang="hu-HU" altLang="hu-HU" sz="2000" dirty="0">
              <a:latin typeface="+mn-lt"/>
            </a:endParaRPr>
          </a:p>
        </p:txBody>
      </p:sp>
      <p:pic>
        <p:nvPicPr>
          <p:cNvPr id="27654" name="Picture 7">
            <a:extLst>
              <a:ext uri="{FF2B5EF4-FFF2-40B4-BE49-F238E27FC236}">
                <a16:creationId xmlns:a16="http://schemas.microsoft.com/office/drawing/2014/main" id="{61CBA1B6-3DB4-449E-83FB-9629BB96C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902" y="3300605"/>
            <a:ext cx="2230061" cy="1890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CAAA792-D22B-467A-B628-3552043F3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1" y="4374463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8E172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altLang="hu-HU" sz="2800">
                <a:solidFill>
                  <a:srgbClr val="800000"/>
                </a:solidFill>
              </a:rPr>
              <a:t>Alapelvek: Folyamat</a:t>
            </a:r>
            <a:endParaRPr lang="hu-HU" altLang="hu-HU" sz="2800" dirty="0">
              <a:solidFill>
                <a:srgbClr val="800000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783C45E-223E-4753-8E7D-5249216BF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915301"/>
            <a:ext cx="7183438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5. </a:t>
            </a:r>
            <a:r>
              <a:rPr lang="hu-HU" altLang="hu-HU" sz="2000" dirty="0" err="1">
                <a:latin typeface="+mn-lt"/>
              </a:rPr>
              <a:t>Jidoka</a:t>
            </a:r>
            <a:endParaRPr lang="hu-HU" altLang="hu-HU" sz="2000" dirty="0">
              <a:latin typeface="+mn-lt"/>
            </a:endParaRPr>
          </a:p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6. Feladatok szabványosítása a folyamatos fejlesztésért</a:t>
            </a:r>
          </a:p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7. Vizualizáció</a:t>
            </a:r>
          </a:p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8. Csak megbízható, tesztelt technológia alkalmazása</a:t>
            </a:r>
          </a:p>
          <a:p>
            <a:pPr eaLnBrk="1" hangingPunct="1"/>
            <a:endParaRPr lang="hu-HU" altLang="hu-HU" sz="2000" i="1" dirty="0"/>
          </a:p>
        </p:txBody>
      </p:sp>
    </p:spTree>
    <p:extLst>
      <p:ext uri="{BB962C8B-B14F-4D97-AF65-F5344CB8AC3E}">
        <p14:creationId xmlns:p14="http://schemas.microsoft.com/office/powerpoint/2010/main" val="106287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6" name="Picture 4">
            <a:extLst>
              <a:ext uri="{FF2B5EF4-FFF2-40B4-BE49-F238E27FC236}">
                <a16:creationId xmlns:a16="http://schemas.microsoft.com/office/drawing/2014/main" id="{DE0A720B-450A-48D2-9BA7-98F2081AB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460" y="1369257"/>
            <a:ext cx="2843212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A6E6C4A-F45B-43D7-A71A-FA4983237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617" y="1556277"/>
            <a:ext cx="6678613" cy="126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1813" indent="-531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9. Filozófiát megélő vezetők kinevelése</a:t>
            </a:r>
          </a:p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10. Munkatársak és csapattagok tisztelete, fejlesztése</a:t>
            </a:r>
          </a:p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11. Beszállítók tisztelete, segítése</a:t>
            </a:r>
            <a:endParaRPr lang="hu-HU" altLang="hu-HU" sz="2000" i="1" dirty="0">
              <a:latin typeface="+mn-l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958149F-CBEF-4524-8153-D2F058857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158" y="413277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8E172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altLang="hu-HU" sz="2400" dirty="0">
                <a:solidFill>
                  <a:schemeClr val="bg1"/>
                </a:solidFill>
              </a:rPr>
              <a:t>Alapelvek: Munkatársak és partnerek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1ADA844-81AF-477B-A6ED-DD6399A64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103713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800" dirty="0">
                <a:solidFill>
                  <a:srgbClr val="800000"/>
                </a:solidFill>
              </a:rPr>
              <a:t>Alapelvek: Problémamegoldás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FFC8149-1BF4-48A8-A2B4-0AD0D0CF5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453" y="3934479"/>
            <a:ext cx="6678613" cy="1660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1813" indent="-531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12. Folyamatos szervezeti tanulás (</a:t>
            </a:r>
            <a:r>
              <a:rPr lang="hu-HU" altLang="hu-HU" sz="2000" dirty="0" err="1">
                <a:latin typeface="+mn-lt"/>
              </a:rPr>
              <a:t>Kaizen</a:t>
            </a:r>
            <a:r>
              <a:rPr lang="hu-HU" altLang="hu-HU" sz="2000" dirty="0">
                <a:latin typeface="+mn-lt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13. </a:t>
            </a:r>
            <a:r>
              <a:rPr lang="hu-HU" altLang="hu-HU" sz="2000" dirty="0" err="1">
                <a:latin typeface="+mn-lt"/>
              </a:rPr>
              <a:t>Genchi</a:t>
            </a:r>
            <a:r>
              <a:rPr lang="hu-HU" altLang="hu-HU" sz="2000" dirty="0">
                <a:latin typeface="+mn-lt"/>
              </a:rPr>
              <a:t> </a:t>
            </a:r>
            <a:r>
              <a:rPr lang="hu-HU" altLang="hu-HU" sz="2000" dirty="0" err="1">
                <a:latin typeface="+mn-lt"/>
              </a:rPr>
              <a:t>genbutsu</a:t>
            </a:r>
            <a:endParaRPr lang="hu-HU" altLang="hu-HU" sz="2000" dirty="0">
              <a:latin typeface="+mn-lt"/>
            </a:endParaRPr>
          </a:p>
          <a:p>
            <a:pPr eaLnBrk="1" hangingPunct="1">
              <a:lnSpc>
                <a:spcPct val="130000"/>
              </a:lnSpc>
            </a:pPr>
            <a:r>
              <a:rPr lang="hu-HU" altLang="hu-HU" sz="2000" dirty="0">
                <a:latin typeface="+mn-lt"/>
              </a:rPr>
              <a:t>14. Lassú, konszenzusos döntéshozatal, minden lehetőség megvizsgálásával, majd gyors végrehajtás</a:t>
            </a:r>
            <a:endParaRPr lang="hu-HU" altLang="hu-HU" sz="20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7857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C852431-A71F-4F21-A5D7-870144D50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hu-HU" altLang="hu-HU" sz="2800" dirty="0">
                <a:latin typeface="+mn-lt"/>
              </a:rPr>
              <a:t>Luxusautókról alkotott kép</a:t>
            </a:r>
          </a:p>
        </p:txBody>
      </p:sp>
      <p:sp>
        <p:nvSpPr>
          <p:cNvPr id="2" name="Tartalom helye 1">
            <a:extLst>
              <a:ext uri="{FF2B5EF4-FFF2-40B4-BE49-F238E27FC236}">
                <a16:creationId xmlns:a16="http://schemas.microsoft.com/office/drawing/2014/main" id="{00F5C0F5-97D5-458F-8FBD-2629B12C6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altLang="hu-HU" b="1" dirty="0"/>
              <a:t>Európai</a:t>
            </a:r>
            <a:r>
              <a:rPr lang="hu-HU" altLang="hu-HU" dirty="0"/>
              <a:t>: minőség, befektetési érték, robusztus</a:t>
            </a:r>
          </a:p>
          <a:p>
            <a:r>
              <a:rPr lang="hu-HU" altLang="hu-HU" b="1" dirty="0"/>
              <a:t>Amerikai</a:t>
            </a:r>
            <a:r>
              <a:rPr lang="hu-HU" altLang="hu-HU" dirty="0"/>
              <a:t>: trükkös dolgok, gyenge minőség, nagy, eltúlzott, 6 hó után csörög</a:t>
            </a:r>
          </a:p>
          <a:p>
            <a:r>
              <a:rPr lang="hu-HU" altLang="hu-HU" b="1" dirty="0"/>
              <a:t>Japán</a:t>
            </a:r>
            <a:r>
              <a:rPr lang="hu-HU" altLang="hu-HU" dirty="0"/>
              <a:t>: kicsi, nem menő, nem sugallja a sikerességet</a:t>
            </a:r>
          </a:p>
          <a:p>
            <a:endParaRPr lang="en-US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F496F7CD-D6B1-4F6D-8077-4FB4529E1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350" y="4518819"/>
            <a:ext cx="2076450" cy="1563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365DEACF-8A13-435B-A5F0-61168DB54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44" y="4139281"/>
            <a:ext cx="1993171" cy="1436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E5E9ADB-9FE5-461F-84C4-165616029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059" y="4857661"/>
            <a:ext cx="2169881" cy="1635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DF1A671-4831-4640-8A57-9CA863E94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/>
              <a:t>A </a:t>
            </a:r>
            <a:r>
              <a:rPr lang="hu-HU" altLang="hu-HU" sz="2400" dirty="0" err="1"/>
              <a:t>Lexus</a:t>
            </a:r>
            <a:r>
              <a:rPr lang="hu-HU" altLang="hu-HU" sz="2400" dirty="0"/>
              <a:t> története</a:t>
            </a:r>
          </a:p>
        </p:txBody>
      </p:sp>
      <p:graphicFrame>
        <p:nvGraphicFramePr>
          <p:cNvPr id="2" name="Táblázat 2">
            <a:extLst>
              <a:ext uri="{FF2B5EF4-FFF2-40B4-BE49-F238E27FC236}">
                <a16:creationId xmlns:a16="http://schemas.microsoft.com/office/drawing/2014/main" id="{7A523905-73C2-4C8D-AA8C-550C137DF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123797"/>
              </p:ext>
            </p:extLst>
          </p:nvPr>
        </p:nvGraphicFramePr>
        <p:xfrm>
          <a:off x="979055" y="1717964"/>
          <a:ext cx="7250544" cy="50940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16848">
                  <a:extLst>
                    <a:ext uri="{9D8B030D-6E8A-4147-A177-3AD203B41FA5}">
                      <a16:colId xmlns:a16="http://schemas.microsoft.com/office/drawing/2014/main" val="1634773163"/>
                    </a:ext>
                  </a:extLst>
                </a:gridCol>
                <a:gridCol w="2416848">
                  <a:extLst>
                    <a:ext uri="{9D8B030D-6E8A-4147-A177-3AD203B41FA5}">
                      <a16:colId xmlns:a16="http://schemas.microsoft.com/office/drawing/2014/main" val="1692634823"/>
                    </a:ext>
                  </a:extLst>
                </a:gridCol>
                <a:gridCol w="2416848">
                  <a:extLst>
                    <a:ext uri="{9D8B030D-6E8A-4147-A177-3AD203B41FA5}">
                      <a16:colId xmlns:a16="http://schemas.microsoft.com/office/drawing/2014/main" val="3929467100"/>
                    </a:ext>
                  </a:extLst>
                </a:gridCol>
              </a:tblGrid>
              <a:tr h="3578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Vásárlás oka</a:t>
                      </a:r>
                      <a:endParaRPr kumimoji="0" lang="hu-H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Elutasítás oka</a:t>
                      </a:r>
                      <a:endParaRPr kumimoji="0" lang="hu-H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3614208241"/>
                  </a:ext>
                </a:extLst>
              </a:tr>
              <a:tr h="12036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Benz</a:t>
                      </a:r>
                      <a:endParaRPr kumimoji="0" lang="hu-H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Minőség, befektetési érték, robusztus</a:t>
                      </a: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Túl kicsi, gyengébb stílusjegyek (BMW-hez képest)</a:t>
                      </a:r>
                      <a:endParaRPr kumimoji="0" lang="hu-H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3724629315"/>
                  </a:ext>
                </a:extLst>
              </a:tr>
              <a:tr h="9083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BMW</a:t>
                      </a:r>
                      <a:endParaRPr kumimoji="0" lang="hu-HU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Stílus, kezelhetőség, praktikum</a:t>
                      </a: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Túl sok fut az utakon</a:t>
                      </a: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3396226325"/>
                  </a:ext>
                </a:extLst>
              </a:tr>
              <a:tr h="633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Audi</a:t>
                      </a:r>
                      <a:endParaRPr kumimoji="0" lang="hu-HU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Stílus, tér, megfizethetőség</a:t>
                      </a:r>
                      <a:endParaRPr kumimoji="0" lang="hu-H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Gyenge minőség, gyenge szerviz</a:t>
                      </a:r>
                      <a:endParaRPr kumimoji="0" lang="hu-H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769434906"/>
                  </a:ext>
                </a:extLst>
              </a:tr>
              <a:tr h="11836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Volvo</a:t>
                      </a:r>
                      <a:endParaRPr kumimoji="0" lang="hu-HU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Biztonság, megbízhatóság, minőség, robosztus</a:t>
                      </a:r>
                      <a:endParaRPr kumimoji="0" lang="hu-H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Szögletes vonalvezetés</a:t>
                      </a:r>
                      <a:endParaRPr kumimoji="0" lang="hu-H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1266712856"/>
                  </a:ext>
                </a:extLst>
              </a:tr>
              <a:tr h="633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Jaguár</a:t>
                      </a:r>
                      <a:endParaRPr kumimoji="0" lang="hu-HU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Legvonzóbb külső</a:t>
                      </a:r>
                      <a:endParaRPr kumimoji="0" lang="hu-H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Gyenge minőség, szűkös utastér</a:t>
                      </a:r>
                      <a:endParaRPr kumimoji="0" 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/>
                </a:tc>
                <a:extLst>
                  <a:ext uri="{0D108BD9-81ED-4DB2-BD59-A6C34878D82A}">
                    <a16:rowId xmlns:a16="http://schemas.microsoft.com/office/drawing/2014/main" val="26427352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03E43E-277F-4C6A-8BC3-104EBD078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587" y="429987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 err="1"/>
              <a:t>Lexus</a:t>
            </a:r>
            <a:r>
              <a:rPr lang="hu-HU" altLang="hu-HU" sz="2400" dirty="0"/>
              <a:t> tervezett paraméterei</a:t>
            </a:r>
          </a:p>
        </p:txBody>
      </p:sp>
      <p:pic>
        <p:nvPicPr>
          <p:cNvPr id="8232" name="Picture 50">
            <a:extLst>
              <a:ext uri="{FF2B5EF4-FFF2-40B4-BE49-F238E27FC236}">
                <a16:creationId xmlns:a16="http://schemas.microsoft.com/office/drawing/2014/main" id="{C3F03E35-D5C9-480E-B709-E1DC81D07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0" y="1412875"/>
            <a:ext cx="1368425" cy="86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33" name="Picture 53">
            <a:extLst>
              <a:ext uri="{FF2B5EF4-FFF2-40B4-BE49-F238E27FC236}">
                <a16:creationId xmlns:a16="http://schemas.microsoft.com/office/drawing/2014/main" id="{CED41FD3-38B1-40D8-A6B7-A4E794C2F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0" y="2492375"/>
            <a:ext cx="1428750" cy="1071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34" name="Picture 54">
            <a:extLst>
              <a:ext uri="{FF2B5EF4-FFF2-40B4-BE49-F238E27FC236}">
                <a16:creationId xmlns:a16="http://schemas.microsoft.com/office/drawing/2014/main" id="{A98ED87E-BEF8-4267-B772-6B376C0AD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0" y="3789363"/>
            <a:ext cx="1441450" cy="727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áblázat 3">
            <a:extLst>
              <a:ext uri="{FF2B5EF4-FFF2-40B4-BE49-F238E27FC236}">
                <a16:creationId xmlns:a16="http://schemas.microsoft.com/office/drawing/2014/main" id="{27BD46FA-EF12-451D-9C5A-6945208AE773}"/>
              </a:ext>
            </a:extLst>
          </p:cNvPr>
          <p:cNvGraphicFramePr>
            <a:graphicFrameLocks noGrp="1"/>
          </p:cNvGraphicFramePr>
          <p:nvPr/>
        </p:nvGraphicFramePr>
        <p:xfrm>
          <a:off x="2291650" y="1983988"/>
          <a:ext cx="6657280" cy="43378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4320">
                  <a:extLst>
                    <a:ext uri="{9D8B030D-6E8A-4147-A177-3AD203B41FA5}">
                      <a16:colId xmlns:a16="http://schemas.microsoft.com/office/drawing/2014/main" val="1566907889"/>
                    </a:ext>
                  </a:extLst>
                </a:gridCol>
                <a:gridCol w="1664320">
                  <a:extLst>
                    <a:ext uri="{9D8B030D-6E8A-4147-A177-3AD203B41FA5}">
                      <a16:colId xmlns:a16="http://schemas.microsoft.com/office/drawing/2014/main" val="247508344"/>
                    </a:ext>
                  </a:extLst>
                </a:gridCol>
                <a:gridCol w="1664320">
                  <a:extLst>
                    <a:ext uri="{9D8B030D-6E8A-4147-A177-3AD203B41FA5}">
                      <a16:colId xmlns:a16="http://schemas.microsoft.com/office/drawing/2014/main" val="1137143819"/>
                    </a:ext>
                  </a:extLst>
                </a:gridCol>
                <a:gridCol w="1664320">
                  <a:extLst>
                    <a:ext uri="{9D8B030D-6E8A-4147-A177-3AD203B41FA5}">
                      <a16:colId xmlns:a16="http://schemas.microsoft.com/office/drawing/2014/main" val="905363368"/>
                    </a:ext>
                  </a:extLst>
                </a:gridCol>
              </a:tblGrid>
              <a:tr h="7001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LS 400</a:t>
                      </a:r>
                      <a:endParaRPr kumimoji="0" lang="hu-H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Mercedes 420SE</a:t>
                      </a:r>
                      <a:endParaRPr kumimoji="0" lang="hu-H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BMW 735i</a:t>
                      </a:r>
                      <a:endParaRPr kumimoji="0" lang="hu-HU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194707509"/>
                  </a:ext>
                </a:extLst>
              </a:tr>
              <a:tr h="4056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Sebesség</a:t>
                      </a:r>
                      <a:endParaRPr kumimoji="0" lang="hu-H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250 km/h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222 km/h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220 km/h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616291688"/>
                  </a:ext>
                </a:extLst>
              </a:tr>
              <a:tr h="1060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Fogyasztás</a:t>
                      </a:r>
                      <a:endParaRPr kumimoji="0" lang="hu-H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 km/l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14,2 l/100km</a:t>
                      </a: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5,4 km/l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18,5 l/100 km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5,4 km/l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18,5 l/100km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276364230"/>
                  </a:ext>
                </a:extLst>
              </a:tr>
              <a:tr h="1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Zaj</a:t>
                      </a:r>
                      <a:endParaRPr kumimoji="0" lang="hu-H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58dB / 100km/h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73 dB / 200 km/h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61dB / 100km/h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76 dB / 200 km/h</a:t>
                      </a: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63 dB / 100km/h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78 dB / 200 km/h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734814957"/>
                  </a:ext>
                </a:extLst>
              </a:tr>
              <a:tr h="4056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Légellenálás</a:t>
                      </a:r>
                      <a:endParaRPr kumimoji="0" lang="hu-H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0,28-0,29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0,32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0,37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018920056"/>
                  </a:ext>
                </a:extLst>
              </a:tr>
              <a:tr h="4056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Tömeg</a:t>
                      </a:r>
                      <a:endParaRPr kumimoji="0" lang="hu-HU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1710 kg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1760 kg</a:t>
                      </a:r>
                      <a:endParaRPr kumimoji="0" lang="hu-H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1760 kg</a:t>
                      </a:r>
                      <a:endParaRPr kumimoji="0" 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6080135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62C2A5B-BF59-464E-8382-6508EDE46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42950" y="483281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b="1" dirty="0" err="1"/>
              <a:t>Lexus</a:t>
            </a:r>
            <a:r>
              <a:rPr lang="hu-HU" altLang="hu-HU" sz="2400" b="1" dirty="0"/>
              <a:t> siker kulcs</a:t>
            </a:r>
          </a:p>
        </p:txBody>
      </p:sp>
      <p:sp>
        <p:nvSpPr>
          <p:cNvPr id="2" name="Tartalom helye 1">
            <a:extLst>
              <a:ext uri="{FF2B5EF4-FFF2-40B4-BE49-F238E27FC236}">
                <a16:creationId xmlns:a16="http://schemas.microsoft.com/office/drawing/2014/main" id="{6E81720C-706C-434A-87DA-97AD87C6A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Kompromisszumok</a:t>
            </a:r>
            <a:r>
              <a:rPr lang="en-US" dirty="0"/>
              <a:t> </a:t>
            </a:r>
            <a:r>
              <a:rPr lang="en-US" dirty="0" err="1"/>
              <a:t>nélküli</a:t>
            </a:r>
            <a:r>
              <a:rPr lang="en-US" dirty="0"/>
              <a:t> </a:t>
            </a:r>
            <a:r>
              <a:rPr lang="en-US" dirty="0" err="1"/>
              <a:t>tervezés</a:t>
            </a:r>
            <a:endParaRPr lang="en-US" dirty="0"/>
          </a:p>
          <a:p>
            <a:r>
              <a:rPr lang="en-US" dirty="0" err="1"/>
              <a:t>Problémák</a:t>
            </a:r>
            <a:r>
              <a:rPr lang="en-US" dirty="0"/>
              <a:t> </a:t>
            </a:r>
            <a:r>
              <a:rPr lang="en-US" dirty="0" err="1"/>
              <a:t>megszüntetése</a:t>
            </a:r>
            <a:r>
              <a:rPr lang="en-US" dirty="0"/>
              <a:t> a </a:t>
            </a:r>
            <a:r>
              <a:rPr lang="en-US" dirty="0" err="1"/>
              <a:t>gyökerüknél</a:t>
            </a:r>
            <a:endParaRPr lang="en-US" dirty="0"/>
          </a:p>
          <a:p>
            <a:r>
              <a:rPr lang="en-US" dirty="0"/>
              <a:t>Amit meg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csinálni</a:t>
            </a:r>
            <a:r>
              <a:rPr lang="en-US" dirty="0"/>
              <a:t> </a:t>
            </a:r>
            <a:r>
              <a:rPr lang="en-US" dirty="0" err="1"/>
              <a:t>egyszer</a:t>
            </a:r>
            <a:r>
              <a:rPr lang="en-US" dirty="0"/>
              <a:t>, </a:t>
            </a:r>
            <a:r>
              <a:rPr lang="en-US" dirty="0" err="1"/>
              <a:t>azt</a:t>
            </a:r>
            <a:r>
              <a:rPr lang="en-US" dirty="0"/>
              <a:t> meg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csinálni</a:t>
            </a:r>
            <a:r>
              <a:rPr lang="en-US" dirty="0"/>
              <a:t> </a:t>
            </a:r>
            <a:r>
              <a:rPr lang="en-US" dirty="0" err="1"/>
              <a:t>mindig</a:t>
            </a:r>
            <a:r>
              <a:rPr lang="en-US" dirty="0"/>
              <a:t> </a:t>
            </a:r>
          </a:p>
          <a:p>
            <a:pPr marL="0" indent="0" algn="r">
              <a:buNone/>
            </a:pPr>
            <a:r>
              <a:rPr lang="en-US" sz="2400" i="1" dirty="0"/>
              <a:t>(Akira </a:t>
            </a:r>
            <a:r>
              <a:rPr lang="en-US" sz="2400" i="1" dirty="0" err="1"/>
              <a:t>Takahasi</a:t>
            </a:r>
            <a:r>
              <a:rPr lang="en-US" sz="2400" i="1" dirty="0"/>
              <a:t>, </a:t>
            </a:r>
            <a:r>
              <a:rPr lang="en-US" sz="2400" i="1" dirty="0" err="1"/>
              <a:t>gyártástervezési</a:t>
            </a:r>
            <a:r>
              <a:rPr lang="en-US" sz="2400" i="1" dirty="0"/>
              <a:t> </a:t>
            </a:r>
            <a:r>
              <a:rPr lang="en-US" sz="2400" i="1" dirty="0" err="1"/>
              <a:t>vezető</a:t>
            </a:r>
            <a:r>
              <a:rPr lang="en-US" sz="2400" i="1" dirty="0"/>
              <a:t>)</a:t>
            </a:r>
          </a:p>
          <a:p>
            <a:endParaRPr lang="en-US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EAD18025-9A71-416D-9349-904B8A52D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805488"/>
            <a:ext cx="1266825" cy="828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>
            <a:extLst>
              <a:ext uri="{FF2B5EF4-FFF2-40B4-BE49-F238E27FC236}">
                <a16:creationId xmlns:a16="http://schemas.microsoft.com/office/drawing/2014/main" id="{9D3B76B7-1C93-496F-8938-03A9AE4A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5229225"/>
            <a:ext cx="1228725" cy="857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FDACED6A-C92D-450D-9B62-0729773E0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437063"/>
            <a:ext cx="1238250" cy="781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1F08570-0579-4667-9637-7DBAD453D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9091" y="446302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/>
              <a:t>TPS: Toyota termelési rendszer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522A1B51-344F-42B9-86C9-E3418C1DA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199" y="1705613"/>
            <a:ext cx="7008801" cy="51900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DCDAAFC-F4DE-4D35-AF5D-0E1136730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5241" y="466727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>
                <a:latin typeface="+mn-lt"/>
              </a:rPr>
              <a:t>Filozófia sajátosságai</a:t>
            </a:r>
          </a:p>
        </p:txBody>
      </p:sp>
      <p:sp>
        <p:nvSpPr>
          <p:cNvPr id="2" name="Tartalom helye 1">
            <a:extLst>
              <a:ext uri="{FF2B5EF4-FFF2-40B4-BE49-F238E27FC236}">
                <a16:creationId xmlns:a16="http://schemas.microsoft.com/office/drawing/2014/main" id="{ABE510D7-3EBE-4B4A-B341-6081F35B7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88" y="1529150"/>
            <a:ext cx="8229600" cy="532885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b="1" dirty="0"/>
              <a:t>Toyota Észak-Amerikai vállalata: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hu-HU" dirty="0"/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hu-HU" dirty="0"/>
              <a:t> Amerikai vállalatként a társadalom és az USA gazdasági növekedéséhez való hozzájárulás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hu-HU" dirty="0"/>
              <a:t>Független vállalatként a csapattagok stabilizálásához és jólétéhez való hozzájárulás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hu-HU" dirty="0"/>
              <a:t>A Toyota-csoport vállalataként a Toyota általános növekedéséhez való hozzájárulás az ügyfeleinknek történő értékteremtés segítségével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hu-HU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hu-HU" b="1" dirty="0"/>
              <a:t>Ford: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hu-HU" dirty="0"/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hu-HU" dirty="0"/>
              <a:t>A Ford világvezető az autóipari és autóiparhoz kapcsolódó termékek és szolgáltatások, valamint olyan újabb ágazatok, mint az űrkutatás, a kommunikáció és a pénzügyi szolgáltatások terén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hu-HU" dirty="0"/>
              <a:t>A küldetésünk termékeink és szolgáltatásaink folyamatos figyelése a vásárlók szükségleteinek kielégítése céljából, ami lehetővé teszi a vállalat virágzását és a megfelelő megtérülést a részvényeseink, vállalatunk tulajdonosai számára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45CA490-C921-4224-9A0D-6A9AB5188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hu-HU" altLang="hu-HU" sz="3200" dirty="0">
                <a:solidFill>
                  <a:srgbClr val="800000"/>
                </a:solidFill>
              </a:rPr>
              <a:t>Veszteségforrások</a:t>
            </a:r>
          </a:p>
        </p:txBody>
      </p:sp>
      <p:sp>
        <p:nvSpPr>
          <p:cNvPr id="2" name="Tartalom helye 1">
            <a:extLst>
              <a:ext uri="{FF2B5EF4-FFF2-40B4-BE49-F238E27FC236}">
                <a16:creationId xmlns:a16="http://schemas.microsoft.com/office/drawing/2014/main" id="{28BE4438-7E70-44A9-A3FD-788076C85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hu-HU" altLang="hu-HU" dirty="0"/>
              <a:t>Túltermelés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Várakozás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Felesleges szállítás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Túlfeldolgozás vagy nem megfelelő feldolgozás (túl jó minőség is!)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Túl sok készlet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Felesleges mozgás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Selejt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Munkatársak kihasználatlan kreativitása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D02DA6E-5C2C-41DD-B0CE-8B9D29706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7076" y="448255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/>
              <a:t>3M - veszteségforrások</a:t>
            </a:r>
          </a:p>
        </p:txBody>
      </p:sp>
      <p:sp>
        <p:nvSpPr>
          <p:cNvPr id="150532" name="Oval 4">
            <a:extLst>
              <a:ext uri="{FF2B5EF4-FFF2-40B4-BE49-F238E27FC236}">
                <a16:creationId xmlns:a16="http://schemas.microsoft.com/office/drawing/2014/main" id="{9FFE7BE2-FDDF-4326-89C6-785718F78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581" y="1655104"/>
            <a:ext cx="3313113" cy="2881313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hu-HU" sz="3200" dirty="0" err="1"/>
              <a:t>Muda</a:t>
            </a:r>
            <a:endParaRPr lang="hu-HU" sz="3200" dirty="0"/>
          </a:p>
          <a:p>
            <a:pPr algn="ctr">
              <a:defRPr/>
            </a:pPr>
            <a:r>
              <a:rPr lang="hu-HU" sz="1800" dirty="0"/>
              <a:t>Veszteség</a:t>
            </a:r>
          </a:p>
          <a:p>
            <a:pPr algn="ctr">
              <a:defRPr/>
            </a:pPr>
            <a:r>
              <a:rPr lang="hu-HU" sz="1800" dirty="0"/>
              <a:t>(nem érték teremtése)</a:t>
            </a:r>
          </a:p>
        </p:txBody>
      </p:sp>
      <p:sp>
        <p:nvSpPr>
          <p:cNvPr id="150533" name="Oval 5">
            <a:extLst>
              <a:ext uri="{FF2B5EF4-FFF2-40B4-BE49-F238E27FC236}">
                <a16:creationId xmlns:a16="http://schemas.microsoft.com/office/drawing/2014/main" id="{C1DBAA67-9B45-4DFC-AAFB-F810BC638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306" y="1655104"/>
            <a:ext cx="3313113" cy="2881313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hu-HU" sz="3200"/>
              <a:t>Muri</a:t>
            </a:r>
          </a:p>
          <a:p>
            <a:pPr algn="ctr">
              <a:defRPr/>
            </a:pPr>
            <a:r>
              <a:rPr lang="hu-HU" sz="1800"/>
              <a:t>Túlterhelés</a:t>
            </a:r>
          </a:p>
        </p:txBody>
      </p:sp>
      <p:sp>
        <p:nvSpPr>
          <p:cNvPr id="150534" name="Oval 6">
            <a:extLst>
              <a:ext uri="{FF2B5EF4-FFF2-40B4-BE49-F238E27FC236}">
                <a16:creationId xmlns:a16="http://schemas.microsoft.com/office/drawing/2014/main" id="{4231CF25-D682-4E13-BC16-1A54C07E8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444" y="3599792"/>
            <a:ext cx="3313112" cy="288131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hu-HU" sz="3200"/>
              <a:t>Mura</a:t>
            </a:r>
          </a:p>
          <a:p>
            <a:pPr algn="ctr">
              <a:defRPr/>
            </a:pPr>
            <a:r>
              <a:rPr lang="hu-HU" sz="1800"/>
              <a:t>Egyenletlenség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7B5F576-3309-4A41-848B-2B0DBB3A1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06005" y="475963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>
                <a:latin typeface="+mn-lt"/>
              </a:rPr>
              <a:t>Veszteségek és értékteremtés</a:t>
            </a:r>
          </a:p>
        </p:txBody>
      </p:sp>
      <p:sp>
        <p:nvSpPr>
          <p:cNvPr id="2" name="Tartalom helye 1">
            <a:extLst>
              <a:ext uri="{FF2B5EF4-FFF2-40B4-BE49-F238E27FC236}">
                <a16:creationId xmlns:a16="http://schemas.microsoft.com/office/drawing/2014/main" id="{5618637D-80DC-4ACE-8E04-0EDC6A214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005" y="1842511"/>
            <a:ext cx="8229600" cy="4420771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hu-HU" altLang="hu-HU" dirty="0"/>
              <a:t>Alkatrész szállítása a szerelősorhoz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Az alkatrész kicsomagolása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Az alkatrész beigazítása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Csavarok felvétele a tartóból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Hat méter gyaloglás a szerelősoron lévő szerszámhoz</a:t>
            </a:r>
          </a:p>
          <a:p>
            <a:pPr>
              <a:lnSpc>
                <a:spcPct val="120000"/>
              </a:lnSpc>
            </a:pPr>
            <a:r>
              <a:rPr lang="hu-HU" altLang="hu-HU" b="1" dirty="0"/>
              <a:t>Alkatrész felhelyezése az alvázra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Szerszám megfogása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Szerszám lehúzása az alkatrészig</a:t>
            </a:r>
          </a:p>
          <a:p>
            <a:pPr>
              <a:lnSpc>
                <a:spcPct val="120000"/>
              </a:lnSpc>
            </a:pPr>
            <a:r>
              <a:rPr lang="hu-HU" altLang="hu-HU" b="1" dirty="0"/>
              <a:t>Csavarok behelyezése az alkatrészbe</a:t>
            </a:r>
          </a:p>
          <a:p>
            <a:pPr>
              <a:lnSpc>
                <a:spcPct val="120000"/>
              </a:lnSpc>
            </a:pPr>
            <a:r>
              <a:rPr lang="hu-HU" altLang="hu-HU" b="1" dirty="0"/>
              <a:t>Csavarok meghúzása a szerszámmal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Hét méter gyaloglás vissza a következő alkatrészig</a:t>
            </a:r>
          </a:p>
          <a:p>
            <a:pPr>
              <a:lnSpc>
                <a:spcPct val="120000"/>
              </a:lnSpc>
            </a:pPr>
            <a:r>
              <a:rPr lang="hu-HU" altLang="hu-HU" dirty="0"/>
              <a:t>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BB979D1-F8F1-4708-96EC-F8A6C93A4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hu-HU" altLang="hu-HU" sz="2400" dirty="0">
                <a:latin typeface="+mn-lt"/>
              </a:rPr>
              <a:t>Termelőszigetek kialakítása: </a:t>
            </a:r>
            <a:r>
              <a:rPr lang="hu-HU" altLang="hu-HU" sz="2400" dirty="0" err="1">
                <a:latin typeface="+mn-lt"/>
              </a:rPr>
              <a:t>Géptípusonként</a:t>
            </a:r>
            <a:r>
              <a:rPr lang="hu-HU" altLang="hu-HU" sz="2400" dirty="0">
                <a:latin typeface="+mn-lt"/>
              </a:rPr>
              <a:t> rendezett műhely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0C9D780D-1394-4502-BF3A-4559F6BE8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700213"/>
            <a:ext cx="1295400" cy="504825"/>
          </a:xfrm>
          <a:prstGeom prst="rect">
            <a:avLst/>
          </a:prstGeom>
          <a:solidFill>
            <a:srgbClr val="FFCC99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E</a:t>
            </a:r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55808722-C322-4BB5-A3B2-5F8A05502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700213"/>
            <a:ext cx="1295400" cy="504825"/>
          </a:xfrm>
          <a:prstGeom prst="rect">
            <a:avLst/>
          </a:prstGeom>
          <a:solidFill>
            <a:srgbClr val="FFCC99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E</a:t>
            </a:r>
          </a:p>
        </p:txBody>
      </p:sp>
      <p:sp>
        <p:nvSpPr>
          <p:cNvPr id="20485" name="Rectangle 6">
            <a:extLst>
              <a:ext uri="{FF2B5EF4-FFF2-40B4-BE49-F238E27FC236}">
                <a16:creationId xmlns:a16="http://schemas.microsoft.com/office/drawing/2014/main" id="{4038849F-686C-4559-AAE9-D0D035D52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388" y="1700213"/>
            <a:ext cx="1295400" cy="504825"/>
          </a:xfrm>
          <a:prstGeom prst="rect">
            <a:avLst/>
          </a:prstGeom>
          <a:solidFill>
            <a:srgbClr val="FFCC99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E</a:t>
            </a:r>
          </a:p>
        </p:txBody>
      </p:sp>
      <p:sp>
        <p:nvSpPr>
          <p:cNvPr id="20486" name="Rectangle 7">
            <a:extLst>
              <a:ext uri="{FF2B5EF4-FFF2-40B4-BE49-F238E27FC236}">
                <a16:creationId xmlns:a16="http://schemas.microsoft.com/office/drawing/2014/main" id="{E287E8F2-5507-468B-AC87-283FA7F5D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3" y="1700213"/>
            <a:ext cx="1295400" cy="504825"/>
          </a:xfrm>
          <a:prstGeom prst="rect">
            <a:avLst/>
          </a:prstGeom>
          <a:solidFill>
            <a:srgbClr val="FFCC99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E</a:t>
            </a:r>
          </a:p>
        </p:txBody>
      </p:sp>
      <p:sp>
        <p:nvSpPr>
          <p:cNvPr id="20487" name="Rectangle 8">
            <a:extLst>
              <a:ext uri="{FF2B5EF4-FFF2-40B4-BE49-F238E27FC236}">
                <a16:creationId xmlns:a16="http://schemas.microsoft.com/office/drawing/2014/main" id="{58D3C94C-8A64-454A-9838-1C4E9B628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068638"/>
            <a:ext cx="1008062" cy="647700"/>
          </a:xfrm>
          <a:prstGeom prst="rect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0488" name="Rectangle 9">
            <a:extLst>
              <a:ext uri="{FF2B5EF4-FFF2-40B4-BE49-F238E27FC236}">
                <a16:creationId xmlns:a16="http://schemas.microsoft.com/office/drawing/2014/main" id="{B58B6511-C849-4D58-A1EF-6DCAB1C95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068638"/>
            <a:ext cx="1008062" cy="647700"/>
          </a:xfrm>
          <a:prstGeom prst="rect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0489" name="Rectangle 10">
            <a:extLst>
              <a:ext uri="{FF2B5EF4-FFF2-40B4-BE49-F238E27FC236}">
                <a16:creationId xmlns:a16="http://schemas.microsoft.com/office/drawing/2014/main" id="{66F86FEE-7E9F-4519-928D-DB4B0D660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068638"/>
            <a:ext cx="1008063" cy="647700"/>
          </a:xfrm>
          <a:prstGeom prst="rect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0490" name="Rectangle 11">
            <a:extLst>
              <a:ext uri="{FF2B5EF4-FFF2-40B4-BE49-F238E27FC236}">
                <a16:creationId xmlns:a16="http://schemas.microsoft.com/office/drawing/2014/main" id="{A6AFB4D8-E03A-484E-9368-FE02145A1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725988"/>
            <a:ext cx="1800225" cy="503237"/>
          </a:xfrm>
          <a:prstGeom prst="rect">
            <a:avLst/>
          </a:prstGeom>
          <a:solidFill>
            <a:schemeClr val="hlink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K</a:t>
            </a:r>
          </a:p>
        </p:txBody>
      </p:sp>
      <p:sp>
        <p:nvSpPr>
          <p:cNvPr id="20491" name="Rectangle 12">
            <a:extLst>
              <a:ext uri="{FF2B5EF4-FFF2-40B4-BE49-F238E27FC236}">
                <a16:creationId xmlns:a16="http://schemas.microsoft.com/office/drawing/2014/main" id="{BD0E0363-E6A9-44E1-ACF0-DC445EC2C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724400"/>
            <a:ext cx="1800225" cy="503238"/>
          </a:xfrm>
          <a:prstGeom prst="rect">
            <a:avLst/>
          </a:prstGeom>
          <a:solidFill>
            <a:schemeClr val="hlink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K</a:t>
            </a:r>
          </a:p>
        </p:txBody>
      </p:sp>
      <p:sp>
        <p:nvSpPr>
          <p:cNvPr id="20492" name="Rectangle 13">
            <a:extLst>
              <a:ext uri="{FF2B5EF4-FFF2-40B4-BE49-F238E27FC236}">
                <a16:creationId xmlns:a16="http://schemas.microsoft.com/office/drawing/2014/main" id="{D875BBE9-0E95-4AB6-8769-13C99009F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724400"/>
            <a:ext cx="1800225" cy="503238"/>
          </a:xfrm>
          <a:prstGeom prst="rect">
            <a:avLst/>
          </a:prstGeom>
          <a:solidFill>
            <a:schemeClr val="hlink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K</a:t>
            </a:r>
          </a:p>
        </p:txBody>
      </p:sp>
      <p:sp>
        <p:nvSpPr>
          <p:cNvPr id="20493" name="Rectangle 14">
            <a:extLst>
              <a:ext uri="{FF2B5EF4-FFF2-40B4-BE49-F238E27FC236}">
                <a16:creationId xmlns:a16="http://schemas.microsoft.com/office/drawing/2014/main" id="{82898663-E835-4F1D-94C1-7874A90B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949950"/>
            <a:ext cx="1008062" cy="6477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F</a:t>
            </a:r>
          </a:p>
        </p:txBody>
      </p:sp>
      <p:sp>
        <p:nvSpPr>
          <p:cNvPr id="20494" name="Rectangle 15">
            <a:extLst>
              <a:ext uri="{FF2B5EF4-FFF2-40B4-BE49-F238E27FC236}">
                <a16:creationId xmlns:a16="http://schemas.microsoft.com/office/drawing/2014/main" id="{E5744DC6-9EB2-41A9-AD69-4B70FE7F7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949950"/>
            <a:ext cx="1008062" cy="6477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F</a:t>
            </a:r>
          </a:p>
        </p:txBody>
      </p:sp>
      <p:sp>
        <p:nvSpPr>
          <p:cNvPr id="20495" name="Rectangle 16">
            <a:extLst>
              <a:ext uri="{FF2B5EF4-FFF2-40B4-BE49-F238E27FC236}">
                <a16:creationId xmlns:a16="http://schemas.microsoft.com/office/drawing/2014/main" id="{0341E5C3-9938-4637-A569-5C0186F7F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5949950"/>
            <a:ext cx="1008062" cy="6477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F</a:t>
            </a:r>
          </a:p>
        </p:txBody>
      </p:sp>
      <p:sp>
        <p:nvSpPr>
          <p:cNvPr id="20496" name="Line 17">
            <a:extLst>
              <a:ext uri="{FF2B5EF4-FFF2-40B4-BE49-F238E27FC236}">
                <a16:creationId xmlns:a16="http://schemas.microsoft.com/office/drawing/2014/main" id="{4A9B93BF-14ED-492D-ACE9-134E6A12E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2349500"/>
            <a:ext cx="576263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7" name="Line 18">
            <a:extLst>
              <a:ext uri="{FF2B5EF4-FFF2-40B4-BE49-F238E27FC236}">
                <a16:creationId xmlns:a16="http://schemas.microsoft.com/office/drawing/2014/main" id="{EF786805-81F7-4921-A39F-0D38EDF9E2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3575" y="2349500"/>
            <a:ext cx="576263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8" name="Line 19">
            <a:extLst>
              <a:ext uri="{FF2B5EF4-FFF2-40B4-BE49-F238E27FC236}">
                <a16:creationId xmlns:a16="http://schemas.microsoft.com/office/drawing/2014/main" id="{86FB8A05-0FAE-47AD-A85B-8B2EF2FE59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1775" y="2349500"/>
            <a:ext cx="1079500" cy="223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Line 20">
            <a:extLst>
              <a:ext uri="{FF2B5EF4-FFF2-40B4-BE49-F238E27FC236}">
                <a16:creationId xmlns:a16="http://schemas.microsoft.com/office/drawing/2014/main" id="{6FE8375F-99B2-4E98-82CE-68E88D1AAC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6238" y="2349500"/>
            <a:ext cx="2376487" cy="2303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Line 21">
            <a:extLst>
              <a:ext uri="{FF2B5EF4-FFF2-40B4-BE49-F238E27FC236}">
                <a16:creationId xmlns:a16="http://schemas.microsoft.com/office/drawing/2014/main" id="{D40BD35F-EF69-4BC5-99A5-6E31835B20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3800" y="2349500"/>
            <a:ext cx="5762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1" name="Line 22">
            <a:extLst>
              <a:ext uri="{FF2B5EF4-FFF2-40B4-BE49-F238E27FC236}">
                <a16:creationId xmlns:a16="http://schemas.microsoft.com/office/drawing/2014/main" id="{D5C25EE1-E243-409D-A209-AD091AD12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3860800"/>
            <a:ext cx="2017712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2" name="Line 23">
            <a:extLst>
              <a:ext uri="{FF2B5EF4-FFF2-40B4-BE49-F238E27FC236}">
                <a16:creationId xmlns:a16="http://schemas.microsoft.com/office/drawing/2014/main" id="{A18B64F7-9D43-4E8F-BA06-4334522993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8038" y="5300663"/>
            <a:ext cx="360045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3" name="Line 24">
            <a:extLst>
              <a:ext uri="{FF2B5EF4-FFF2-40B4-BE49-F238E27FC236}">
                <a16:creationId xmlns:a16="http://schemas.microsoft.com/office/drawing/2014/main" id="{D23D191E-17FB-4860-ADCF-A1ED85367F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3575" y="3860800"/>
            <a:ext cx="3240088" cy="187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31532C0-B788-4945-A039-CA44DA1D84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67720" y="464913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/>
              <a:t>Egydarabos termelősziget</a:t>
            </a:r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id="{6A7CB64F-4BD6-47A3-BE8B-F516EAFFC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078288"/>
            <a:ext cx="1295400" cy="504825"/>
          </a:xfrm>
          <a:prstGeom prst="rect">
            <a:avLst/>
          </a:prstGeom>
          <a:solidFill>
            <a:srgbClr val="FFCC99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E</a:t>
            </a:r>
          </a:p>
        </p:txBody>
      </p:sp>
      <p:sp>
        <p:nvSpPr>
          <p:cNvPr id="21508" name="Rectangle 5">
            <a:extLst>
              <a:ext uri="{FF2B5EF4-FFF2-40B4-BE49-F238E27FC236}">
                <a16:creationId xmlns:a16="http://schemas.microsoft.com/office/drawing/2014/main" id="{F95854EC-71A2-431D-982C-4F979825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3933825"/>
            <a:ext cx="1008063" cy="647700"/>
          </a:xfrm>
          <a:prstGeom prst="rect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1509" name="Rectangle 6">
            <a:extLst>
              <a:ext uri="{FF2B5EF4-FFF2-40B4-BE49-F238E27FC236}">
                <a16:creationId xmlns:a16="http://schemas.microsoft.com/office/drawing/2014/main" id="{D97E6F6E-DDB1-4D9E-BF43-60FC7050D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141663"/>
            <a:ext cx="1800225" cy="503237"/>
          </a:xfrm>
          <a:prstGeom prst="rect">
            <a:avLst/>
          </a:prstGeom>
          <a:solidFill>
            <a:schemeClr val="hlink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K</a:t>
            </a:r>
          </a:p>
        </p:txBody>
      </p:sp>
      <p:sp>
        <p:nvSpPr>
          <p:cNvPr id="21510" name="Rectangle 7">
            <a:extLst>
              <a:ext uri="{FF2B5EF4-FFF2-40B4-BE49-F238E27FC236}">
                <a16:creationId xmlns:a16="http://schemas.microsoft.com/office/drawing/2014/main" id="{810609EA-4285-4898-81CA-3E036F4C9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4868863"/>
            <a:ext cx="1008063" cy="6477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F</a:t>
            </a:r>
          </a:p>
        </p:txBody>
      </p:sp>
      <p:sp>
        <p:nvSpPr>
          <p:cNvPr id="21511" name="Rectangle 8">
            <a:extLst>
              <a:ext uri="{FF2B5EF4-FFF2-40B4-BE49-F238E27FC236}">
                <a16:creationId xmlns:a16="http://schemas.microsoft.com/office/drawing/2014/main" id="{2DD71F1C-7C4B-4F30-884F-671708BF5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5013325"/>
            <a:ext cx="1800225" cy="503238"/>
          </a:xfrm>
          <a:prstGeom prst="rect">
            <a:avLst/>
          </a:prstGeom>
          <a:solidFill>
            <a:schemeClr val="hlink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K</a:t>
            </a:r>
          </a:p>
        </p:txBody>
      </p:sp>
      <p:sp>
        <p:nvSpPr>
          <p:cNvPr id="21512" name="Rectangle 9">
            <a:extLst>
              <a:ext uri="{FF2B5EF4-FFF2-40B4-BE49-F238E27FC236}">
                <a16:creationId xmlns:a16="http://schemas.microsoft.com/office/drawing/2014/main" id="{1FFCB687-5558-48AF-A0E5-FC3250176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734050"/>
            <a:ext cx="1295400" cy="504825"/>
          </a:xfrm>
          <a:prstGeom prst="rect">
            <a:avLst/>
          </a:prstGeom>
          <a:solidFill>
            <a:srgbClr val="FFCC99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E</a:t>
            </a:r>
          </a:p>
        </p:txBody>
      </p:sp>
      <p:sp>
        <p:nvSpPr>
          <p:cNvPr id="21513" name="Rectangle 10">
            <a:extLst>
              <a:ext uri="{FF2B5EF4-FFF2-40B4-BE49-F238E27FC236}">
                <a16:creationId xmlns:a16="http://schemas.microsoft.com/office/drawing/2014/main" id="{10CBC32E-04A1-4AE1-A614-661256DEA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068638"/>
            <a:ext cx="1295400" cy="504825"/>
          </a:xfrm>
          <a:prstGeom prst="rect">
            <a:avLst/>
          </a:prstGeom>
          <a:solidFill>
            <a:srgbClr val="FFCC99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hu-HU" altLang="hu-HU"/>
              <a:t>E</a:t>
            </a:r>
          </a:p>
        </p:txBody>
      </p:sp>
      <p:sp>
        <p:nvSpPr>
          <p:cNvPr id="21514" name="Line 11">
            <a:extLst>
              <a:ext uri="{FF2B5EF4-FFF2-40B4-BE49-F238E27FC236}">
                <a16:creationId xmlns:a16="http://schemas.microsoft.com/office/drawing/2014/main" id="{C73B4A80-01F4-4216-8484-FA3BEDF68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3213100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Line 12">
            <a:extLst>
              <a:ext uri="{FF2B5EF4-FFF2-40B4-BE49-F238E27FC236}">
                <a16:creationId xmlns:a16="http://schemas.microsoft.com/office/drawing/2014/main" id="{7CA99DE8-535B-4CCF-B618-1CF551AF6C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4875" y="3286125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3">
            <a:extLst>
              <a:ext uri="{FF2B5EF4-FFF2-40B4-BE49-F238E27FC236}">
                <a16:creationId xmlns:a16="http://schemas.microsoft.com/office/drawing/2014/main" id="{82C938A9-997E-4C44-8865-B3EB39E71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6813" y="5445125"/>
            <a:ext cx="86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1517" name="Picture 14">
            <a:extLst>
              <a:ext uri="{FF2B5EF4-FFF2-40B4-BE49-F238E27FC236}">
                <a16:creationId xmlns:a16="http://schemas.microsoft.com/office/drawing/2014/main" id="{13E67CCC-771C-4FE0-8C81-3F46AEB5B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1484313"/>
            <a:ext cx="2711450" cy="190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A56A3F0-1B86-4289-9527-1C8B13716F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67720" y="514806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 err="1"/>
              <a:t>Heijunka</a:t>
            </a:r>
            <a:r>
              <a:rPr lang="hu-HU" altLang="hu-HU" sz="2400" dirty="0"/>
              <a:t> – kiegyenlített termelés hiánya</a:t>
            </a:r>
          </a:p>
        </p:txBody>
      </p:sp>
      <p:sp>
        <p:nvSpPr>
          <p:cNvPr id="22531" name="AutoShape 5">
            <a:extLst>
              <a:ext uri="{FF2B5EF4-FFF2-40B4-BE49-F238E27FC236}">
                <a16:creationId xmlns:a16="http://schemas.microsoft.com/office/drawing/2014/main" id="{EE5FEB51-A8B4-4F8A-9478-9E9F169C8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2133600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32" name="AutoShape 6">
            <a:extLst>
              <a:ext uri="{FF2B5EF4-FFF2-40B4-BE49-F238E27FC236}">
                <a16:creationId xmlns:a16="http://schemas.microsoft.com/office/drawing/2014/main" id="{2159A104-7568-463D-B90D-FE21BD5ED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2133600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33" name="AutoShape 7">
            <a:extLst>
              <a:ext uri="{FF2B5EF4-FFF2-40B4-BE49-F238E27FC236}">
                <a16:creationId xmlns:a16="http://schemas.microsoft.com/office/drawing/2014/main" id="{D63C278E-F075-4E26-B56E-4DAEB5DA9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644900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34" name="Line 8">
            <a:extLst>
              <a:ext uri="{FF2B5EF4-FFF2-40B4-BE49-F238E27FC236}">
                <a16:creationId xmlns:a16="http://schemas.microsoft.com/office/drawing/2014/main" id="{9B45762C-6A27-4F7C-AAFA-A50F3139D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3213100"/>
            <a:ext cx="7056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5" name="Text Box 9">
            <a:extLst>
              <a:ext uri="{FF2B5EF4-FFF2-40B4-BE49-F238E27FC236}">
                <a16:creationId xmlns:a16="http://schemas.microsoft.com/office/drawing/2014/main" id="{AD983E1E-E62F-422D-9982-D3C071121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276475"/>
            <a:ext cx="649287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u-HU" altLang="hu-HU"/>
              <a:t>1</a:t>
            </a:r>
          </a:p>
          <a:p>
            <a:pPr eaLnBrk="1" hangingPunct="1">
              <a:spcBef>
                <a:spcPct val="50000"/>
              </a:spcBef>
            </a:pPr>
            <a:endParaRPr lang="hu-HU" altLang="hu-HU"/>
          </a:p>
          <a:p>
            <a:pPr eaLnBrk="1" hangingPunct="1">
              <a:spcBef>
                <a:spcPct val="50000"/>
              </a:spcBef>
            </a:pPr>
            <a:r>
              <a:rPr lang="hu-HU" altLang="hu-HU"/>
              <a:t>2</a:t>
            </a:r>
          </a:p>
          <a:p>
            <a:pPr eaLnBrk="1" hangingPunct="1">
              <a:spcBef>
                <a:spcPct val="50000"/>
              </a:spcBef>
            </a:pPr>
            <a:endParaRPr lang="hu-HU" altLang="hu-HU"/>
          </a:p>
          <a:p>
            <a:pPr eaLnBrk="1" hangingPunct="1">
              <a:spcBef>
                <a:spcPct val="50000"/>
              </a:spcBef>
            </a:pPr>
            <a:r>
              <a:rPr lang="hu-HU" altLang="hu-HU"/>
              <a:t>3</a:t>
            </a:r>
          </a:p>
          <a:p>
            <a:pPr eaLnBrk="1" hangingPunct="1">
              <a:spcBef>
                <a:spcPct val="50000"/>
              </a:spcBef>
            </a:pPr>
            <a:endParaRPr lang="hu-HU" altLang="hu-HU"/>
          </a:p>
          <a:p>
            <a:pPr eaLnBrk="1" hangingPunct="1">
              <a:spcBef>
                <a:spcPct val="50000"/>
              </a:spcBef>
            </a:pPr>
            <a:r>
              <a:rPr lang="hu-HU" altLang="hu-HU"/>
              <a:t>4</a:t>
            </a:r>
          </a:p>
        </p:txBody>
      </p:sp>
      <p:sp>
        <p:nvSpPr>
          <p:cNvPr id="22536" name="Line 10">
            <a:extLst>
              <a:ext uri="{FF2B5EF4-FFF2-40B4-BE49-F238E27FC236}">
                <a16:creationId xmlns:a16="http://schemas.microsoft.com/office/drawing/2014/main" id="{D8A41DF8-79C1-4BC4-85B4-694AD49F1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4292600"/>
            <a:ext cx="7056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7" name="Line 11">
            <a:extLst>
              <a:ext uri="{FF2B5EF4-FFF2-40B4-BE49-F238E27FC236}">
                <a16:creationId xmlns:a16="http://schemas.microsoft.com/office/drawing/2014/main" id="{5CA4B8B0-CB76-4280-BFA6-240B679D7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5445125"/>
            <a:ext cx="7056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8" name="AutoShape 12">
            <a:extLst>
              <a:ext uri="{FF2B5EF4-FFF2-40B4-BE49-F238E27FC236}">
                <a16:creationId xmlns:a16="http://schemas.microsoft.com/office/drawing/2014/main" id="{D9065272-4324-4371-AFC8-936F2F2F9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133600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39" name="AutoShape 13">
            <a:extLst>
              <a:ext uri="{FF2B5EF4-FFF2-40B4-BE49-F238E27FC236}">
                <a16:creationId xmlns:a16="http://schemas.microsoft.com/office/drawing/2014/main" id="{3249A86B-8FFC-4DBE-AE6D-4C0E75D87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133600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0" name="AutoShape 14">
            <a:extLst>
              <a:ext uri="{FF2B5EF4-FFF2-40B4-BE49-F238E27FC236}">
                <a16:creationId xmlns:a16="http://schemas.microsoft.com/office/drawing/2014/main" id="{17C0429C-2DC2-4CE8-9035-935920743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133600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1" name="AutoShape 15">
            <a:extLst>
              <a:ext uri="{FF2B5EF4-FFF2-40B4-BE49-F238E27FC236}">
                <a16:creationId xmlns:a16="http://schemas.microsoft.com/office/drawing/2014/main" id="{89D5ACC0-8F16-4F34-A236-302FE8CE4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3357563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2" name="AutoShape 16">
            <a:extLst>
              <a:ext uri="{FF2B5EF4-FFF2-40B4-BE49-F238E27FC236}">
                <a16:creationId xmlns:a16="http://schemas.microsoft.com/office/drawing/2014/main" id="{894ABAC9-0EE4-4648-B90F-43506273E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3357563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3" name="AutoShape 17">
            <a:extLst>
              <a:ext uri="{FF2B5EF4-FFF2-40B4-BE49-F238E27FC236}">
                <a16:creationId xmlns:a16="http://schemas.microsoft.com/office/drawing/2014/main" id="{7E124AAE-8E54-4A09-88E6-A5E788C74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357563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4" name="AutoShape 18">
            <a:extLst>
              <a:ext uri="{FF2B5EF4-FFF2-40B4-BE49-F238E27FC236}">
                <a16:creationId xmlns:a16="http://schemas.microsoft.com/office/drawing/2014/main" id="{52D92A36-4815-4730-9FF6-72E320840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644900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5" name="AutoShape 19">
            <a:extLst>
              <a:ext uri="{FF2B5EF4-FFF2-40B4-BE49-F238E27FC236}">
                <a16:creationId xmlns:a16="http://schemas.microsoft.com/office/drawing/2014/main" id="{5D6E5A56-5EDC-4CC7-924E-B54D79928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797425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6" name="AutoShape 20">
            <a:extLst>
              <a:ext uri="{FF2B5EF4-FFF2-40B4-BE49-F238E27FC236}">
                <a16:creationId xmlns:a16="http://schemas.microsoft.com/office/drawing/2014/main" id="{9B3341FA-B1D6-4DF9-B9D0-132C2CB20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4797425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7" name="AutoShape 21">
            <a:extLst>
              <a:ext uri="{FF2B5EF4-FFF2-40B4-BE49-F238E27FC236}">
                <a16:creationId xmlns:a16="http://schemas.microsoft.com/office/drawing/2014/main" id="{BFCE1475-A378-4950-877B-1FCFAC6A1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797425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8" name="AutoShape 22">
            <a:extLst>
              <a:ext uri="{FF2B5EF4-FFF2-40B4-BE49-F238E27FC236}">
                <a16:creationId xmlns:a16="http://schemas.microsoft.com/office/drawing/2014/main" id="{D1381D97-EB27-492A-B2A5-94B7A15A0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797425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49" name="AutoShape 23">
            <a:extLst>
              <a:ext uri="{FF2B5EF4-FFF2-40B4-BE49-F238E27FC236}">
                <a16:creationId xmlns:a16="http://schemas.microsoft.com/office/drawing/2014/main" id="{BBF2525F-F47F-47F9-9172-2AC4E4E76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797425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50" name="AutoShape 24">
            <a:extLst>
              <a:ext uri="{FF2B5EF4-FFF2-40B4-BE49-F238E27FC236}">
                <a16:creationId xmlns:a16="http://schemas.microsoft.com/office/drawing/2014/main" id="{C8BFDA88-74AD-4932-AC86-FA2E04DB1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797425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51" name="AutoShape 25">
            <a:extLst>
              <a:ext uri="{FF2B5EF4-FFF2-40B4-BE49-F238E27FC236}">
                <a16:creationId xmlns:a16="http://schemas.microsoft.com/office/drawing/2014/main" id="{18584D05-6764-41E4-B2A0-2C7EE619D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4508500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52" name="AutoShape 26">
            <a:extLst>
              <a:ext uri="{FF2B5EF4-FFF2-40B4-BE49-F238E27FC236}">
                <a16:creationId xmlns:a16="http://schemas.microsoft.com/office/drawing/2014/main" id="{7AA49C0E-C44E-402B-A19F-162283482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5661025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53" name="AutoShape 27">
            <a:extLst>
              <a:ext uri="{FF2B5EF4-FFF2-40B4-BE49-F238E27FC236}">
                <a16:creationId xmlns:a16="http://schemas.microsoft.com/office/drawing/2014/main" id="{C7218242-58AD-4CE1-8843-9A8BCE70E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5661025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54" name="AutoShape 28">
            <a:extLst>
              <a:ext uri="{FF2B5EF4-FFF2-40B4-BE49-F238E27FC236}">
                <a16:creationId xmlns:a16="http://schemas.microsoft.com/office/drawing/2014/main" id="{360D9BF9-D53F-48E5-957C-206DD9E39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661025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55" name="AutoShape 29">
            <a:extLst>
              <a:ext uri="{FF2B5EF4-FFF2-40B4-BE49-F238E27FC236}">
                <a16:creationId xmlns:a16="http://schemas.microsoft.com/office/drawing/2014/main" id="{21644AD4-6998-47E5-98FA-3D0BBFD8E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5661025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56" name="AutoShape 30">
            <a:extLst>
              <a:ext uri="{FF2B5EF4-FFF2-40B4-BE49-F238E27FC236}">
                <a16:creationId xmlns:a16="http://schemas.microsoft.com/office/drawing/2014/main" id="{9E276569-FAC9-49A8-8BE9-530A4D001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5661025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2557" name="Text Box 31">
            <a:extLst>
              <a:ext uri="{FF2B5EF4-FFF2-40B4-BE49-F238E27FC236}">
                <a16:creationId xmlns:a16="http://schemas.microsoft.com/office/drawing/2014/main" id="{D57D0BD3-1F5E-4556-B7A3-8687CAA5F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573463"/>
            <a:ext cx="1079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u-HU" altLang="hu-HU" sz="1800" b="1"/>
              <a:t>átállás</a:t>
            </a:r>
          </a:p>
        </p:txBody>
      </p:sp>
      <p:sp>
        <p:nvSpPr>
          <p:cNvPr id="22558" name="Text Box 32">
            <a:extLst>
              <a:ext uri="{FF2B5EF4-FFF2-40B4-BE49-F238E27FC236}">
                <a16:creationId xmlns:a16="http://schemas.microsoft.com/office/drawing/2014/main" id="{46DA5FE7-ADFA-45BC-A2FA-4D2EA1803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718050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u-HU" altLang="hu-HU" sz="1800" b="1"/>
              <a:t>átállás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E2C49F2-E9EE-4B79-97AE-751DA63A9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hu-HU" altLang="hu-HU" sz="3200" dirty="0">
                <a:solidFill>
                  <a:srgbClr val="800000"/>
                </a:solidFill>
              </a:rPr>
              <a:t>A kiegyenlítetlen termelés veszélyei</a:t>
            </a:r>
          </a:p>
        </p:txBody>
      </p:sp>
      <p:sp>
        <p:nvSpPr>
          <p:cNvPr id="2" name="Tartalom helye 1">
            <a:extLst>
              <a:ext uri="{FF2B5EF4-FFF2-40B4-BE49-F238E27FC236}">
                <a16:creationId xmlns:a16="http://schemas.microsoft.com/office/drawing/2014/main" id="{33BDEF30-C620-48DC-A636-22201B317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73" y="1218614"/>
            <a:ext cx="8229600" cy="4420771"/>
          </a:xfrm>
        </p:spPr>
        <p:txBody>
          <a:bodyPr/>
          <a:lstStyle/>
          <a:p>
            <a:r>
              <a:rPr lang="hu-HU" dirty="0"/>
              <a:t>Kiszámíthatatlan vevői szokások</a:t>
            </a:r>
          </a:p>
          <a:p>
            <a:r>
              <a:rPr lang="hu-HU" dirty="0"/>
              <a:t>Eladatlan áru kockázata</a:t>
            </a:r>
          </a:p>
          <a:p>
            <a:r>
              <a:rPr lang="hu-HU" dirty="0"/>
              <a:t>Erőforrások kiegyensúlyozatlan felhasználása</a:t>
            </a:r>
          </a:p>
          <a:p>
            <a:r>
              <a:rPr lang="hu-HU" dirty="0"/>
              <a:t>Egyenlőtlen kereslet a megelőző folyamatok és beszállítók felé</a:t>
            </a:r>
          </a:p>
          <a:p>
            <a:endParaRPr lang="hu-HU" dirty="0"/>
          </a:p>
        </p:txBody>
      </p:sp>
      <p:pic>
        <p:nvPicPr>
          <p:cNvPr id="1026" name="Picture 2" descr="Heijunka Board Example and Applications [video]">
            <a:extLst>
              <a:ext uri="{FF2B5EF4-FFF2-40B4-BE49-F238E27FC236}">
                <a16:creationId xmlns:a16="http://schemas.microsoft.com/office/drawing/2014/main" id="{B57BDE62-BB72-4012-9722-4B7253222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003" y="4293912"/>
            <a:ext cx="5112797" cy="192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BC83487-78D5-4D3C-8783-A838ADFFB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67719" y="429987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l" eaLnBrk="1" hangingPunct="1"/>
            <a:r>
              <a:rPr lang="hu-HU" altLang="hu-HU" sz="2400" dirty="0" err="1"/>
              <a:t>Heijunka</a:t>
            </a:r>
            <a:r>
              <a:rPr lang="hu-HU" altLang="hu-HU" sz="2400" dirty="0"/>
              <a:t> – kiegyenlített termelés </a:t>
            </a:r>
          </a:p>
        </p:txBody>
      </p:sp>
      <p:sp>
        <p:nvSpPr>
          <p:cNvPr id="24579" name="AutoShape 4">
            <a:extLst>
              <a:ext uri="{FF2B5EF4-FFF2-40B4-BE49-F238E27FC236}">
                <a16:creationId xmlns:a16="http://schemas.microsoft.com/office/drawing/2014/main" id="{BA259348-4DE6-497B-AA30-B68D25C2A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2493963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80" name="AutoShape 5">
            <a:extLst>
              <a:ext uri="{FF2B5EF4-FFF2-40B4-BE49-F238E27FC236}">
                <a16:creationId xmlns:a16="http://schemas.microsoft.com/office/drawing/2014/main" id="{14876774-DFD5-47FF-A225-3D97ECF7D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2493963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81" name="AutoShape 6">
            <a:extLst>
              <a:ext uri="{FF2B5EF4-FFF2-40B4-BE49-F238E27FC236}">
                <a16:creationId xmlns:a16="http://schemas.microsoft.com/office/drawing/2014/main" id="{29AA41AE-33E6-4B2E-8AC8-EF991F9B3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4005263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82" name="Line 7">
            <a:extLst>
              <a:ext uri="{FF2B5EF4-FFF2-40B4-BE49-F238E27FC236}">
                <a16:creationId xmlns:a16="http://schemas.microsoft.com/office/drawing/2014/main" id="{84B51D22-9FD6-4B77-B742-2C3E14F00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3573463"/>
            <a:ext cx="7056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Text Box 8">
            <a:extLst>
              <a:ext uri="{FF2B5EF4-FFF2-40B4-BE49-F238E27FC236}">
                <a16:creationId xmlns:a16="http://schemas.microsoft.com/office/drawing/2014/main" id="{333DE427-477D-4CB5-8430-719331A44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636838"/>
            <a:ext cx="649287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u-HU" altLang="hu-HU"/>
              <a:t>1</a:t>
            </a:r>
          </a:p>
          <a:p>
            <a:pPr eaLnBrk="1" hangingPunct="1">
              <a:spcBef>
                <a:spcPct val="50000"/>
              </a:spcBef>
            </a:pPr>
            <a:endParaRPr lang="hu-HU" altLang="hu-HU"/>
          </a:p>
          <a:p>
            <a:pPr eaLnBrk="1" hangingPunct="1">
              <a:spcBef>
                <a:spcPct val="50000"/>
              </a:spcBef>
            </a:pPr>
            <a:r>
              <a:rPr lang="hu-HU" altLang="hu-HU"/>
              <a:t>2</a:t>
            </a:r>
          </a:p>
          <a:p>
            <a:pPr eaLnBrk="1" hangingPunct="1">
              <a:spcBef>
                <a:spcPct val="50000"/>
              </a:spcBef>
            </a:pPr>
            <a:endParaRPr lang="hu-HU" altLang="hu-HU"/>
          </a:p>
          <a:p>
            <a:pPr eaLnBrk="1" hangingPunct="1">
              <a:spcBef>
                <a:spcPct val="50000"/>
              </a:spcBef>
            </a:pPr>
            <a:r>
              <a:rPr lang="hu-HU" altLang="hu-HU"/>
              <a:t>3</a:t>
            </a:r>
          </a:p>
          <a:p>
            <a:pPr eaLnBrk="1" hangingPunct="1">
              <a:spcBef>
                <a:spcPct val="50000"/>
              </a:spcBef>
            </a:pPr>
            <a:endParaRPr lang="hu-HU" altLang="hu-HU"/>
          </a:p>
          <a:p>
            <a:pPr eaLnBrk="1" hangingPunct="1">
              <a:spcBef>
                <a:spcPct val="50000"/>
              </a:spcBef>
            </a:pPr>
            <a:r>
              <a:rPr lang="hu-HU" altLang="hu-HU"/>
              <a:t>4</a:t>
            </a:r>
          </a:p>
        </p:txBody>
      </p:sp>
      <p:sp>
        <p:nvSpPr>
          <p:cNvPr id="24584" name="Line 9">
            <a:extLst>
              <a:ext uri="{FF2B5EF4-FFF2-40B4-BE49-F238E27FC236}">
                <a16:creationId xmlns:a16="http://schemas.microsoft.com/office/drawing/2014/main" id="{70D5CA1E-85C5-4A8F-AC1D-C80A17CEA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4652963"/>
            <a:ext cx="7056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5" name="Line 10">
            <a:extLst>
              <a:ext uri="{FF2B5EF4-FFF2-40B4-BE49-F238E27FC236}">
                <a16:creationId xmlns:a16="http://schemas.microsoft.com/office/drawing/2014/main" id="{51D70AE9-0181-4F9C-96D8-C0417FAA8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5805488"/>
            <a:ext cx="7056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AutoShape 12">
            <a:extLst>
              <a:ext uri="{FF2B5EF4-FFF2-40B4-BE49-F238E27FC236}">
                <a16:creationId xmlns:a16="http://schemas.microsoft.com/office/drawing/2014/main" id="{B0FDA8F5-AC09-4F11-8952-F62648DEE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493963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87" name="AutoShape 14">
            <a:extLst>
              <a:ext uri="{FF2B5EF4-FFF2-40B4-BE49-F238E27FC236}">
                <a16:creationId xmlns:a16="http://schemas.microsoft.com/office/drawing/2014/main" id="{78D6B9BF-3B51-43C1-917A-66B0D269F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3717925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88" name="AutoShape 15">
            <a:extLst>
              <a:ext uri="{FF2B5EF4-FFF2-40B4-BE49-F238E27FC236}">
                <a16:creationId xmlns:a16="http://schemas.microsoft.com/office/drawing/2014/main" id="{BCC5E105-F3AF-4898-9B44-2EBFB8DA7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3717925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89" name="AutoShape 16">
            <a:extLst>
              <a:ext uri="{FF2B5EF4-FFF2-40B4-BE49-F238E27FC236}">
                <a16:creationId xmlns:a16="http://schemas.microsoft.com/office/drawing/2014/main" id="{653E05CC-DBE4-4999-B781-8F5CDF6E2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17925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0" name="AutoShape 17">
            <a:extLst>
              <a:ext uri="{FF2B5EF4-FFF2-40B4-BE49-F238E27FC236}">
                <a16:creationId xmlns:a16="http://schemas.microsoft.com/office/drawing/2014/main" id="{97F21848-D3F0-4CCD-AE23-EEC908D25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4005263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1" name="AutoShape 18">
            <a:extLst>
              <a:ext uri="{FF2B5EF4-FFF2-40B4-BE49-F238E27FC236}">
                <a16:creationId xmlns:a16="http://schemas.microsoft.com/office/drawing/2014/main" id="{B3026F96-EC34-49C1-BA77-FB05D112C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51577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2" name="AutoShape 19">
            <a:extLst>
              <a:ext uri="{FF2B5EF4-FFF2-40B4-BE49-F238E27FC236}">
                <a16:creationId xmlns:a16="http://schemas.microsoft.com/office/drawing/2014/main" id="{2A964250-8B5B-47BA-A0BA-3F5813E5A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1577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3" name="AutoShape 20">
            <a:extLst>
              <a:ext uri="{FF2B5EF4-FFF2-40B4-BE49-F238E27FC236}">
                <a16:creationId xmlns:a16="http://schemas.microsoft.com/office/drawing/2014/main" id="{00D9CEB0-C383-4F72-AAAB-776E14829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51577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4" name="AutoShape 21">
            <a:extLst>
              <a:ext uri="{FF2B5EF4-FFF2-40B4-BE49-F238E27FC236}">
                <a16:creationId xmlns:a16="http://schemas.microsoft.com/office/drawing/2014/main" id="{70987272-10E3-4672-A911-D1C8F8EE8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51577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5" name="AutoShape 22">
            <a:extLst>
              <a:ext uri="{FF2B5EF4-FFF2-40B4-BE49-F238E27FC236}">
                <a16:creationId xmlns:a16="http://schemas.microsoft.com/office/drawing/2014/main" id="{5BA168A2-6ABC-4B14-B507-78E3920EE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51577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6" name="AutoShape 23">
            <a:extLst>
              <a:ext uri="{FF2B5EF4-FFF2-40B4-BE49-F238E27FC236}">
                <a16:creationId xmlns:a16="http://schemas.microsoft.com/office/drawing/2014/main" id="{B76CB1DD-511C-43EB-AC66-56216140C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1577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7" name="AutoShape 24">
            <a:extLst>
              <a:ext uri="{FF2B5EF4-FFF2-40B4-BE49-F238E27FC236}">
                <a16:creationId xmlns:a16="http://schemas.microsoft.com/office/drawing/2014/main" id="{518BB3AB-D453-4D9F-9E18-41C02E751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4868863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8" name="AutoShape 25">
            <a:extLst>
              <a:ext uri="{FF2B5EF4-FFF2-40B4-BE49-F238E27FC236}">
                <a16:creationId xmlns:a16="http://schemas.microsoft.com/office/drawing/2014/main" id="{B85A7516-0FC8-4E26-8B2F-91A87D55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6021388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599" name="AutoShape 28">
            <a:extLst>
              <a:ext uri="{FF2B5EF4-FFF2-40B4-BE49-F238E27FC236}">
                <a16:creationId xmlns:a16="http://schemas.microsoft.com/office/drawing/2014/main" id="{FDA5A12E-CA27-43E3-B96B-726E13A19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6021388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600" name="AutoShape 29">
            <a:extLst>
              <a:ext uri="{FF2B5EF4-FFF2-40B4-BE49-F238E27FC236}">
                <a16:creationId xmlns:a16="http://schemas.microsoft.com/office/drawing/2014/main" id="{BE625224-2FBB-4257-B539-4B393B286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6021388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601" name="AutoShape 32">
            <a:extLst>
              <a:ext uri="{FF2B5EF4-FFF2-40B4-BE49-F238E27FC236}">
                <a16:creationId xmlns:a16="http://schemas.microsoft.com/office/drawing/2014/main" id="{51732C2A-3750-4EC6-81A8-E64517F1B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781300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602" name="AutoShape 33">
            <a:extLst>
              <a:ext uri="{FF2B5EF4-FFF2-40B4-BE49-F238E27FC236}">
                <a16:creationId xmlns:a16="http://schemas.microsoft.com/office/drawing/2014/main" id="{3BE6D559-45D5-4A16-8BC5-49EEF8DB8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781300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603" name="AutoShape 34">
            <a:extLst>
              <a:ext uri="{FF2B5EF4-FFF2-40B4-BE49-F238E27FC236}">
                <a16:creationId xmlns:a16="http://schemas.microsoft.com/office/drawing/2014/main" id="{C42016E6-6284-462A-AC96-D1270715C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2781300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604" name="AutoShape 35">
            <a:extLst>
              <a:ext uri="{FF2B5EF4-FFF2-40B4-BE49-F238E27FC236}">
                <a16:creationId xmlns:a16="http://schemas.microsoft.com/office/drawing/2014/main" id="{335EE967-160C-473C-A375-F7392D5E7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717925"/>
            <a:ext cx="1079500" cy="720725"/>
          </a:xfrm>
          <a:prstGeom prst="flowChartAlternateProcess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605" name="AutoShape 36">
            <a:extLst>
              <a:ext uri="{FF2B5EF4-FFF2-40B4-BE49-F238E27FC236}">
                <a16:creationId xmlns:a16="http://schemas.microsoft.com/office/drawing/2014/main" id="{F9995E9C-8894-4BFA-9D3F-0340B0268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62372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606" name="AutoShape 37">
            <a:extLst>
              <a:ext uri="{FF2B5EF4-FFF2-40B4-BE49-F238E27FC236}">
                <a16:creationId xmlns:a16="http://schemas.microsoft.com/office/drawing/2014/main" id="{926754AB-C7D9-41B0-ABE6-75358DF13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62372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607" name="AutoShape 38">
            <a:extLst>
              <a:ext uri="{FF2B5EF4-FFF2-40B4-BE49-F238E27FC236}">
                <a16:creationId xmlns:a16="http://schemas.microsoft.com/office/drawing/2014/main" id="{0DF80144-F9D0-49E7-9C9D-5F249A6ED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388" y="62372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sp>
        <p:nvSpPr>
          <p:cNvPr id="24608" name="AutoShape 39">
            <a:extLst>
              <a:ext uri="{FF2B5EF4-FFF2-40B4-BE49-F238E27FC236}">
                <a16:creationId xmlns:a16="http://schemas.microsoft.com/office/drawing/2014/main" id="{52A0376F-70BF-4F18-BADF-600199418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5157788"/>
            <a:ext cx="574675" cy="431800"/>
          </a:xfrm>
          <a:prstGeom prst="flowChartAlternateProcess">
            <a:avLst/>
          </a:prstGeom>
          <a:solidFill>
            <a:srgbClr val="800000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hu-HU" altLang="hu-HU"/>
          </a:p>
        </p:txBody>
      </p:sp>
      <p:pic>
        <p:nvPicPr>
          <p:cNvPr id="162856" name="Picture 40">
            <a:extLst>
              <a:ext uri="{FF2B5EF4-FFF2-40B4-BE49-F238E27FC236}">
                <a16:creationId xmlns:a16="http://schemas.microsoft.com/office/drawing/2014/main" id="{4ABC31BC-6F9D-4FD5-87CC-4AF3BB1D7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8225" y="1047492"/>
            <a:ext cx="1916112" cy="11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FB5A2BF-6B8F-4C92-9DF9-B40FBB787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06005" y="512908"/>
            <a:ext cx="7383236" cy="766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hu-HU" altLang="hu-HU" sz="2400" dirty="0"/>
              <a:t>A termelés kiegyenlítésének előnyei</a:t>
            </a:r>
          </a:p>
        </p:txBody>
      </p:sp>
      <p:sp>
        <p:nvSpPr>
          <p:cNvPr id="2" name="Tartalom helye 1">
            <a:extLst>
              <a:ext uri="{FF2B5EF4-FFF2-40B4-BE49-F238E27FC236}">
                <a16:creationId xmlns:a16="http://schemas.microsoft.com/office/drawing/2014/main" id="{637F28B9-642E-4ACA-91F6-084C624B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995" y="1862570"/>
            <a:ext cx="7886700" cy="4351338"/>
          </a:xfrm>
        </p:spPr>
        <p:txBody>
          <a:bodyPr/>
          <a:lstStyle/>
          <a:p>
            <a:r>
              <a:rPr lang="hu-HU" dirty="0"/>
              <a:t>Rugalmasság</a:t>
            </a:r>
          </a:p>
          <a:p>
            <a:r>
              <a:rPr lang="hu-HU" dirty="0"/>
              <a:t>Eladatlan termék kockázata csökken</a:t>
            </a:r>
          </a:p>
          <a:p>
            <a:r>
              <a:rPr lang="hu-HU" dirty="0"/>
              <a:t>Munkaerő és gépek kiegyensúlyozott használata</a:t>
            </a:r>
          </a:p>
          <a:p>
            <a:r>
              <a:rPr lang="hu-HU" dirty="0"/>
              <a:t>Kiegyenlített kereslet a beszállítók </a:t>
            </a:r>
            <a:br>
              <a:rPr lang="hu-HU" dirty="0"/>
            </a:br>
            <a:r>
              <a:rPr lang="hu-HU" dirty="0"/>
              <a:t>(és folyamatok felé)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659</TotalTime>
  <Words>1088</Words>
  <Application>Microsoft Office PowerPoint</Application>
  <PresentationFormat>Diavetítés a képernyőre (4:3 oldalarány)</PresentationFormat>
  <Paragraphs>234</Paragraphs>
  <Slides>26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Office-téma</vt:lpstr>
      <vt:lpstr>PowerPoint-bemutató</vt:lpstr>
      <vt:lpstr>Változások fő irányai a szervezetirányításban</vt:lpstr>
      <vt:lpstr>Lean menedzsment</vt:lpstr>
      <vt:lpstr>Lean célok</vt:lpstr>
      <vt:lpstr>Lean alapelvek</vt:lpstr>
      <vt:lpstr>Lean termelés jellemzői</vt:lpstr>
      <vt:lpstr>Toyota és lean</vt:lpstr>
      <vt:lpstr>Toyota sajátosságai</vt:lpstr>
      <vt:lpstr>Toyota-alapelvek piramisa</vt:lpstr>
      <vt:lpstr>Alapelvek: Filozófia</vt:lpstr>
      <vt:lpstr>Alapelvek: Problémamegoldás</vt:lpstr>
      <vt:lpstr>Luxusautókról alkotott kép</vt:lpstr>
      <vt:lpstr>A Lexus története</vt:lpstr>
      <vt:lpstr>Lexus tervezett paraméterei</vt:lpstr>
      <vt:lpstr>Lexus siker kulcs</vt:lpstr>
      <vt:lpstr>TPS: Toyota termelési rendszer</vt:lpstr>
      <vt:lpstr>Filozófia sajátosságai</vt:lpstr>
      <vt:lpstr>Veszteségforrások</vt:lpstr>
      <vt:lpstr>3M - veszteségforrások</vt:lpstr>
      <vt:lpstr>Veszteségek és értékteremtés</vt:lpstr>
      <vt:lpstr>Termelőszigetek kialakítása: Géptípusonként rendezett műhely</vt:lpstr>
      <vt:lpstr>Egydarabos termelősziget</vt:lpstr>
      <vt:lpstr>Heijunka – kiegyenlített termelés hiánya</vt:lpstr>
      <vt:lpstr>A kiegyenlítetlen termelés veszélyei</vt:lpstr>
      <vt:lpstr>Heijunka – kiegyenlített termelés </vt:lpstr>
      <vt:lpstr>A termelés kiegyenlítésének előnyei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80</cp:revision>
  <dcterms:created xsi:type="dcterms:W3CDTF">2015-07-30T19:30:28Z</dcterms:created>
  <dcterms:modified xsi:type="dcterms:W3CDTF">2021-04-26T16:43:59Z</dcterms:modified>
</cp:coreProperties>
</file>