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9" r:id="rId2"/>
    <p:sldId id="260" r:id="rId3"/>
    <p:sldId id="261" r:id="rId4"/>
    <p:sldId id="262" r:id="rId5"/>
    <p:sldId id="267" r:id="rId6"/>
    <p:sldId id="273" r:id="rId7"/>
    <p:sldId id="274" r:id="rId8"/>
    <p:sldId id="275" r:id="rId9"/>
    <p:sldId id="265" r:id="rId10"/>
    <p:sldId id="263" r:id="rId11"/>
    <p:sldId id="264" r:id="rId12"/>
    <p:sldId id="268" r:id="rId13"/>
    <p:sldId id="270" r:id="rId14"/>
    <p:sldId id="271" r:id="rId15"/>
    <p:sldId id="269" r:id="rId16"/>
    <p:sldId id="272" r:id="rId17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249" autoAdjust="0"/>
  </p:normalViewPr>
  <p:slideViewPr>
    <p:cSldViewPr snapToGrid="0">
      <p:cViewPr varScale="1">
        <p:scale>
          <a:sx n="58" d="100"/>
          <a:sy n="58" d="100"/>
        </p:scale>
        <p:origin x="10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Teljesítőképesség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Teljesítőképesség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00743" y="1894114"/>
            <a:ext cx="8229600" cy="4525963"/>
          </a:xfrm>
        </p:spPr>
        <p:txBody>
          <a:bodyPr/>
          <a:lstStyle/>
          <a:p>
            <a:pPr algn="just"/>
            <a:r>
              <a:rPr lang="hu-HU" dirty="0"/>
              <a:t>Egy gépnek, berendezésnek, embernek (homogén keresztmetszetnek) az a képessége, hogy adott idő alatt meghatározott feladatot képes elvégezni.</a:t>
            </a:r>
          </a:p>
          <a:p>
            <a:pPr algn="just"/>
            <a:endParaRPr lang="hu-HU" dirty="0"/>
          </a:p>
          <a:p>
            <a:pPr algn="just"/>
            <a:r>
              <a:rPr lang="hu-HU" dirty="0"/>
              <a:t>A teljesítőképesség felső határát a műszaki-technika, gazdasági, társadalmi feltételek fejlődése határozzák meg.</a:t>
            </a:r>
          </a:p>
          <a:p>
            <a:pPr algn="just"/>
            <a:endParaRPr lang="hu-H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Teljesítőképesség fokozatai</a:t>
            </a:r>
          </a:p>
        </p:txBody>
      </p:sp>
      <p:cxnSp>
        <p:nvCxnSpPr>
          <p:cNvPr id="5" name="Egyenes összekötő nyíllal 4"/>
          <p:cNvCxnSpPr/>
          <p:nvPr/>
        </p:nvCxnSpPr>
        <p:spPr>
          <a:xfrm rot="16200000" flipV="1">
            <a:off x="-865414" y="3837214"/>
            <a:ext cx="3886200" cy="43543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nyíllal 6"/>
          <p:cNvCxnSpPr/>
          <p:nvPr/>
        </p:nvCxnSpPr>
        <p:spPr>
          <a:xfrm flipV="1">
            <a:off x="1099457" y="5791200"/>
            <a:ext cx="6781800" cy="1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zövegdoboz 10"/>
          <p:cNvSpPr txBox="1"/>
          <p:nvPr/>
        </p:nvSpPr>
        <p:spPr>
          <a:xfrm>
            <a:off x="5377543" y="5987143"/>
            <a:ext cx="2471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dirty="0">
                <a:latin typeface="+mj-lt"/>
              </a:rPr>
              <a:t>Idő</a:t>
            </a:r>
          </a:p>
        </p:txBody>
      </p:sp>
      <p:sp>
        <p:nvSpPr>
          <p:cNvPr id="12" name="Szövegdoboz 11"/>
          <p:cNvSpPr txBox="1"/>
          <p:nvPr/>
        </p:nvSpPr>
        <p:spPr>
          <a:xfrm rot="16200000">
            <a:off x="-1110344" y="3635829"/>
            <a:ext cx="3439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latin typeface="+mj-lt"/>
              </a:rPr>
              <a:t>Teljesítmény, produktum</a:t>
            </a:r>
          </a:p>
        </p:txBody>
      </p:sp>
      <p:cxnSp>
        <p:nvCxnSpPr>
          <p:cNvPr id="14" name="Egyenes összekötő 13"/>
          <p:cNvCxnSpPr/>
          <p:nvPr/>
        </p:nvCxnSpPr>
        <p:spPr>
          <a:xfrm flipV="1">
            <a:off x="1110343" y="1981200"/>
            <a:ext cx="3984171" cy="3799114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/>
          <p:cNvCxnSpPr/>
          <p:nvPr/>
        </p:nvCxnSpPr>
        <p:spPr>
          <a:xfrm flipV="1">
            <a:off x="1121229" y="3461657"/>
            <a:ext cx="3973285" cy="2329544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/>
          <p:cNvCxnSpPr/>
          <p:nvPr/>
        </p:nvCxnSpPr>
        <p:spPr>
          <a:xfrm flipV="1">
            <a:off x="1132114" y="4408714"/>
            <a:ext cx="3962400" cy="137160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/>
          <p:cNvCxnSpPr/>
          <p:nvPr/>
        </p:nvCxnSpPr>
        <p:spPr>
          <a:xfrm rot="5400000">
            <a:off x="4506686" y="2743200"/>
            <a:ext cx="1132114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nyíllal 21"/>
          <p:cNvCxnSpPr/>
          <p:nvPr/>
        </p:nvCxnSpPr>
        <p:spPr>
          <a:xfrm rot="5400000">
            <a:off x="4729844" y="3946071"/>
            <a:ext cx="696686" cy="108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24"/>
          <p:cNvCxnSpPr/>
          <p:nvPr/>
        </p:nvCxnSpPr>
        <p:spPr>
          <a:xfrm flipV="1">
            <a:off x="1077686" y="5344886"/>
            <a:ext cx="4125685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nyíllal 32"/>
          <p:cNvCxnSpPr/>
          <p:nvPr/>
        </p:nvCxnSpPr>
        <p:spPr>
          <a:xfrm rot="5400000">
            <a:off x="4719752" y="4882242"/>
            <a:ext cx="728549" cy="7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33"/>
          <p:cNvSpPr txBox="1"/>
          <p:nvPr/>
        </p:nvSpPr>
        <p:spPr>
          <a:xfrm>
            <a:off x="5344886" y="1785257"/>
            <a:ext cx="328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Világszínvonal, elvi maximum</a:t>
            </a:r>
          </a:p>
        </p:txBody>
      </p:sp>
      <p:sp>
        <p:nvSpPr>
          <p:cNvPr id="35" name="Szövegdoboz 34"/>
          <p:cNvSpPr txBox="1"/>
          <p:nvPr/>
        </p:nvSpPr>
        <p:spPr>
          <a:xfrm>
            <a:off x="5431972" y="3222172"/>
            <a:ext cx="328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latin typeface="+mj-lt"/>
              </a:rPr>
              <a:t>Kapacitás</a:t>
            </a:r>
          </a:p>
        </p:txBody>
      </p:sp>
      <p:sp>
        <p:nvSpPr>
          <p:cNvPr id="36" name="Szövegdoboz 35"/>
          <p:cNvSpPr txBox="1"/>
          <p:nvPr/>
        </p:nvSpPr>
        <p:spPr>
          <a:xfrm>
            <a:off x="5464629" y="4223657"/>
            <a:ext cx="328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00B050"/>
                </a:solidFill>
                <a:latin typeface="+mj-lt"/>
              </a:rPr>
              <a:t>Áteresztőképesség</a:t>
            </a:r>
          </a:p>
        </p:txBody>
      </p:sp>
      <p:sp>
        <p:nvSpPr>
          <p:cNvPr id="37" name="Szövegdoboz 36"/>
          <p:cNvSpPr txBox="1"/>
          <p:nvPr/>
        </p:nvSpPr>
        <p:spPr>
          <a:xfrm>
            <a:off x="5431971" y="5214257"/>
            <a:ext cx="328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C00000"/>
                </a:solidFill>
                <a:latin typeface="+mj-lt"/>
              </a:rPr>
              <a:t>Tényleges teljesítés</a:t>
            </a:r>
          </a:p>
        </p:txBody>
      </p:sp>
      <p:sp>
        <p:nvSpPr>
          <p:cNvPr id="38" name="Szövegdoboz 37"/>
          <p:cNvSpPr txBox="1"/>
          <p:nvPr/>
        </p:nvSpPr>
        <p:spPr>
          <a:xfrm>
            <a:off x="5627914" y="2383972"/>
            <a:ext cx="250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Fejlesztési lehetőségek</a:t>
            </a:r>
          </a:p>
        </p:txBody>
      </p:sp>
      <p:sp>
        <p:nvSpPr>
          <p:cNvPr id="39" name="Szövegdoboz 38"/>
          <p:cNvSpPr txBox="1"/>
          <p:nvPr/>
        </p:nvSpPr>
        <p:spPr>
          <a:xfrm>
            <a:off x="5736771" y="3744687"/>
            <a:ext cx="250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Szervezési lehetőségek</a:t>
            </a:r>
          </a:p>
        </p:txBody>
      </p:sp>
      <p:sp>
        <p:nvSpPr>
          <p:cNvPr id="40" name="Szövegdoboz 39"/>
          <p:cNvSpPr txBox="1"/>
          <p:nvPr/>
        </p:nvSpPr>
        <p:spPr>
          <a:xfrm>
            <a:off x="5769429" y="4767944"/>
            <a:ext cx="250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Operatív lehetőségek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Kapacitás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2008682"/>
            <a:ext cx="8229600" cy="4117481"/>
          </a:xfrm>
        </p:spPr>
        <p:txBody>
          <a:bodyPr/>
          <a:lstStyle/>
          <a:p>
            <a:pPr algn="just"/>
            <a:r>
              <a:rPr lang="hu-HU" dirty="0"/>
              <a:t>A teljesítőképesség felső határát az adott időpillanat műszaki-technika, gazdasági, társadalmi feltételek határozzák meg.</a:t>
            </a:r>
          </a:p>
          <a:p>
            <a:pPr algn="just"/>
            <a:endParaRPr lang="hu-HU" dirty="0"/>
          </a:p>
          <a:p>
            <a:pPr algn="just"/>
            <a:r>
              <a:rPr lang="hu-HU" dirty="0"/>
              <a:t>Az a termékmennyiség, amely egy adott berendezésen a legjobb termelési feltételek mellett, adott idő alatt előállítható.</a:t>
            </a:r>
            <a:br>
              <a:rPr lang="hu-HU" dirty="0"/>
            </a:br>
            <a:endParaRPr lang="hu-H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Kapacitás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hu-HU" dirty="0"/>
              <a:t>Egy keresztmetszet (technológiai fázis - homogén keresztmetszet) kapacitása </a:t>
            </a:r>
          </a:p>
          <a:p>
            <a:pPr algn="just"/>
            <a:endParaRPr lang="hu-HU" dirty="0"/>
          </a:p>
          <a:p>
            <a:pPr algn="just"/>
            <a:r>
              <a:rPr lang="hu-HU" dirty="0"/>
              <a:t>adott időintervallumban,</a:t>
            </a:r>
          </a:p>
          <a:p>
            <a:pPr algn="just"/>
            <a:r>
              <a:rPr lang="hu-HU" dirty="0"/>
              <a:t>az adott keresztmetszeten,</a:t>
            </a:r>
          </a:p>
          <a:p>
            <a:pPr algn="just"/>
            <a:r>
              <a:rPr lang="hu-HU" dirty="0"/>
              <a:t>műszaki-technikai színvonalon (adottságok mellett),</a:t>
            </a:r>
          </a:p>
          <a:p>
            <a:pPr algn="just"/>
            <a:r>
              <a:rPr lang="hu-HU" dirty="0"/>
              <a:t>adott feladatból elvégezhető mennyiség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Adott feladatból…</a:t>
            </a:r>
          </a:p>
        </p:txBody>
      </p:sp>
      <p:pic>
        <p:nvPicPr>
          <p:cNvPr id="169986" name="Picture 2" descr="http://profile.ak.fbcdn.net/hprofile-ak-snc4/71178_45930440237_4767010_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0409" y="1678898"/>
            <a:ext cx="1905000" cy="1905000"/>
          </a:xfrm>
          <a:prstGeom prst="rect">
            <a:avLst/>
          </a:prstGeom>
          <a:noFill/>
        </p:spPr>
      </p:pic>
      <p:pic>
        <p:nvPicPr>
          <p:cNvPr id="169988" name="Picture 4" descr="http://t1.gstatic.com/images?q=tbn:ANd9GcS-axWGVqgngiWeRqwXkoYDAJzGhRUfft4RbNrz69xzKO9k_Vb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32747" y="1437613"/>
            <a:ext cx="2405349" cy="2910472"/>
          </a:xfrm>
          <a:prstGeom prst="rect">
            <a:avLst/>
          </a:prstGeom>
          <a:noFill/>
        </p:spPr>
      </p:pic>
      <p:pic>
        <p:nvPicPr>
          <p:cNvPr id="169990" name="Picture 6" descr="http://t2.gstatic.com/images?q=tbn:ANd9GcTp6S6I08l-5L0gsgEFe1CJkNiC5HWc3Yd2uyK6OzYbI-QxP-zJw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31521" y="1278170"/>
            <a:ext cx="2392753" cy="3480368"/>
          </a:xfrm>
          <a:prstGeom prst="rect">
            <a:avLst/>
          </a:prstGeom>
          <a:noFill/>
        </p:spPr>
      </p:pic>
      <p:sp>
        <p:nvSpPr>
          <p:cNvPr id="169992" name="AutoShape 8" descr="data:image/jpg;base64,/9j/4AAQSkZJRgABAQAAAQABAAD/2wCEAAkGBhQSERUUEhQUFBUUFRQVFhQXFRgUFBQUFBQVFBQUFBQXHCYeFxkjGhQUHy8gJCcpLCwsFR4xNTAqNSYrLCkBCQoKDgwOGg8PGiwkHCQsLCkpLCwsKSkqLCwpLCwpLCwsLCwsLSksKSksLCwpLCwsLSkpLCwpLCwsKSksLCwsLP/AABEIALcBEwMBIgACEQEDEQH/xAAbAAABBQEBAAAAAAAAAAAAAAADAAECBAUGB//EAEEQAAIBAgQDBgMECAYABwAAAAECAAMRBBIhMQVBUQYTImFxgTKRoUJSscEHFCNicoLR8BUzU5Ki4SRDc4Oy0vH/xAAaAQACAwEBAAAAAAAAAAAAAAADBAABAgUG/8QAMBEAAgIBAwIEBQMEAwAAAAAAAAECEQMEEiExQRNRYfAicYGRsQUUoTIz0eEjQsH/2gAMAwEAAhEDEQA/AL5MbNEY4EwEGvB1ibaGEMiRLKMqvWY8zAWl/F4e2vKUS0YhVcAJJ2TjKdYwhaaSMsNfYRVmj5tfpAVG1m0YYXNNfs7xF6bEA6Hlf8JjJLGGxGRww1tByjuVMJF0ztK+KxTDwLYdS2sHhsBimNzUC+rE/hGTtIgS7K2a3la8zW7bsLHIAL7H8wN4qoNdg25PubVTE1UbKKpJG9r2v01jHjeIHNW9phJ2g5supN7g8/eWafH6dtQw9r/nLeP0K3rzNVe0r/bp+4J/Ca1KuWQvlNgM1hqSLX0nn3FuPM5Kp4Vv7kes7vsrjl/U1J+JFysDvdRpp6TE4bUmajO+DlOJ8aas2UEheQH4mdL2X4XkXOdzMjgvBGq16lQrYM1wOQBNz9Z2bVKdJfEyqB1IEk5qqREubYS0YpMfEdsKCnQ5vPQD6zKxv6QEt4bL53uYJRZrcdS2HgRhlvqFPkbTzrHfpFpLq9b/AJfkJjVP0pUc1kLfxZT9JvZ6lbj03ifCst2T4dyOnp5TNmRwz9KNEgZ8zDYsFtlFuYvqJQf9JGD1OcjxEZQtyBff0tLU+aZe3i0dMBJhZz1Lt5gTa2IQX5kEAeptYS7g+1WEqi6Yila9vEwQ39GsTNOSJRqRWlJ+0GFXfE4cf+9T/wDtLVHFpUF6bo43ujK4ty1UmS0SiRjxARESyiJMhaEKyJkIMFijgRSEOZjGBbEgc4JuICEpmLLYEcCUf8TEIvEFPOSmS0W2W4sZkYvCFTcbTQGLXrHNYGRNxI1ZmU0tCCFqULG4las1odNPoBaaHarIwWeW+HVEBz1HCBdju1+qqQb2mm6VmatkU5S7T4RUbLbJdjYA1aasLbllLXUcteem8rVeIl3zpa+liVW+nPKPCPrJ4bEeIZiALjQAKPkoAgnN9jaSNZeD00zfrNZ1YHQIM2cW/wDLPOxt0Gh9TlYw0qSk+OobmwFkAH2QzNck9bLbp1m/Xr4QLmL0lNubi59bkkzjuN8Xp1XC0vEb2BAIUedzqflF/Gb7mpJRDtxkEeGgE8+8qN7chaBPaWkqsHpqSQcpV3zKetiSp9xAUez7VqZbvOZGX0035yjX7F1Psk+uhH0m7fmSixR409dm7lUojKb2JqOBaxId/hbnmABB2tJUO3v6jTyUqiDQLlFNXJAuRmO53O85HE8QYK1Gm2VbkOwFmcjQ68h5TIOBB21mHT6hEmlwdTiv0u45rqjhFufhGX3Npj4ntxi3PiqmVaHCbnWW6/D6aAZtfIbyvhRKkym/G8Q+9RoId8/2mPuZp4emv2aZI5k9JqhqQUG+97A3AuPYCTdRNpztPgpO51+c0aXCwup2HM6D5y/4iBkBa/8Ap2t7f1mlheBMwBZcvm3iI+bE39JiWRLqwkMLl0Rl0OKUaakFGe/MAqv+5rCY2KrBn8Kqo5DMKrH1tp7ATuh2Spub1SalhzNgBfkB/ek1MBwnD0ye7p0wSoXbXXe173Pz/qu9TCPTkajo5y68Hn1DgNVwXChRlzeZW5AOUD90+ek3OGdiGF++dtioUWF/e5022tfr16001v102G2+l9rm35QioSAQLnbbpyPyHKLS1U304G46PGuvJncP7N0kIC00vqb5QSSLA6kaes6LgiKtUaG9iOelxf0tp/1pKfcgee2g9DrrNDCqAykXO1vK1rjz5CA8V7k2HliWxpI35G8bNHAncOCQYxpNhAkyEJhYohFIQ80eqesCxhGgmEdFSJaN3piIkDIQn+sHrJDGMOcBGMqi7Lg4m0lWxwZRqQRy6jrKF5HNM1RdlpcYo/zGIHVVzculxM5+KE8r+/KPiNpnhovllJMWyycXSLrcRb7Nl9N5XfEMd2Y+5kA0TGLW31AObfVjCa/BsBm8fQ6echw/gxcBm0E6bhuCAsqjSFjDuw+KDbtmVw7GfEp0sx0mph850UkZtPnM7tBw00KoqD4X0Pryl7hWJG97W1v6Q18DS6nmr4Yo7qb3VmB9jEacvY2r3lWo5HxOx+sAUi+4aUeCuUjLcXtvpby18/71ljJBlJdlUN+vvyY9PiI/Ca/Zyo1SqEe7qAbA+JVPK3QeW2sxmpTe7FFVxBzWOZSACbcwT5bX384PK6g2g2BXkSZ2T0svhHIW6m3Tzkfr+fPaXKmDAOpvqb7jU6nz3v8AOOKajy0uOt/7vOXus7G1IrKjXB21/wCrjppFToAbm/0tbbWWWYb8+vTz95Wd7HXQaeUlmi4hFiOt+fWLMOf09P6waUWOy87XJyj6/lDDA6EsbnUWA87A310PKDdIsdavQXPzl7CMdDyN7f1uOe3zlUpZddCbAj2Audvl5wlNja4sALWzWH8R05W1sekw+Szoqeqg9RJ3lThuIDrob5Tb5i4/OHq1AJ3cUt0Ezz+SO2bQ7yIEGpvJXhQYQCKCDR5CHmhWRKywRI5Y6KlZlg2WWmSDKSEKxEgRLBSQZJCACJAiWCkjllMqyrUXSZj6GbbU5UxGBvAZFuB5I7igrQ2HTM4HUyX+FtyBl/g3CW75LjnF1HkD4TOnwmE+FQOk6/E9mRUoWTwNl1A+177yXBuzJ0ZhadRTwZUS8kvI6MI+Z4VxDC1sMWpOWei5t4rk025amVziwlGormxAIHn0tPYO0+Gw9Smy1Coe2htc3ni3amhlQka/9bSotmHFxl6GKh0jmUqeLhhihM7WN70FvIkyLVRGNQTVFWiRM0uzI/8AFUtSMpZiQbGyozaHkdJkpDYeuyOrKSGU3BH1mJq00bxyqSZ63iLqxB0PMeo2uPMwS4R21C2HVjbz0HP6SeDqipTVlsFZQdbXOhYC/wB65YHlLRxSgfL09/r8pxrfZHctLqwVPhoA1JPXl7AfOHw2HVdQoB6kXY+522MqV+J2uARf1zH2lDEcTY6KD7/0E0scn1Mua7G7WxCjcgabaE6j/uVm4mo2Hz0/CZ1HDNUFwy69bgjXmtrzG47iK2GcfCyNoGAtZujXv+MxF4t/h38QDLqFCLm+n3OgrcQNjYgKL3OiqLX1LHnM5+K0yAM4OvIMbDzYj10HlOeqYlqhzMb/AJeQ6CGoUecPxE4Gb9YlfwL7nf8AA8RRRCFqhi1t9Lb6AH1M1bA6zzcEdIanWqD/AC6lRD5G49wYxj1SiqaFV+oqTvIj0LNGvOHpdpMbTPiRK69R4XA9Oc6/hWO76itTKyXJGVtCLRyGSMujHMeSGRXF2W1EeIRQgQ88aNeGekfxgykeFSNpEpCBZLu5RZVKSLU5ZanIkSFUVGpyGSXSsE1OUZaB0qF5bpYdBuZVIkGEG1ZLo1QU8pocHdRVDWBy3I9eU5ibXZ3QsTysILw+TSkdvheIvu2vltLFXtFUA8IA9bmZK4sjQwNbFCU4phNzA8RxWcktudzOV4rhQ19j5TfxLX2mViKI+0ZpIy2cLjuA63TTyg6fZ5zzA9Z1dYi+gg9+e/LmT0AE1SKVnMvwBxfxhvLaVW4dUB+An0Ga/pbedmwpoR3ptbdL/tCOmUXKn+LKPOEw2Lzlu6UUaNgLaGo1tSXrWzWuDopAtprqStqM8MUbNRlctvc5ClwWodCChW984yAaXGYsRl0HOTwnZ3EVRenTLL98MuT/AHXt9Z33AOBCsO/dAVLEUFZbqFU2asUOhYsCFvcDK2l7GdOuAPmTtc6m3TXlAwyTkrYxujJfCv8AZwvZRqoQ0XVg1N2GU7i9m9LamdDh8A76s1hyBvfTqBtN1eF+UjiCtJGd2VEXVnY5VX1J/Dc8gYJwt2MfuJKKSRmY7hK0qFVx8aUnfMdgVAIsvmbDn8XlLnYXjWHbD1M1OmMQuYh2Uag7WY7W8pyHGe2v6wj0qCkUTYGq2jVQCDZEPwJcA6+I2Hwi4mEuN7oElsoNgdeszL4ZcdTl5tZJ5KtteRvYjHMtQuDzN/P1mnVpriqBX7w0P3WG31nL0nzDQ3HkbibPZzEZamQ7N/8AIbTlazHa8SP9S5L0WqSn4Uv6ZcfU53htwSrbqSCOhBsZrIJX45h+7xr22cK/+4a/UGXadOM798VNd1ZydVDw8jj5MSpeaGEwZJiwWDLGwBM67hXBLWLCAnOhXqB4RwXmRNfE07WA23lxFsNJW4hy94TRyfjIe0TrKisI8gIp3juGZVwKtuJQxHAvumbKpDU1hdzRikzkavC3XlBrTI5GdsaF4DEUkUXIE14pXhnKHCE8pXq4Qib71Mx6RnoAy9zRW2zmWpxss2sRgOkovhrTadg2qKLU4ErL7UoF6UhhoqZJrcFFh6t9AJnMk3+E4Re5GYAlix1voAxXYHW5B35Dzgc+aOGG+QKc1jW6QWvxQHwqC56CUGxYDZXqIrW+AsC5/lGv0mg5ZNUtbYptTdTupA095l8U4ZSxCnugCw3ptpUpn908x5icaX6nTpRpeb5+/l9zOPULLzFX5ro69PMqYntRTQkd3Va3UKg+rE/SYWN7aa6UCR/635CnMzF4FkYhgwI0sSfzgO5jcc7fNg5alqXHT1L57Sux0o01HmajH6OB9JP/ABeqwsCKYOh7sZSR0LXLW8r2lahhCdgZoUsMia1CPJevtuZjJn9foWp5MnThfZD4Dhhc3tZR7X9JtcK4acZVFClcUhrVqDbICLhfK9gOpI5AyhTFTEutKmpAY5VQfE/8R2VbanlYXM9R4VgqHDaAFR1DNZnbm7W2RfiKjUDTqecThjc5bp9vf3D4tvMYdP8AtL/xF6jw1VUKqhVUBVUclAsAPaRxNRKSlmKqo3ZjYfM8/Leczxj9IBNxh0t++419k2H8xPpMPAValSpUqYgVHIUFGcEqBrmCjYHbblDZtTHFFtcjmLIss1jx/fsvftnSL2qpVbiiwcgkEHw7c8nxEfKYHH+DjGWFSo912CkZV/k2E4+sadbEnKi0Qt/hJV2YHry9porQ1vYg9QbN8xrE80c0pKam13qun+TOfWx08tjju83/AKC0+yNddFrUmXlmpkED+UzUq8PpYbDOauV76sWUWJtYAA7ADaV6eOrIBaoT/EA31IvKuOw/fm9Yl7ahSTkHog0i7hmySSySW306/hGcWv0mF+JCD3e/U53s7hSzPVtkRiQijbfp5bTpKQykEbggj21k6dIDQaDoNvaFSnHMk97s4mTNKc3PuC7XJfFUiPtUQf8Ak1vxmpwjgjVLX2k6nBmr4igToq4dPe7P+QE7nB4NaagARKE9uGMV75C66fiZ5Ne+AHDuFrTGgmgIwkgJgTJCVOJbD1/KXBAY6ndPQiM6X+7Eb0n91GYIoUJHnoDvgQskBGDTPx3E7aL84VKzF0WsTxIJoNTMatiyxuY2/OR7uEUUjDbZIVYZKoglw94RcI3QyOilZJ06Su1LrLiUD0hlo35TN0aqzDrUJTdJ09XhbHYTMxfDGXkZpSRiUWYxWb2Brfs6duS5PdTY/Qqf5pkVKFpLCYo0zrqptcc9NmXowufmQeoX1mB58e2PVcoT1GJ5IbV1NKvUJmJj8ODqbgjZgbEehmzowupzDnbcfxLuv4dCZRxSTzqi4OmqZwWpY3zwzm8fWrb589vvgE29d5mnHVPu0/kf6zZxibzNp4RnfKilj0UFj62GsaxxjXRDkNVlfewQrVG3aw/dFvrD4LhxdjlG2rMx0UdXY7D6nYXM0aHCFX/Nbb7FMgt/NU1VfbMfIS5UxS5QoCqo1CrtfqSTdm/eJJhHKv6UalOT/qY+F4ycMpXDgKzCz1yP2jD7qA6Uk8tzuTsACpXZruSSTuzG59yd4wRebS/hqApURXyd47C6KT4UXkbD7RGt/YWgJzcV/CDaXT5dTLbfH4+S92VcNgqneU37t2RSWICkk+HwkDnYyzX7VrSa1alUQdSrA/8AJQD84Xh3aRnGoplr6p4lNvIktf5TYw3EqVX9m4yltAj2IfyQjRj5aHyiGoU07zY7S8n7/B3tLHFD/jhkafqlz/HP3KFGng8aNAlQ22tlqAeWx+V5RxfCcNgVaozVWBFlpNUzLc7WFgT8+Xyx+1fChhKqvS8Ksb2vaxtfQjbnttyluvSXEd3UqFnIUEBjcHMARmFrE7a6XsL3hMen4jKGR+G+3f5G9VqY4XtzxTa6Pt6deffYy+DYNyxq+KmjklaWYkG/Ns2/5+lptBYW95Yw+FubARrJO3bPK5crnJyYBKd50XBezlyHqbcl/NvKXuD8CC2Zhc8vLr+U08cdBTXd9D5IPiP5e8WlNydIwBwCZ3apyNgvkqjKvztf3mjI0qYUADlJAQXHY05W7JCSEQiY2lpNukUk26Q94nbTaRC8zIO86eDDsdvqdPBj8PnuViIpKKP7mO7mcxjuKXuF2lDvIAxZp01FIjdhu8jisYC8e8uii/RxlpsYDjSj4hOXzSQeZcEy1Jo7teJ0GHIGArYikNRacaKsRrmC8EJ4tnX0+LovOGxHF6DrrvOHaoYNnMt4UUsrL3Eqy38MymaTaCIhUqBN2OtQgggkEbEGxHoRJtjz9oI3Ustvmy2PzMq164QXY/1J6AczM6pVZ/i0HJf6nmfpFtRPHFfGkxXPkhFfErLdXiIY+GnSA6lSxPoHZgB7SNfidQjJmIX7qgIh/lUAGVC8YGceTt9KOTKbk/L5cEvWRJt/fM7CTHLqSAB1JsAAOt5aLHCJUrVaZLBwlIE2WxAuykdSdxrZbQU5beFy+y8xjS6WWeVdF3fy5InhVUoWNJyL2yjVzcE3C9OXrD8D7SpRy0MR3lMrZUZqbDMNlVhYkEbXFwfKE4P2nqugdkokXPhXMhUA2F2JbX1HSb1KtQxSFGW9h4qbgBlvoCNwR+8pI/CIamc0nHPD4fOL5X5/wd/Q4tPGdYpvd3T7/Tj+GQxvZyhW1KWb7yHK1x1tpf1lDEcCp0FDV8VU7sMrZandgnKQQA5Gbe205Dj+Cbh2IzUWORyfDfe1iQTvs2h3Gs31OcK+9wGDEXaxFxYnXnCQwZIxjKGVuD6cc/zdfQJrtVHDPblxJtd7+q7WZnGKz8RrggFKC3sxBUvprkB1O1h6k7m01qdPYDS1rDoBoIRad5r8M4QXO3r6RhyUYqC4S6HntTqp6me+QDAcPLHbp6aX2/vlOs4XwcILkayzgOGqg2l0xOUnIWrzGJAHQAXPp1lTBrmJqEfF8I6LyH5+8jjGzsKY20L+m4X339B5y4ol9EQlaSAjAScuEHJ0jcIObpDExCOBIsZ08WFQXqdLFiUF6jO0E7xO0BUeMpB0hZooK8eFo2cQRGvNLiXCil2XVfwmYZ007LaoWaNeMTGLTRRO8WaDvFeQoIGkgYK8mplFkoxjgxEyigZEoY3HBDlHifko5dCx5D6nlGxfEi3hpe9TcD+DqfPb1lOmoTbc6knUk9SeZiebUqPEeorlzqPEeoxQ3zObt8gPJRyEHVrRq9W8BhaHe1VpnY3ZupVfs+9wPS85UpN3KYhGEss0u7LOFoZhndxTpffJAzfwX5eZ9gZWx2DcftcPWFVfub+2Uf8A75y3xzsxXrOCmQquylsoHTS21tJr4Ps+5tnKp5A5z6A2Ain7mEUpua+Xvn6nblpHi/44Y1K11fn77GRweuWqUHqIUCuzNfkQpCG2+W5+k6teK0HORiNdLVFsrejN4T6XvCYbglJfslvNjf6CwjY7stQrKQ1PLf7S3U/Q2M5mo1ODNO3a+VDmi0ufAqTiub7/AJ/0zOx3YSkxzUGbDv1QnL/t/pBcF4TiaNcVMS1Pu6Svaopszl7KEK/JuWoEwcbjMTwuqFWoalE7I/iXTWw1upsRsROz4f2ppuB3o7rMBZic1Jr7eO3h9GA9TDZf3MMXD3wa696/P5QxL9v4yWWKjNO/K/r0d+vJwvGsR/iGLsn+VTvdhtY2uV6/Cqj0J2nSU0+lvYDQD5TM7dUsMKiighGKYgg0jl1J0JA/s+gvOs7J9nappqcSQzbnS3oCRv6848skfAg4ql2T6/P3RxP1iMvGuUk/Ty9qu5Pg3Bi9iRpOuwmDCDSEo0Ao0hCYm5OTOPQpXxeIyKTudgOpOw/vkIcmZ9H9q+f7C6IOvVvf8PWXFeZTC4LDlRdtWY3Y9SZbAkSbQYe/pCwxvIwmPG5ukWFMkTBB4Nqk6ePGoKkdOEFBUgrPBPVgXqwTPDpBCb1pXd47GCZoRI0kSDxQQaNCUaotWmLxXg1rvT91/MTbyxFYVSa6DDVnDPIEzo+LcFD3ano3Mcj/AEM5uoljbbyjUZKQGUaGzRZpAmRzTRgNmj54DNHDyEC1K4UXJsBzMzauIar1Wn0+0/8AF0Hl85qYbH4QHu8bQqLlYgYim5dQb7OgJUHbYHoRpDcU4DcXoVVdGF1vpcHaxFwfpOdqMmR8QXHmBzxyVUTAaqBoNICpWJP9+kJW4dUU+JT6jUfSBCxFKhDbt6odU0ip0yGVlOV11Db77gjmD0k1QnaWKeFbnBy9TFtO11NXC8dP2016q2nybUfMy3U46B8Km/7xA19BMdadpGpTvbUgqwZWG6sNiJz5aPE3dfkdX6lqFxu/hWX6nFajfay+Q0/7k+GrVashplwAwNRjfJkHxK19GJ5Dcb6S1w3tJqFrgKToKoHgY/vD7B+nnylLtB2vYk0MKpepszEWRPUmLVkbeKONL17V59DpYsOObWonnbiufJ/Lr+EYX6QsX39dKNPxNfl5jKv5n0tNjBYOyqg1soX1sLSlwTgGQl2Oeq/xOfPcCd5wPgOzOPQR5yjixxxR6L8nJ/UNX+6y7l07fTgFwLs2t1dkW6iyeEeEeXQeU6padokW0cmJuTlyxIRMiYiZUxmKK2VdXb4R06sfIfUy0rKYPF1M7d2u32z0H3fUjfy9Za0UW6af2JXw9MU1tux+ZPM3klTmd/w9IzjwufyC4sTny+hIAk3O3If1k8wkSYNnnShBRVI6MUkqRNqkEz3kWaDLwyRtImTBs8iWkGaESCJEmeAd4i8ATCJGggaKQDRpqiGqzxrwndR+7tLGQVpm8U4StUXFlcc+vr/WajGQyy06Kas4PE4dlJDCxHKVWnd8Q4atVbNoRs3Mf1HlOQ4hw9qbWYeh5EdRGIz3AJRopXlrhDft6V/9RPxlJhHo1MrKejKfkQZsGdtw7hCUqlakFAp1MtZANApsEqIo5AMFYDYd4RawjYvszTvcLa/+nmpn1YIctvPLNykgzgsCQCfWxuDb5/QSzXoW8wRcHqDFNzQ1tTOBx3ZWoTdarqOjaj/eu3vM5cC9Nv2yGrTvq9MpVsL6m3x+09HaBakvMD5CR1LqjDgmcziuC4fuxUoVRbow0+uoPkZiVaJHQ+YNx9J2eP4LSqjxKL9efznHcS7JVKd2oCo1/slhca/WLy0cJcxYpl0ylylRVjDa3mTfn6ekpjHPTOXEIR5kW/5D85tJwzNS72m6sL2K3GYe3MecSyaecOwjPT5IXXJUppeX8JgyxsBCcN4RUqG2UgdTO04XwVaQ6nrEMk6FNrK3COBKgBI1m3a0UiTFG7L6DmMYxMhUqhQSTYDcyyEcViQi3OvIDmTyAlWjTIOZtajj2A5DyAkAxZs7DW3gU/ZHVvMywmnmTuesdw4L5fQYxYd3xS6CVbanfr/fKMXjM0gWnRjGh1IkWkGeRZoMiFSCJEmaQLxmkbwiQRIRa8gxjmRabSNpAnvIGGYxZJsugIpxQ4EUui9pttTkO7iimA4xpxv1e8UUsgjQlbFcNWopVhcH5jzB5GKKQycRxjg7UWsdQdQeo/IzKYW9ooo1B2rFcipnrNJdL9RCd6ALN8O9/um24HMGwuPfrFFFu4z2IYigVJB5SvaKKWuhBmEg22sUUsoz8bgaNQEVEDX8pk8O7K4Za6h+9Wm7Fcoa4N9h1UekUUuRDtaPDkoqqJmsAbZmLNYHmx33hDFFPNayKWTg5Otilk4GkY8UVoQIEzNaoahB+yNVHX98jr0HKKKNaaClLkPp4KUuQw0kCxiinUSHmLKYxMeKERtEDeQJjxQiQREDI5bxRTaCIYrA4qkGWxFwStxe2YBgxW42uARfziim0aALQYLlAPw2B7xjqERQTqDuKhsCujL903epTYnwrlGZiRn0ylmIRbWCWBA0U/DzHhLxTRZZw9OyjNvrzvz019PX1O8UUUhZ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169994" name="Picture 10" descr="http://index.hu/cikkepek/0611/gazdasag/retrosnack/sportszelet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0252" y="4916774"/>
            <a:ext cx="1239497" cy="826332"/>
          </a:xfrm>
          <a:prstGeom prst="rect">
            <a:avLst/>
          </a:prstGeom>
          <a:noFill/>
        </p:spPr>
      </p:pic>
      <p:pic>
        <p:nvPicPr>
          <p:cNvPr id="169996" name="Picture 12" descr="http://t1.gstatic.com/images?q=tbn:ANd9GcR1jv3C755kUAA8rdtkQOQow9isP18aw1Awiaw0frsWfyS3iJb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83982" y="4367759"/>
            <a:ext cx="2143125" cy="2143125"/>
          </a:xfrm>
          <a:prstGeom prst="rect">
            <a:avLst/>
          </a:prstGeom>
          <a:noFill/>
        </p:spPr>
      </p:pic>
      <p:pic>
        <p:nvPicPr>
          <p:cNvPr id="169998" name="Picture 14" descr="http://hungarofutar.hu/shop_ordered/2094/shop_pic/HF-976244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37241" y="4944880"/>
            <a:ext cx="3362325" cy="1190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Áteresztő képesség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523514" cy="4525963"/>
          </a:xfrm>
        </p:spPr>
        <p:txBody>
          <a:bodyPr/>
          <a:lstStyle/>
          <a:p>
            <a:pPr algn="just"/>
            <a:r>
              <a:rPr lang="hu-HU" dirty="0"/>
              <a:t>Átbocsátó, áteresztő képesség: a termelő-berendezésen a tényleges termelési feltételek mellett, adott idő alatt előállítható feladat.</a:t>
            </a:r>
          </a:p>
          <a:p>
            <a:pPr algn="just">
              <a:buNone/>
            </a:pPr>
            <a:endParaRPr lang="hu-HU" dirty="0"/>
          </a:p>
          <a:p>
            <a:pPr algn="just">
              <a:buNone/>
            </a:pPr>
            <a:r>
              <a:rPr lang="hu-HU" sz="2000" dirty="0"/>
              <a:t>Egy keresztmetszet (technológiai fázis - homogén keresztmetszet) áteresztő képessége </a:t>
            </a:r>
          </a:p>
          <a:p>
            <a:pPr algn="just"/>
            <a:r>
              <a:rPr lang="hu-HU" sz="2000" dirty="0"/>
              <a:t>adott időintervallumban,</a:t>
            </a:r>
          </a:p>
          <a:p>
            <a:pPr algn="just"/>
            <a:r>
              <a:rPr lang="hu-HU" sz="2000" dirty="0"/>
              <a:t>az adott keresztmetszeten,</a:t>
            </a:r>
          </a:p>
          <a:p>
            <a:pPr algn="just"/>
            <a:r>
              <a:rPr lang="hu-HU" sz="2000" dirty="0"/>
              <a:t>műszaki-technikai színvonalon (adottságok mellett),</a:t>
            </a:r>
          </a:p>
          <a:p>
            <a:pPr algn="just"/>
            <a:r>
              <a:rPr lang="hu-HU" sz="2000" b="1" dirty="0"/>
              <a:t>adott szervezettségi szinten</a:t>
            </a:r>
            <a:r>
              <a:rPr lang="hu-HU" sz="2000" dirty="0"/>
              <a:t>, </a:t>
            </a:r>
          </a:p>
          <a:p>
            <a:pPr algn="just"/>
            <a:r>
              <a:rPr lang="hu-HU" sz="2000" dirty="0"/>
              <a:t>adott feladatból elvégezhető mennyiség.</a:t>
            </a:r>
          </a:p>
          <a:p>
            <a:pPr algn="just"/>
            <a:endParaRPr lang="hu-H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46315" y="740228"/>
            <a:ext cx="8229600" cy="1023257"/>
          </a:xfrm>
        </p:spPr>
        <p:txBody>
          <a:bodyPr>
            <a:normAutofit/>
          </a:bodyPr>
          <a:lstStyle/>
          <a:p>
            <a:r>
              <a:rPr lang="hu-HU" dirty="0"/>
              <a:t>Termelésmenedzsment alapkérdések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2547257"/>
            <a:ext cx="8229600" cy="3578906"/>
          </a:xfrm>
        </p:spPr>
        <p:txBody>
          <a:bodyPr/>
          <a:lstStyle/>
          <a:p>
            <a:r>
              <a:rPr lang="hu-HU" dirty="0"/>
              <a:t>Mennyit tudunk gyártani adott idő alatt?</a:t>
            </a:r>
          </a:p>
          <a:p>
            <a:r>
              <a:rPr lang="hu-HU" dirty="0"/>
              <a:t>Mi a szűk keresztmetszet?</a:t>
            </a:r>
          </a:p>
          <a:p>
            <a:r>
              <a:rPr lang="hu-HU" dirty="0"/>
              <a:t>Milyen a kapacitáskihasználás?</a:t>
            </a:r>
          </a:p>
          <a:p>
            <a:r>
              <a:rPr lang="hu-HU" dirty="0"/>
              <a:t>Milyen üzleti mutatókat érhetünk el adott termelési tervvel?</a:t>
            </a:r>
          </a:p>
          <a:p>
            <a:r>
              <a:rPr lang="hu-HU" dirty="0"/>
              <a:t>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Stratégiák</a:t>
            </a: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539750" y="4229100"/>
            <a:ext cx="3616261" cy="0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round/>
            <a:headEnd type="none" w="sm" len="sm"/>
            <a:tailEnd type="triangl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V="1">
            <a:off x="620711" y="2705100"/>
            <a:ext cx="0" cy="1638300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round/>
            <a:headEnd type="none" w="sm" len="sm"/>
            <a:tailEnd type="triangl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634205" y="2971800"/>
            <a:ext cx="2901105" cy="971550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620711" y="3752850"/>
            <a:ext cx="485766" cy="0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19971" y="3609975"/>
            <a:ext cx="485766" cy="0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1619231" y="3429000"/>
            <a:ext cx="485766" cy="0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2104997" y="3257550"/>
            <a:ext cx="485766" cy="0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1113224" y="3619500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1612484" y="3429000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2111744" y="3276600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shade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636454" y="2514600"/>
            <a:ext cx="1247457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hu-HU">
                <a:latin typeface="+mj-lt"/>
              </a:rPr>
              <a:t>Mennyiség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3766948" y="3800475"/>
            <a:ext cx="50366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hu-HU">
                <a:latin typeface="+mj-lt"/>
              </a:rPr>
              <a:t>Idő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5003800" y="1700213"/>
            <a:ext cx="3708400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 algn="ctr"/>
            <a:r>
              <a:rPr lang="hu-HU" sz="2000" b="1" dirty="0">
                <a:latin typeface="+mj-lt"/>
              </a:rPr>
              <a:t>2. Kapacitások teljes </a:t>
            </a:r>
            <a:br>
              <a:rPr lang="hu-HU" sz="2000" b="1" dirty="0">
                <a:latin typeface="+mj-lt"/>
              </a:rPr>
            </a:br>
            <a:r>
              <a:rPr lang="hu-HU" sz="2000" b="1" dirty="0">
                <a:latin typeface="+mj-lt"/>
              </a:rPr>
              <a:t>kihasználása</a:t>
            </a:r>
            <a:endParaRPr lang="hu-HU" sz="2000" dirty="0">
              <a:latin typeface="+mj-lt"/>
            </a:endParaRPr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4932363" y="4229100"/>
            <a:ext cx="3776597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round/>
            <a:headEnd type="none" w="sm" len="sm"/>
            <a:tailEnd type="triangl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 flipV="1">
            <a:off x="5016914" y="2705100"/>
            <a:ext cx="0" cy="163830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round/>
            <a:headEnd type="none" w="sm" len="sm"/>
            <a:tailEnd type="triangl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V="1">
            <a:off x="5016914" y="2762250"/>
            <a:ext cx="3029733" cy="97155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016914" y="3752850"/>
            <a:ext cx="507304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5538310" y="3609975"/>
            <a:ext cx="507304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>
            <a:off x="6059705" y="3429000"/>
            <a:ext cx="507304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>
            <a:off x="6567010" y="3257550"/>
            <a:ext cx="507304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>
            <a:off x="5531264" y="3619500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6052660" y="3429000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>
            <a:off x="6574055" y="3276600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5034528" y="2514600"/>
            <a:ext cx="1247457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hu-HU" dirty="0">
                <a:latin typeface="+mj-lt"/>
              </a:rPr>
              <a:t>Mennyiség</a:t>
            </a:r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8301473" y="3800475"/>
            <a:ext cx="50366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hu-HU">
                <a:latin typeface="+mj-lt"/>
              </a:rPr>
              <a:t>Idő</a:t>
            </a: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7067268" y="3124200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1619250" y="4292600"/>
            <a:ext cx="5903913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 algn="ctr"/>
            <a:r>
              <a:rPr lang="hu-HU" sz="2000" b="1" dirty="0">
                <a:latin typeface="+mj-lt"/>
              </a:rPr>
              <a:t>3. A kapacitások hozzáigazítása a vevői igényekhez</a:t>
            </a:r>
            <a:endParaRPr lang="hu-HU" sz="2000" dirty="0">
              <a:latin typeface="+mj-lt"/>
            </a:endParaRP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>
            <a:off x="1520825" y="6423025"/>
            <a:ext cx="5105400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round/>
            <a:headEnd type="none" w="sm" len="sm"/>
            <a:tailEnd type="triangl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 flipV="1">
            <a:off x="1635125" y="4899025"/>
            <a:ext cx="0" cy="163830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round/>
            <a:headEnd type="none" w="sm" len="sm"/>
            <a:tailEnd type="triangl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36" name="Line 38"/>
          <p:cNvSpPr>
            <a:spLocks noChangeShapeType="1"/>
          </p:cNvSpPr>
          <p:nvPr/>
        </p:nvSpPr>
        <p:spPr bwMode="auto">
          <a:xfrm flipV="1">
            <a:off x="1654175" y="5070475"/>
            <a:ext cx="4095750" cy="97155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37" name="Line 39"/>
          <p:cNvSpPr>
            <a:spLocks noChangeShapeType="1"/>
          </p:cNvSpPr>
          <p:nvPr/>
        </p:nvSpPr>
        <p:spPr bwMode="auto">
          <a:xfrm>
            <a:off x="1635125" y="5946775"/>
            <a:ext cx="685800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38" name="Line 40"/>
          <p:cNvSpPr>
            <a:spLocks noChangeShapeType="1"/>
          </p:cNvSpPr>
          <p:nvPr/>
        </p:nvSpPr>
        <p:spPr bwMode="auto">
          <a:xfrm>
            <a:off x="2339975" y="5803900"/>
            <a:ext cx="685800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>
            <a:off x="3044825" y="5622925"/>
            <a:ext cx="685800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40" name="Line 42"/>
          <p:cNvSpPr>
            <a:spLocks noChangeShapeType="1"/>
          </p:cNvSpPr>
          <p:nvPr/>
        </p:nvSpPr>
        <p:spPr bwMode="auto">
          <a:xfrm>
            <a:off x="3730625" y="5451475"/>
            <a:ext cx="685800" cy="0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41" name="Line 43"/>
          <p:cNvSpPr>
            <a:spLocks noChangeShapeType="1"/>
          </p:cNvSpPr>
          <p:nvPr/>
        </p:nvSpPr>
        <p:spPr bwMode="auto">
          <a:xfrm>
            <a:off x="2330450" y="5813425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42" name="Line 44"/>
          <p:cNvSpPr>
            <a:spLocks noChangeShapeType="1"/>
          </p:cNvSpPr>
          <p:nvPr/>
        </p:nvSpPr>
        <p:spPr bwMode="auto">
          <a:xfrm>
            <a:off x="3035300" y="5622925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43" name="Line 45"/>
          <p:cNvSpPr>
            <a:spLocks noChangeShapeType="1"/>
          </p:cNvSpPr>
          <p:nvPr/>
        </p:nvSpPr>
        <p:spPr bwMode="auto">
          <a:xfrm>
            <a:off x="3740150" y="5470525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44" name="Text Box 46"/>
          <p:cNvSpPr txBox="1">
            <a:spLocks noChangeArrowheads="1"/>
          </p:cNvSpPr>
          <p:nvPr/>
        </p:nvSpPr>
        <p:spPr bwMode="auto">
          <a:xfrm>
            <a:off x="1638300" y="5051425"/>
            <a:ext cx="1247457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hu-HU">
                <a:latin typeface="+mj-lt"/>
              </a:rPr>
              <a:t>Mennyiség</a:t>
            </a:r>
          </a:p>
        </p:txBody>
      </p:sp>
      <p:sp>
        <p:nvSpPr>
          <p:cNvPr id="45" name="Text Box 47"/>
          <p:cNvSpPr txBox="1">
            <a:spLocks noChangeArrowheads="1"/>
          </p:cNvSpPr>
          <p:nvPr/>
        </p:nvSpPr>
        <p:spPr bwMode="auto">
          <a:xfrm>
            <a:off x="6076950" y="5994400"/>
            <a:ext cx="50366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hu-HU">
                <a:latin typeface="+mj-lt"/>
              </a:rPr>
              <a:t>Idő</a:t>
            </a:r>
          </a:p>
        </p:txBody>
      </p:sp>
      <p:sp>
        <p:nvSpPr>
          <p:cNvPr id="46" name="Line 48"/>
          <p:cNvSpPr>
            <a:spLocks noChangeShapeType="1"/>
          </p:cNvSpPr>
          <p:nvPr/>
        </p:nvSpPr>
        <p:spPr bwMode="auto">
          <a:xfrm>
            <a:off x="4406900" y="5318125"/>
            <a:ext cx="0" cy="123825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/>
            <a:endParaRPr lang="hu-HU">
              <a:latin typeface="+mj-lt"/>
            </a:endParaRPr>
          </a:p>
        </p:txBody>
      </p:sp>
      <p:sp>
        <p:nvSpPr>
          <p:cNvPr id="47" name="Text Box 49"/>
          <p:cNvSpPr txBox="1">
            <a:spLocks noChangeArrowheads="1"/>
          </p:cNvSpPr>
          <p:nvPr/>
        </p:nvSpPr>
        <p:spPr bwMode="auto">
          <a:xfrm>
            <a:off x="395288" y="1700213"/>
            <a:ext cx="417671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ctr">
              <a:buFontTx/>
              <a:buAutoNum type="arabicPeriod"/>
            </a:pPr>
            <a:r>
              <a:rPr lang="hu-HU" sz="2000" b="1" dirty="0">
                <a:latin typeface="+mj-lt"/>
              </a:rPr>
              <a:t>Vevői igény teljes </a:t>
            </a:r>
            <a:br>
              <a:rPr lang="hu-HU" sz="2000" b="1" dirty="0">
                <a:latin typeface="+mj-lt"/>
              </a:rPr>
            </a:br>
            <a:r>
              <a:rPr lang="hu-HU" sz="2000" b="1" dirty="0">
                <a:latin typeface="+mj-lt"/>
              </a:rPr>
              <a:t>kielégítése</a:t>
            </a:r>
            <a:endParaRPr lang="hu-HU" sz="2000" dirty="0">
              <a:latin typeface="+mj-lt"/>
            </a:endParaRPr>
          </a:p>
        </p:txBody>
      </p:sp>
      <p:sp>
        <p:nvSpPr>
          <p:cNvPr id="48" name="Szövegdoboz 47"/>
          <p:cNvSpPr txBox="1"/>
          <p:nvPr/>
        </p:nvSpPr>
        <p:spPr>
          <a:xfrm>
            <a:off x="3777521" y="2548328"/>
            <a:ext cx="77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latin typeface="+mj-lt"/>
              </a:rPr>
              <a:t>igény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3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Termelési időalap szétosztása</a:t>
            </a:r>
          </a:p>
        </p:txBody>
      </p:sp>
      <p:graphicFrame>
        <p:nvGraphicFramePr>
          <p:cNvPr id="4" name="Group 146"/>
          <p:cNvGraphicFramePr>
            <a:graphicFrameLocks noGrp="1"/>
          </p:cNvGraphicFramePr>
          <p:nvPr>
            <p:ph sz="half" idx="1"/>
          </p:nvPr>
        </p:nvGraphicFramePr>
        <p:xfrm>
          <a:off x="598715" y="1878466"/>
          <a:ext cx="7931150" cy="442550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9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1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Termék/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Keresztmetszet</a:t>
                      </a:r>
                      <a:endParaRPr kumimoji="0" lang="hu-HU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800" b="1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Egy</a:t>
                      </a:r>
                      <a:endParaRPr kumimoji="0" lang="hu-HU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j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800" b="1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Több</a:t>
                      </a:r>
                      <a:endParaRPr kumimoji="0" lang="hu-HU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j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6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800" b="1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Egy</a:t>
                      </a:r>
                      <a:endParaRPr kumimoji="0" lang="hu-HU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j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j-lt"/>
                      </a:endParaRPr>
                    </a:p>
                  </a:txBody>
                  <a:tcPr horzOverflow="overflow">
                    <a:solidFill>
                      <a:schemeClr val="accent5">
                        <a:lumMod val="40000"/>
                        <a:lumOff val="60000"/>
                        <a:alpha val="2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36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sym typeface="Symbol" pitchFamily="18" charset="2"/>
                        </a:rPr>
                        <a:t>(</a:t>
                      </a:r>
                      <a:r>
                        <a:rPr kumimoji="0" lang="hu-HU" sz="3200" u="none" strike="noStrike" cap="none" normalizeH="0" baseline="0" dirty="0" err="1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q</a:t>
                      </a:r>
                      <a:r>
                        <a:rPr kumimoji="0" lang="hu-HU" sz="3600" u="none" strike="noStrike" cap="none" normalizeH="0" baseline="-25000" dirty="0" err="1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j</a:t>
                      </a:r>
                      <a:r>
                        <a:rPr kumimoji="0" lang="hu-HU" sz="2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* </a:t>
                      </a:r>
                      <a:r>
                        <a:rPr kumimoji="0" lang="hu-HU" sz="2800" u="none" strike="noStrike" cap="none" normalizeH="0" baseline="0" dirty="0" err="1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Nc</a:t>
                      </a:r>
                      <a:r>
                        <a:rPr kumimoji="0" lang="hu-HU" sz="2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 </a:t>
                      </a:r>
                      <a:r>
                        <a:rPr kumimoji="0" lang="hu-HU" sz="2800" u="none" strike="noStrike" cap="none" normalizeH="0" baseline="-2500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j</a:t>
                      </a:r>
                      <a:r>
                        <a:rPr kumimoji="0" lang="hu-HU" sz="2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)</a:t>
                      </a:r>
                      <a:r>
                        <a:rPr kumimoji="0" lang="hu-HU" sz="2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sym typeface="Symbol" pitchFamily="18" charset="2"/>
                        </a:rPr>
                        <a:t></a:t>
                      </a:r>
                      <a:r>
                        <a:rPr kumimoji="0" lang="hu-HU" sz="2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 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4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+ </a:t>
                      </a: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gazdasági kritérium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0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Vezértípusos megoldás</a:t>
                      </a:r>
                      <a:r>
                        <a:rPr kumimoji="0" lang="hu-HU" sz="2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 </a:t>
                      </a:r>
                      <a:endParaRPr kumimoji="0" lang="hu-HU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j-lt"/>
                      </a:endParaRPr>
                    </a:p>
                  </a:txBody>
                  <a:tcPr horzOverflow="overflow">
                    <a:solidFill>
                      <a:schemeClr val="accent5">
                        <a:lumMod val="40000"/>
                        <a:lumOff val="60000"/>
                        <a:alpha val="2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800" b="1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Több</a:t>
                      </a:r>
                      <a:endParaRPr kumimoji="0" lang="hu-HU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j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2800" u="none" strike="noStrike" cap="none" normalizeH="0" baseline="0" dirty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2800" u="none" strike="noStrike" cap="none" normalizeH="0" baseline="0" dirty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hányados minimuma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Szűkkeresztmetszeti probléma</a:t>
                      </a:r>
                      <a:r>
                        <a:rPr kumimoji="0" lang="hu-HU" sz="28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 </a:t>
                      </a:r>
                      <a:endParaRPr kumimoji="0" lang="hu-HU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j-lt"/>
                      </a:endParaRPr>
                    </a:p>
                  </a:txBody>
                  <a:tcPr horzOverflow="overflow">
                    <a:solidFill>
                      <a:schemeClr val="accent5">
                        <a:lumMod val="40000"/>
                        <a:lumOff val="60000"/>
                        <a:alpha val="2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2400" u="none" strike="noStrike" cap="none" normalizeH="0" baseline="0" dirty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sz="2400" u="none" strike="noStrike" cap="none" normalizeH="0" baseline="0" dirty="0">
                        <a:ln>
                          <a:noFill/>
                        </a:ln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4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+ gazdasági kritérium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2400" u="none" strike="noStrike" cap="none" normalizeH="0" baseline="0" dirty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</a:rPr>
                        <a:t>Szimplex módszer</a:t>
                      </a:r>
                      <a:endParaRPr kumimoji="0" lang="hu-H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+mj-lt"/>
                      </a:endParaRPr>
                    </a:p>
                  </a:txBody>
                  <a:tcPr horzOverflow="overflow">
                    <a:solidFill>
                      <a:schemeClr val="accent5">
                        <a:lumMod val="40000"/>
                        <a:lumOff val="60000"/>
                        <a:alpha val="2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1314" name="Object 2"/>
          <p:cNvGraphicFramePr>
            <a:graphicFrameLocks noChangeAspect="1"/>
          </p:cNvGraphicFramePr>
          <p:nvPr/>
        </p:nvGraphicFramePr>
        <p:xfrm>
          <a:off x="2853329" y="2937536"/>
          <a:ext cx="122396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gyenlet" r:id="rId2" imgW="647419" imgH="482391" progId="Equation.3">
                  <p:embed/>
                </p:oleObj>
              </mc:Choice>
              <mc:Fallback>
                <p:oleObj name="Egyenlet" r:id="rId2" imgW="647419" imgH="482391" progId="Equation.3">
                  <p:embed/>
                  <p:pic>
                    <p:nvPicPr>
                      <p:cNvPr id="141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3329" y="2937536"/>
                        <a:ext cx="1223963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5" name="Object 3"/>
          <p:cNvGraphicFramePr>
            <a:graphicFrameLocks noChangeAspect="1"/>
          </p:cNvGraphicFramePr>
          <p:nvPr/>
        </p:nvGraphicFramePr>
        <p:xfrm>
          <a:off x="3057753" y="4326391"/>
          <a:ext cx="93662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gyenlet" r:id="rId4" imgW="685800" imgH="558800" progId="Equation.3">
                  <p:embed/>
                </p:oleObj>
              </mc:Choice>
              <mc:Fallback>
                <p:oleObj name="Egyenlet" r:id="rId4" imgW="685800" imgH="558800" progId="Equation.3">
                  <p:embed/>
                  <p:pic>
                    <p:nvPicPr>
                      <p:cNvPr id="141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753" y="4326391"/>
                        <a:ext cx="936625" cy="766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6" name="Object 4"/>
          <p:cNvGraphicFramePr>
            <a:graphicFrameLocks noChangeAspect="1"/>
          </p:cNvGraphicFramePr>
          <p:nvPr/>
        </p:nvGraphicFramePr>
        <p:xfrm>
          <a:off x="6008915" y="4397828"/>
          <a:ext cx="13684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gyenlet" r:id="rId6" imgW="685800" imgH="279400" progId="Equation.3">
                  <p:embed/>
                </p:oleObj>
              </mc:Choice>
              <mc:Fallback>
                <p:oleObj name="Egyenlet" r:id="rId6" imgW="685800" imgH="279400" progId="Equation.3">
                  <p:embed/>
                  <p:pic>
                    <p:nvPicPr>
                      <p:cNvPr id="141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915" y="4397828"/>
                        <a:ext cx="1368425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46314" y="576943"/>
            <a:ext cx="8229600" cy="1143000"/>
          </a:xfrm>
        </p:spPr>
        <p:txBody>
          <a:bodyPr>
            <a:normAutofit/>
          </a:bodyPr>
          <a:lstStyle/>
          <a:p>
            <a:r>
              <a:rPr lang="hu-HU" dirty="0"/>
              <a:t>Teljesítőképesség számítás képlete</a:t>
            </a:r>
          </a:p>
        </p:txBody>
      </p:sp>
      <p:graphicFrame>
        <p:nvGraphicFramePr>
          <p:cNvPr id="161794" name="Object 2"/>
          <p:cNvGraphicFramePr>
            <a:graphicFrameLocks noChangeAspect="1"/>
          </p:cNvGraphicFramePr>
          <p:nvPr/>
        </p:nvGraphicFramePr>
        <p:xfrm>
          <a:off x="427718" y="2141310"/>
          <a:ext cx="3576638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495000" progId="Equation.3">
                  <p:embed/>
                </p:oleObj>
              </mc:Choice>
              <mc:Fallback>
                <p:oleObj name="Equation" r:id="rId2" imgW="1562040" imgH="495000" progId="Equation.3">
                  <p:embed/>
                  <p:pic>
                    <p:nvPicPr>
                      <p:cNvPr id="161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18" y="2141310"/>
                        <a:ext cx="3576638" cy="1138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5" name="Object 3"/>
          <p:cNvGraphicFramePr>
            <a:graphicFrameLocks noChangeAspect="1"/>
          </p:cNvGraphicFramePr>
          <p:nvPr/>
        </p:nvGraphicFramePr>
        <p:xfrm>
          <a:off x="2339975" y="3868738"/>
          <a:ext cx="5759450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7960" imgH="1079280" progId="Equation.3">
                  <p:embed/>
                </p:oleObj>
              </mc:Choice>
              <mc:Fallback>
                <p:oleObj name="Equation" r:id="rId4" imgW="2577960" imgH="1079280" progId="Equation.3">
                  <p:embed/>
                  <p:pic>
                    <p:nvPicPr>
                      <p:cNvPr id="161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868738"/>
                        <a:ext cx="5759450" cy="240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02772" y="169817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Időalap</a:t>
            </a:r>
            <a:br>
              <a:rPr lang="hu-HU" dirty="0"/>
            </a:br>
            <a:r>
              <a:rPr lang="hu-HU" dirty="0"/>
              <a:t>és norma</a:t>
            </a:r>
            <a:br>
              <a:rPr lang="hu-HU" dirty="0"/>
            </a:br>
            <a:r>
              <a:rPr lang="hu-HU" dirty="0"/>
              <a:t>számítása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3004457" y="783773"/>
          <a:ext cx="5987143" cy="556982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87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2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26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hu-HU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200" b="0" dirty="0"/>
                        <a:t>Név</a:t>
                      </a:r>
                      <a:endParaRPr lang="hu-HU" sz="1200" b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hu-HU" sz="1200" b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200" b="0" dirty="0"/>
                        <a:t>Kapacitás</a:t>
                      </a:r>
                      <a:endParaRPr lang="hu-HU" sz="1200" b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200" b="0" dirty="0"/>
                        <a:t>Átbocsátó-képesség</a:t>
                      </a:r>
                      <a:endParaRPr lang="hu-HU" sz="1200" b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6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 err="1"/>
                        <a:t>g</a:t>
                      </a:r>
                      <a:r>
                        <a:rPr lang="hu-HU" sz="1600" b="1" baseline="-25000" dirty="0" err="1"/>
                        <a:t>n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Gépek száma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[db]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Leltárban levő összes gép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2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 err="1"/>
                        <a:t>I</a:t>
                      </a:r>
                      <a:r>
                        <a:rPr lang="hu-HU" sz="1600" b="1" baseline="30000" dirty="0" err="1"/>
                        <a:t>h</a:t>
                      </a:r>
                      <a:r>
                        <a:rPr lang="hu-HU" sz="1600" b="1" baseline="-25000" dirty="0" err="1"/>
                        <a:t>m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1 műszak hasznos ideje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[óra]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8, (6),(12)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8*α, (α- műszak-kihasználási tényező)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3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/>
                        <a:t>m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 dirty="0"/>
                        <a:t>Műszakszám</a:t>
                      </a:r>
                      <a:endParaRPr lang="hu-HU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[db]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3, (4),(2)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9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 err="1"/>
                        <a:t>n</a:t>
                      </a:r>
                      <a:r>
                        <a:rPr lang="hu-HU" sz="1600" b="1" baseline="-25000" dirty="0" err="1"/>
                        <a:t>n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Vizsgált időszak naptári napjai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[nap]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 dirty="0"/>
                        <a:t>1 év=365 nap</a:t>
                      </a:r>
                      <a:endParaRPr lang="hu-HU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 dirty="0"/>
                        <a:t>Naptári napok, ünnepek, szünnap, kieső napok,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 dirty="0"/>
                        <a:t>1 év kb. 250 nap</a:t>
                      </a:r>
                      <a:endParaRPr lang="hu-HU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62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 err="1"/>
                        <a:t>p</a:t>
                      </a:r>
                      <a:r>
                        <a:rPr lang="hu-HU" sz="1600" b="1" baseline="-25000" dirty="0" err="1"/>
                        <a:t>%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Dolgozói teljesítmény %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[%]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maximális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Átlagos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6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/>
                        <a:t>s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Sorozatmennyiség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[db]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Optimális/gazdaságos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68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 err="1"/>
                        <a:t>t</a:t>
                      </a:r>
                      <a:r>
                        <a:rPr lang="hu-HU" sz="1600" b="1" baseline="-25000" dirty="0" err="1"/>
                        <a:t>db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Darabidő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[nó]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68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 err="1"/>
                        <a:t>t</a:t>
                      </a:r>
                      <a:r>
                        <a:rPr lang="hu-HU" sz="1600" b="1" baseline="-25000" dirty="0" err="1"/>
                        <a:t>eb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1 sorozat befejezési ideje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[óra]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68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 err="1"/>
                        <a:t>t</a:t>
                      </a:r>
                      <a:r>
                        <a:rPr lang="hu-HU" sz="1600" b="1" baseline="-25000" dirty="0" err="1"/>
                        <a:t>ev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1 sorozat előkészítési ideje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[óra]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Tényleges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68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600" b="1" dirty="0" err="1"/>
                        <a:t>t</a:t>
                      </a:r>
                      <a:r>
                        <a:rPr lang="hu-HU" sz="1600" b="1" baseline="-25000" dirty="0" err="1"/>
                        <a:t>δ%</a:t>
                      </a:r>
                      <a:endParaRPr lang="hu-HU" sz="12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Az összes kieső idő az időalap százalékában kifejezve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[óra]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/>
                        <a:t>t</a:t>
                      </a:r>
                      <a:r>
                        <a:rPr lang="hu-HU" sz="1200" baseline="-25000"/>
                        <a:t>δ,k</a:t>
                      </a:r>
                      <a:r>
                        <a:rPr lang="hu-HU" sz="1200"/>
                        <a:t> –karbantartási idő</a:t>
                      </a:r>
                      <a:endParaRPr lang="hu-HU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1200" dirty="0" err="1"/>
                        <a:t>t</a:t>
                      </a:r>
                      <a:r>
                        <a:rPr lang="hu-HU" sz="1200" baseline="-25000" dirty="0" err="1"/>
                        <a:t>δ,k</a:t>
                      </a:r>
                      <a:r>
                        <a:rPr lang="hu-HU" sz="1200" dirty="0"/>
                        <a:t>+ </a:t>
                      </a:r>
                      <a:r>
                        <a:rPr lang="hu-HU" sz="1200" dirty="0" err="1"/>
                        <a:t>t</a:t>
                      </a:r>
                      <a:r>
                        <a:rPr lang="hu-HU" sz="1200" baseline="-25000" dirty="0" err="1"/>
                        <a:t>δ,i</a:t>
                      </a:r>
                      <a:r>
                        <a:rPr lang="hu-HU" sz="1200" dirty="0"/>
                        <a:t> + </a:t>
                      </a:r>
                      <a:r>
                        <a:rPr lang="hu-HU" sz="1200" dirty="0" err="1"/>
                        <a:t>t</a:t>
                      </a:r>
                      <a:r>
                        <a:rPr lang="hu-HU" sz="1200" baseline="-25000" dirty="0" err="1"/>
                        <a:t>δ,v</a:t>
                      </a:r>
                      <a:endParaRPr lang="hu-HU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0602" marR="30602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Kapacitás kihasználása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Kapacitás-kihasználás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Hatékonyság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Zárt ciklus kapacitáskihasználása</a:t>
            </a:r>
          </a:p>
        </p:txBody>
      </p:sp>
      <p:graphicFrame>
        <p:nvGraphicFramePr>
          <p:cNvPr id="167939" name="Object 3"/>
          <p:cNvGraphicFramePr>
            <a:graphicFrameLocks noChangeAspect="1"/>
          </p:cNvGraphicFramePr>
          <p:nvPr/>
        </p:nvGraphicFramePr>
        <p:xfrm>
          <a:off x="4192588" y="1851025"/>
          <a:ext cx="441483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482400" progId="Equation.3">
                  <p:embed/>
                </p:oleObj>
              </mc:Choice>
              <mc:Fallback>
                <p:oleObj name="Equation" r:id="rId2" imgW="2336760" imgH="482400" progId="Equation.3">
                  <p:embed/>
                  <p:pic>
                    <p:nvPicPr>
                      <p:cNvPr id="167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1851025"/>
                        <a:ext cx="4414837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0" name="Object 4"/>
          <p:cNvGraphicFramePr>
            <a:graphicFrameLocks noChangeAspect="1"/>
          </p:cNvGraphicFramePr>
          <p:nvPr/>
        </p:nvGraphicFramePr>
        <p:xfrm>
          <a:off x="4073525" y="3508375"/>
          <a:ext cx="44164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36760" imgH="482400" progId="Equation.3">
                  <p:embed/>
                </p:oleObj>
              </mc:Choice>
              <mc:Fallback>
                <p:oleObj name="Equation" r:id="rId4" imgW="2336760" imgH="482400" progId="Equation.3">
                  <p:embed/>
                  <p:pic>
                    <p:nvPicPr>
                      <p:cNvPr id="167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3525" y="3508375"/>
                        <a:ext cx="4416425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2" name="Object 6"/>
          <p:cNvGraphicFramePr>
            <a:graphicFrameLocks noChangeAspect="1"/>
          </p:cNvGraphicFramePr>
          <p:nvPr/>
        </p:nvGraphicFramePr>
        <p:xfrm>
          <a:off x="4308475" y="5470525"/>
          <a:ext cx="38385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840" imgH="457200" progId="Equation.3">
                  <p:embed/>
                </p:oleObj>
              </mc:Choice>
              <mc:Fallback>
                <p:oleObj name="Equation" r:id="rId6" imgW="2031840" imgH="457200" progId="Equation.3">
                  <p:embed/>
                  <p:pic>
                    <p:nvPicPr>
                      <p:cNvPr id="1679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475" y="5470525"/>
                        <a:ext cx="38385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Szűk keresztmetszet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 termék – több keresztmetszet eset</a:t>
            </a:r>
          </a:p>
          <a:p>
            <a:endParaRPr lang="hu-HU" dirty="0"/>
          </a:p>
          <a:p>
            <a:r>
              <a:rPr lang="hu-HU" b="1" dirty="0"/>
              <a:t>Szűk keresztmetszet</a:t>
            </a:r>
            <a:r>
              <a:rPr lang="hu-HU" dirty="0"/>
              <a:t>:  olyan erőforrás, amelynek kapacitása egyenlő az iránta megnyilvánuló igénnyel vagy kisebb annál.</a:t>
            </a:r>
          </a:p>
          <a:p>
            <a:endParaRPr lang="hu-HU" dirty="0"/>
          </a:p>
          <a:p>
            <a:r>
              <a:rPr lang="hu-HU" b="1" dirty="0"/>
              <a:t>Alapvető keresztmetszet</a:t>
            </a:r>
            <a:r>
              <a:rPr lang="hu-HU" dirty="0"/>
              <a:t>: adott időszakban gazdaságosan fel nem oldható legszűkebb keresztmetszet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Operatív kérdések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hu-HU" dirty="0"/>
              <a:t>Kapacitás befolyásolásának lehetőségei:</a:t>
            </a:r>
            <a:br>
              <a:rPr lang="hu-HU" dirty="0"/>
            </a:br>
            <a:endParaRPr lang="hu-HU" dirty="0"/>
          </a:p>
          <a:p>
            <a:r>
              <a:rPr lang="hu-HU" dirty="0"/>
              <a:t> munkaóra, műszakszám változtatása,</a:t>
            </a:r>
          </a:p>
          <a:p>
            <a:r>
              <a:rPr lang="hu-HU" dirty="0"/>
              <a:t> gyártósor ütemidejének változtatása,</a:t>
            </a:r>
          </a:p>
          <a:p>
            <a:r>
              <a:rPr lang="hu-HU" dirty="0"/>
              <a:t> karbantartás átütemezése,</a:t>
            </a:r>
          </a:p>
          <a:p>
            <a:r>
              <a:rPr lang="hu-HU" dirty="0"/>
              <a:t> alvállalkozók bevonása,</a:t>
            </a:r>
          </a:p>
          <a:p>
            <a:r>
              <a:rPr lang="hu-HU" dirty="0"/>
              <a:t> berendezések bérlése, bérbeadása,</a:t>
            </a:r>
          </a:p>
          <a:p>
            <a:r>
              <a:rPr lang="hu-HU" dirty="0"/>
              <a:t> részmunkaidős munkaerő alkalmazása.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Példák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 többi tudnivaló mintafeladatokon keresztül!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656</TotalTime>
  <Words>528</Words>
  <Application>Microsoft Office PowerPoint</Application>
  <PresentationFormat>Diavetítés a képernyőre (4:3 oldalarány)</PresentationFormat>
  <Paragraphs>160</Paragraphs>
  <Slides>16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2</vt:i4>
      </vt:variant>
      <vt:variant>
        <vt:lpstr>Diacímek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Office-téma</vt:lpstr>
      <vt:lpstr>Egyenlet</vt:lpstr>
      <vt:lpstr>Equation</vt:lpstr>
      <vt:lpstr>PowerPoint-bemutató</vt:lpstr>
      <vt:lpstr>Teljesítőképesség</vt:lpstr>
      <vt:lpstr>Teljesítőképesség fokozatai</vt:lpstr>
      <vt:lpstr>Kapacitás</vt:lpstr>
      <vt:lpstr>Kapacitás</vt:lpstr>
      <vt:lpstr>Adott feladatból…</vt:lpstr>
      <vt:lpstr>Áteresztő képesség</vt:lpstr>
      <vt:lpstr>Termelésmenedzsment alapkérdések</vt:lpstr>
      <vt:lpstr>Stratégiák</vt:lpstr>
      <vt:lpstr>Termelési időalap szétosztása</vt:lpstr>
      <vt:lpstr>Teljesítőképesség számítás képlete</vt:lpstr>
      <vt:lpstr>Időalap és norma számítása</vt:lpstr>
      <vt:lpstr>Kapacitás kihasználása</vt:lpstr>
      <vt:lpstr>Szűk keresztmetszet</vt:lpstr>
      <vt:lpstr>Operatív kérdések</vt:lpstr>
      <vt:lpstr>Példák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79</cp:revision>
  <dcterms:created xsi:type="dcterms:W3CDTF">2015-07-30T19:30:28Z</dcterms:created>
  <dcterms:modified xsi:type="dcterms:W3CDTF">2021-04-25T19:25:18Z</dcterms:modified>
</cp:coreProperties>
</file>