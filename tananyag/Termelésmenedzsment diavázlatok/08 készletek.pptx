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9" r:id="rId2"/>
    <p:sldId id="275" r:id="rId3"/>
    <p:sldId id="276" r:id="rId4"/>
    <p:sldId id="266" r:id="rId5"/>
    <p:sldId id="279" r:id="rId6"/>
    <p:sldId id="273" r:id="rId7"/>
    <p:sldId id="260" r:id="rId8"/>
    <p:sldId id="274" r:id="rId9"/>
    <p:sldId id="263" r:id="rId10"/>
    <p:sldId id="267" r:id="rId11"/>
    <p:sldId id="268" r:id="rId12"/>
    <p:sldId id="269" r:id="rId13"/>
    <p:sldId id="264" r:id="rId14"/>
    <p:sldId id="265" r:id="rId15"/>
    <p:sldId id="270" r:id="rId16"/>
    <p:sldId id="271" r:id="rId17"/>
    <p:sldId id="272" r:id="rId18"/>
    <p:sldId id="278" r:id="rId19"/>
    <p:sldId id="280" r:id="rId20"/>
    <p:sldId id="281" r:id="rId21"/>
    <p:sldId id="282" r:id="rId22"/>
    <p:sldId id="283" r:id="rId23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16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Készletek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Logisztika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46315" y="1502228"/>
            <a:ext cx="82296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hu-HU" dirty="0"/>
              <a:t>Anyagi áramlásokkal, készletekkel, a hozzájuk kapcsolódó információkkal és irányítási megoldásokkal foglalkozó tudomány és gyakorlat.</a:t>
            </a:r>
          </a:p>
          <a:p>
            <a:pPr algn="just"/>
            <a:endParaRPr lang="hu-HU" sz="1500" dirty="0"/>
          </a:p>
          <a:p>
            <a:pPr algn="just"/>
            <a:r>
              <a:rPr lang="hu-HU" dirty="0"/>
              <a:t>7M = megfelelő</a:t>
            </a:r>
          </a:p>
          <a:p>
            <a:pPr lvl="1" algn="just"/>
            <a:r>
              <a:rPr lang="hu-HU" dirty="0"/>
              <a:t>Termék</a:t>
            </a:r>
          </a:p>
          <a:p>
            <a:pPr lvl="1" algn="just"/>
            <a:r>
              <a:rPr lang="hu-HU" dirty="0"/>
              <a:t>Minőségben</a:t>
            </a:r>
          </a:p>
          <a:p>
            <a:pPr lvl="1" algn="just"/>
            <a:r>
              <a:rPr lang="hu-HU" dirty="0"/>
              <a:t>Állapotban</a:t>
            </a:r>
          </a:p>
          <a:p>
            <a:pPr lvl="1" algn="just"/>
            <a:r>
              <a:rPr lang="hu-HU" dirty="0"/>
              <a:t>Helyen</a:t>
            </a:r>
          </a:p>
          <a:p>
            <a:pPr lvl="1" algn="just"/>
            <a:r>
              <a:rPr lang="hu-HU" dirty="0"/>
              <a:t>Időben</a:t>
            </a:r>
          </a:p>
          <a:p>
            <a:pPr lvl="1" algn="just"/>
            <a:r>
              <a:rPr lang="hu-HU" dirty="0"/>
              <a:t>Felhasználónak</a:t>
            </a:r>
          </a:p>
          <a:p>
            <a:pPr lvl="1" algn="just"/>
            <a:r>
              <a:rPr lang="hu-HU" dirty="0"/>
              <a:t>Költségen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Logisztika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598714" y="2213429"/>
          <a:ext cx="8131628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Beszerzési logisztika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Termelési logisztika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Értékesítési</a:t>
                      </a:r>
                      <a:r>
                        <a:rPr lang="hu-HU" baseline="0" dirty="0"/>
                        <a:t> logisztika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Készletek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Anyagok,</a:t>
                      </a:r>
                      <a:r>
                        <a:rPr lang="hu-HU" baseline="0" dirty="0"/>
                        <a:t> alkatrészek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Befejezetlen</a:t>
                      </a:r>
                      <a:r>
                        <a:rPr lang="hu-HU" baseline="0" dirty="0"/>
                        <a:t> termelés, félkész termék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Késztermék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Anyagi folyamatok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Beszállítás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Belső anyagmozgatás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Kiszerelés, kiszállítás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Információ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Beszerzési információs folyamatok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Értékesítési információs folyamatok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Irányítás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u-HU" dirty="0"/>
                        <a:t>Átfogó,</a:t>
                      </a:r>
                      <a:r>
                        <a:rPr lang="hu-HU" baseline="0" dirty="0"/>
                        <a:t> összehangolt irányítás</a:t>
                      </a:r>
                      <a:endParaRPr lang="hu-H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Készletgazdálkodás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hu-HU" dirty="0"/>
              <a:t>Feladata ellátni:</a:t>
            </a:r>
          </a:p>
          <a:p>
            <a:r>
              <a:rPr lang="hu-HU" dirty="0"/>
              <a:t>	</a:t>
            </a:r>
            <a:r>
              <a:rPr lang="hu-HU" sz="2000" dirty="0"/>
              <a:t>az anyagszükséglet tervezéséhez,</a:t>
            </a:r>
          </a:p>
          <a:p>
            <a:r>
              <a:rPr lang="hu-HU" sz="2000" dirty="0"/>
              <a:t>	anyagbeszerzéshez, </a:t>
            </a:r>
          </a:p>
          <a:p>
            <a:r>
              <a:rPr lang="hu-HU" sz="2000" dirty="0"/>
              <a:t>	készletvezetéshez, </a:t>
            </a:r>
          </a:p>
          <a:p>
            <a:r>
              <a:rPr lang="hu-HU" sz="2000" dirty="0"/>
              <a:t>	számlaellenőrzéshez</a:t>
            </a:r>
          </a:p>
          <a:p>
            <a:r>
              <a:rPr lang="hu-HU" sz="2000" dirty="0"/>
              <a:t> 	és anyagértékeléshez</a:t>
            </a:r>
            <a:r>
              <a:rPr lang="hu-HU" sz="1600" dirty="0"/>
              <a:t> </a:t>
            </a:r>
            <a:r>
              <a:rPr lang="hu-HU" sz="2000" dirty="0"/>
              <a:t>kapcsolódó feladatokat.</a:t>
            </a:r>
            <a:endParaRPr lang="hu-HU" dirty="0"/>
          </a:p>
          <a:p>
            <a:endParaRPr lang="hu-HU" dirty="0"/>
          </a:p>
          <a:p>
            <a:pPr>
              <a:buNone/>
            </a:pPr>
            <a:r>
              <a:rPr lang="hu-HU" dirty="0"/>
              <a:t>Információt szolgáltatni:</a:t>
            </a:r>
          </a:p>
          <a:p>
            <a:r>
              <a:rPr lang="hu-HU" dirty="0"/>
              <a:t>	</a:t>
            </a:r>
            <a:r>
              <a:rPr lang="hu-HU" sz="2000" dirty="0"/>
              <a:t>a készletekről, </a:t>
            </a:r>
          </a:p>
          <a:p>
            <a:r>
              <a:rPr lang="hu-HU" sz="2000" dirty="0"/>
              <a:t>	a múltbeli és a várható jövőbeli felhasználásról,</a:t>
            </a:r>
          </a:p>
          <a:p>
            <a:r>
              <a:rPr lang="hu-HU" sz="2000" dirty="0"/>
              <a:t> 	a tervezett készletnövekedésről. </a:t>
            </a:r>
            <a:endParaRPr lang="hu-HU" dirty="0"/>
          </a:p>
          <a:p>
            <a:endParaRPr lang="hu-H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Készlettartás indítékai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04701" y="1517073"/>
            <a:ext cx="82296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hu-HU" sz="2000" b="1" dirty="0"/>
              <a:t>Folyamatos működés fenntartása</a:t>
            </a:r>
          </a:p>
          <a:p>
            <a:r>
              <a:rPr lang="hu-HU" sz="2000" dirty="0"/>
              <a:t>felkészülés jövőbeni eseményekre (tervezett készlet)</a:t>
            </a:r>
          </a:p>
          <a:p>
            <a:r>
              <a:rPr lang="hu-HU" sz="2000" dirty="0"/>
              <a:t>tevékenységek eltérő üteme (cikluskészlet)</a:t>
            </a:r>
          </a:p>
          <a:p>
            <a:r>
              <a:rPr lang="hu-HU" sz="2000" dirty="0"/>
              <a:t>térbeli távolság (szállítási készlet)</a:t>
            </a:r>
          </a:p>
          <a:p>
            <a:endParaRPr lang="hu-HU" sz="2000" dirty="0"/>
          </a:p>
          <a:p>
            <a:pPr>
              <a:buNone/>
            </a:pPr>
            <a:r>
              <a:rPr lang="hu-HU" sz="2000" b="1" dirty="0"/>
              <a:t>Váratlan helyzetekre való felkészülés</a:t>
            </a:r>
          </a:p>
          <a:p>
            <a:r>
              <a:rPr lang="hu-HU" sz="2000" dirty="0"/>
              <a:t>bizonytalanság kiküszöbölése (biztonsági készlet)</a:t>
            </a:r>
          </a:p>
          <a:p>
            <a:r>
              <a:rPr lang="hu-HU" sz="2000" dirty="0"/>
              <a:t>váratlan események kezelése (tartalék alkatrész készlet)</a:t>
            </a:r>
          </a:p>
          <a:p>
            <a:r>
              <a:rPr lang="hu-HU" sz="2000" dirty="0"/>
              <a:t>meghibásodás</a:t>
            </a:r>
          </a:p>
          <a:p>
            <a:endParaRPr lang="hu-HU" sz="2000" dirty="0"/>
          </a:p>
          <a:p>
            <a:pPr>
              <a:buNone/>
            </a:pPr>
            <a:r>
              <a:rPr lang="hu-HU" sz="2000" b="1" dirty="0"/>
              <a:t>Kedvező helyzet kihasználása</a:t>
            </a:r>
            <a:r>
              <a:rPr lang="hu-HU" sz="2000" dirty="0"/>
              <a:t> (spekulációs cél is lehet)</a:t>
            </a:r>
          </a:p>
          <a:p>
            <a:r>
              <a:rPr lang="hu-HU" sz="2000" dirty="0"/>
              <a:t>árengedmény</a:t>
            </a:r>
          </a:p>
          <a:p>
            <a:r>
              <a:rPr lang="hu-HU" sz="2000" dirty="0"/>
              <a:t>áremelkedés veszélye</a:t>
            </a:r>
          </a:p>
          <a:p>
            <a:r>
              <a:rPr lang="hu-HU" sz="2000" dirty="0"/>
              <a:t>rabatt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Forgóeszközök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hu-HU" dirty="0"/>
              <a:t>Azok az eszközök, amelyek várhatóan egy évnél rövidebb ideig szolgálják a vállalkozási tevékenységet</a:t>
            </a:r>
          </a:p>
          <a:p>
            <a:pPr>
              <a:buNone/>
            </a:pPr>
            <a:endParaRPr lang="hu-HU" dirty="0"/>
          </a:p>
          <a:p>
            <a:pPr>
              <a:buNone/>
            </a:pPr>
            <a:r>
              <a:rPr lang="hu-HU" sz="2000" dirty="0"/>
              <a:t>Főbb csoportjai:</a:t>
            </a:r>
          </a:p>
          <a:p>
            <a:r>
              <a:rPr lang="hu-HU" sz="2000" dirty="0"/>
              <a:t> készletek</a:t>
            </a:r>
          </a:p>
          <a:p>
            <a:r>
              <a:rPr lang="hu-HU" sz="2000" dirty="0"/>
              <a:t> követelések</a:t>
            </a:r>
          </a:p>
          <a:p>
            <a:r>
              <a:rPr lang="hu-HU" sz="2000" dirty="0"/>
              <a:t> értékpapírok</a:t>
            </a:r>
          </a:p>
          <a:p>
            <a:r>
              <a:rPr lang="hu-HU" sz="2000" dirty="0"/>
              <a:t> pénzeszközök</a:t>
            </a:r>
            <a:endParaRPr lang="hu-HU" dirty="0"/>
          </a:p>
          <a:p>
            <a:endParaRPr lang="hu-HU" dirty="0"/>
          </a:p>
        </p:txBody>
      </p:sp>
      <p:sp>
        <p:nvSpPr>
          <p:cNvPr id="4" name="Ellipszis 3"/>
          <p:cNvSpPr/>
          <p:nvPr/>
        </p:nvSpPr>
        <p:spPr>
          <a:xfrm>
            <a:off x="5105399" y="2950028"/>
            <a:ext cx="2035629" cy="936171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Pénz</a:t>
            </a:r>
          </a:p>
        </p:txBody>
      </p:sp>
      <p:sp>
        <p:nvSpPr>
          <p:cNvPr id="5" name="Ellipszis 4"/>
          <p:cNvSpPr/>
          <p:nvPr/>
        </p:nvSpPr>
        <p:spPr>
          <a:xfrm>
            <a:off x="7010400" y="4147457"/>
            <a:ext cx="2035629" cy="936171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Anyag, árukészlet</a:t>
            </a:r>
          </a:p>
        </p:txBody>
      </p:sp>
      <p:sp>
        <p:nvSpPr>
          <p:cNvPr id="6" name="Ellipszis 5"/>
          <p:cNvSpPr/>
          <p:nvPr/>
        </p:nvSpPr>
        <p:spPr>
          <a:xfrm>
            <a:off x="5094513" y="5279571"/>
            <a:ext cx="2035629" cy="936171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Termelés-közi készlet</a:t>
            </a:r>
          </a:p>
        </p:txBody>
      </p:sp>
      <p:sp>
        <p:nvSpPr>
          <p:cNvPr id="7" name="Ellipszis 6"/>
          <p:cNvSpPr/>
          <p:nvPr/>
        </p:nvSpPr>
        <p:spPr>
          <a:xfrm>
            <a:off x="3058880" y="4005943"/>
            <a:ext cx="2035629" cy="936171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Vevő-állomány</a:t>
            </a:r>
          </a:p>
        </p:txBody>
      </p:sp>
      <p:sp>
        <p:nvSpPr>
          <p:cNvPr id="8" name="Téglalap 7"/>
          <p:cNvSpPr/>
          <p:nvPr/>
        </p:nvSpPr>
        <p:spPr>
          <a:xfrm>
            <a:off x="7500257" y="3461657"/>
            <a:ext cx="1426029" cy="544286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Beszerzés</a:t>
            </a:r>
          </a:p>
        </p:txBody>
      </p:sp>
      <p:sp>
        <p:nvSpPr>
          <p:cNvPr id="9" name="Téglalap 8"/>
          <p:cNvSpPr/>
          <p:nvPr/>
        </p:nvSpPr>
        <p:spPr>
          <a:xfrm>
            <a:off x="7467600" y="5344885"/>
            <a:ext cx="1426029" cy="544286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Termelés</a:t>
            </a:r>
          </a:p>
        </p:txBody>
      </p:sp>
      <p:sp>
        <p:nvSpPr>
          <p:cNvPr id="10" name="Téglalap 9"/>
          <p:cNvSpPr/>
          <p:nvPr/>
        </p:nvSpPr>
        <p:spPr>
          <a:xfrm>
            <a:off x="3559625" y="3363686"/>
            <a:ext cx="1426029" cy="544286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Beszedés, behajtás</a:t>
            </a:r>
          </a:p>
        </p:txBody>
      </p:sp>
      <p:sp>
        <p:nvSpPr>
          <p:cNvPr id="11" name="Téglalap 10"/>
          <p:cNvSpPr/>
          <p:nvPr/>
        </p:nvSpPr>
        <p:spPr>
          <a:xfrm>
            <a:off x="3526968" y="5246914"/>
            <a:ext cx="1426029" cy="544286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Értékesítés</a:t>
            </a:r>
          </a:p>
        </p:txBody>
      </p:sp>
      <p:sp>
        <p:nvSpPr>
          <p:cNvPr id="12" name="Szalagnyíl balra 11"/>
          <p:cNvSpPr/>
          <p:nvPr/>
        </p:nvSpPr>
        <p:spPr>
          <a:xfrm>
            <a:off x="6139542" y="4191001"/>
            <a:ext cx="718457" cy="89262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3" name="Szalagnyíl balra 12"/>
          <p:cNvSpPr/>
          <p:nvPr/>
        </p:nvSpPr>
        <p:spPr>
          <a:xfrm rot="10800000">
            <a:off x="5214256" y="4125687"/>
            <a:ext cx="718457" cy="89262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Készletek csoportosítása</a:t>
            </a:r>
          </a:p>
        </p:txBody>
      </p:sp>
      <p:sp>
        <p:nvSpPr>
          <p:cNvPr id="4" name="Téglalap 3"/>
          <p:cNvSpPr/>
          <p:nvPr/>
        </p:nvSpPr>
        <p:spPr>
          <a:xfrm>
            <a:off x="206828" y="2046514"/>
            <a:ext cx="2950029" cy="7075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Saját termelésű</a:t>
            </a:r>
          </a:p>
        </p:txBody>
      </p:sp>
      <p:sp>
        <p:nvSpPr>
          <p:cNvPr id="5" name="Téglalap 4"/>
          <p:cNvSpPr/>
          <p:nvPr/>
        </p:nvSpPr>
        <p:spPr>
          <a:xfrm>
            <a:off x="5181600" y="2002971"/>
            <a:ext cx="3015343" cy="70757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rgbClr val="C00000"/>
                </a:solidFill>
              </a:rPr>
              <a:t>Vásárolt</a:t>
            </a:r>
          </a:p>
        </p:txBody>
      </p:sp>
      <p:sp>
        <p:nvSpPr>
          <p:cNvPr id="6" name="Ellipszis 5"/>
          <p:cNvSpPr/>
          <p:nvPr/>
        </p:nvSpPr>
        <p:spPr>
          <a:xfrm>
            <a:off x="250371" y="2971801"/>
            <a:ext cx="2177143" cy="751114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Befejezetlen termelés</a:t>
            </a:r>
          </a:p>
        </p:txBody>
      </p:sp>
      <p:sp>
        <p:nvSpPr>
          <p:cNvPr id="7" name="Ellipszis 6"/>
          <p:cNvSpPr/>
          <p:nvPr/>
        </p:nvSpPr>
        <p:spPr>
          <a:xfrm>
            <a:off x="653142" y="4038600"/>
            <a:ext cx="2177143" cy="751114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Félkész termék</a:t>
            </a:r>
          </a:p>
        </p:txBody>
      </p:sp>
      <p:sp>
        <p:nvSpPr>
          <p:cNvPr id="8" name="Ellipszis 7"/>
          <p:cNvSpPr/>
          <p:nvPr/>
        </p:nvSpPr>
        <p:spPr>
          <a:xfrm>
            <a:off x="1197428" y="5072742"/>
            <a:ext cx="2177143" cy="751114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Késztermék</a:t>
            </a:r>
          </a:p>
        </p:txBody>
      </p:sp>
      <p:sp>
        <p:nvSpPr>
          <p:cNvPr id="11" name="Ellipszis 10"/>
          <p:cNvSpPr/>
          <p:nvPr/>
        </p:nvSpPr>
        <p:spPr>
          <a:xfrm>
            <a:off x="5225143" y="2960916"/>
            <a:ext cx="2177143" cy="751114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rgbClr val="C00000"/>
                </a:solidFill>
              </a:rPr>
              <a:t>Anyagok</a:t>
            </a:r>
          </a:p>
        </p:txBody>
      </p:sp>
      <p:sp>
        <p:nvSpPr>
          <p:cNvPr id="12" name="Ellipszis 11"/>
          <p:cNvSpPr/>
          <p:nvPr/>
        </p:nvSpPr>
        <p:spPr>
          <a:xfrm>
            <a:off x="5736771" y="3973287"/>
            <a:ext cx="2177143" cy="751114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rgbClr val="C00000"/>
                </a:solidFill>
              </a:rPr>
              <a:t>Áruk</a:t>
            </a:r>
          </a:p>
        </p:txBody>
      </p:sp>
      <p:sp>
        <p:nvSpPr>
          <p:cNvPr id="13" name="Ellipszis 12"/>
          <p:cNvSpPr/>
          <p:nvPr/>
        </p:nvSpPr>
        <p:spPr>
          <a:xfrm>
            <a:off x="6085114" y="5061858"/>
            <a:ext cx="2177143" cy="751114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rgbClr val="C00000"/>
                </a:solidFill>
              </a:rPr>
              <a:t>Göngyölegek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Készletgazdálkodás költségei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49134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hu-HU" dirty="0"/>
              <a:t>Utánpótlás: </a:t>
            </a:r>
          </a:p>
          <a:p>
            <a:r>
              <a:rPr lang="hu-HU" sz="2000" dirty="0"/>
              <a:t>Közvetlen költsége a beszerzés</a:t>
            </a:r>
          </a:p>
          <a:p>
            <a:r>
              <a:rPr lang="hu-HU" sz="2000" dirty="0"/>
              <a:t>Közvetett költségek a megrendelés, átvétel, ellenőrzés</a:t>
            </a:r>
          </a:p>
          <a:p>
            <a:pPr>
              <a:buNone/>
            </a:pPr>
            <a:endParaRPr lang="hu-HU" dirty="0"/>
          </a:p>
          <a:p>
            <a:pPr>
              <a:buNone/>
            </a:pPr>
            <a:r>
              <a:rPr lang="hu-HU" dirty="0"/>
              <a:t>Készlettartás:</a:t>
            </a:r>
          </a:p>
          <a:p>
            <a:r>
              <a:rPr lang="hu-HU" sz="2000" dirty="0"/>
              <a:t>Raktárköltségek, például fűtés, világítás, karbantartás, bérlet</a:t>
            </a:r>
          </a:p>
          <a:p>
            <a:r>
              <a:rPr lang="hu-HU" sz="2000" dirty="0"/>
              <a:t>Készlettárolás költsége, ide értve az anyagmozgatást</a:t>
            </a:r>
          </a:p>
          <a:p>
            <a:r>
              <a:rPr lang="hu-HU" sz="2000" dirty="0"/>
              <a:t>Egyéb költségek a biztosítás, menedzsment</a:t>
            </a: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r>
              <a:rPr lang="hu-HU" dirty="0"/>
              <a:t>Hiány:</a:t>
            </a:r>
          </a:p>
          <a:p>
            <a:r>
              <a:rPr lang="hu-HU" sz="2000" dirty="0"/>
              <a:t>Közvetlen elemek, például kötbér, állás és újraindítás költségei</a:t>
            </a:r>
          </a:p>
          <a:p>
            <a:r>
              <a:rPr lang="hu-HU" sz="2000" dirty="0"/>
              <a:t>Közvetett elemek, például elvesztett vevők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123207" y="282370"/>
            <a:ext cx="8229600" cy="957943"/>
          </a:xfrm>
        </p:spPr>
        <p:txBody>
          <a:bodyPr>
            <a:noAutofit/>
          </a:bodyPr>
          <a:lstStyle/>
          <a:p>
            <a:r>
              <a:rPr lang="hu-HU" sz="2800" dirty="0"/>
              <a:t>Készletek típusai a felhasználás alapján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Folyó készlet</a:t>
            </a:r>
            <a:r>
              <a:rPr lang="hu-HU" dirty="0"/>
              <a:t>:</a:t>
            </a:r>
          </a:p>
          <a:p>
            <a:pPr>
              <a:buNone/>
            </a:pPr>
            <a:r>
              <a:rPr lang="hu-HU" dirty="0"/>
              <a:t>(az időszakban felmerülő igények kielégítésére)</a:t>
            </a:r>
          </a:p>
          <a:p>
            <a:pPr>
              <a:buNone/>
            </a:pPr>
            <a:endParaRPr lang="hu-HU" dirty="0"/>
          </a:p>
          <a:p>
            <a:pPr algn="just">
              <a:buNone/>
            </a:pPr>
            <a:r>
              <a:rPr lang="hu-HU" dirty="0"/>
              <a:t>a tervezési időszak feladataihoz szükséges készlet mennyiség. Értékét a termelési program alapján számíthatjuk ki, illetve végezhetjük el az időbeni ütemezését. Ennek jellemzője, hogy a ciklus végére az értéke zérussá válik, vagyis elfogy.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2800" dirty="0"/>
              <a:t>Készletek típusai a felhasználás alapján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hu-HU" b="1" dirty="0"/>
              <a:t>Felkészülési készlet</a:t>
            </a:r>
          </a:p>
          <a:p>
            <a:pPr algn="just">
              <a:buNone/>
            </a:pPr>
            <a:r>
              <a:rPr lang="hu-HU" dirty="0"/>
              <a:t>Ezen készlet feladata, hogy a következő ciklusban sorra kerülő feladatok elvégzéséhez meghatározott szempontok szerint, előre biztosítsa a szükséges készleteket. </a:t>
            </a:r>
          </a:p>
          <a:p>
            <a:pPr algn="just">
              <a:buNone/>
            </a:pPr>
            <a:r>
              <a:rPr lang="hu-HU" dirty="0"/>
              <a:t>A meghatározott szempont lehet:</a:t>
            </a:r>
          </a:p>
          <a:p>
            <a:pPr algn="just"/>
            <a:r>
              <a:rPr lang="hu-HU" sz="2000" dirty="0"/>
              <a:t>termelési egyensúlytalanságból származó előregyártás,</a:t>
            </a:r>
          </a:p>
          <a:p>
            <a:pPr algn="just"/>
            <a:r>
              <a:rPr lang="hu-HU" sz="2000" dirty="0"/>
              <a:t>beszerzési előny kihasználás,</a:t>
            </a:r>
          </a:p>
          <a:p>
            <a:pPr algn="just"/>
            <a:r>
              <a:rPr lang="hu-HU" sz="2000" dirty="0"/>
              <a:t>tételösszevonás, stb.</a:t>
            </a:r>
          </a:p>
          <a:p>
            <a:pPr algn="just">
              <a:buNone/>
            </a:pPr>
            <a:endParaRPr lang="hu-HU" sz="2000" dirty="0"/>
          </a:p>
          <a:p>
            <a:pPr algn="just">
              <a:buNone/>
            </a:pPr>
            <a:r>
              <a:rPr lang="hu-HU" sz="2000" dirty="0"/>
              <a:t>A felkészülési készlet így előre tervezhető és beépíthető a készletszintek előírásaiba. 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2800" dirty="0"/>
              <a:t>Készletek típusai a felhasználás alapján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Biztonsági készlet</a:t>
            </a:r>
          </a:p>
          <a:p>
            <a:pPr>
              <a:buNone/>
            </a:pPr>
            <a:r>
              <a:rPr lang="hu-HU" dirty="0"/>
              <a:t>Célja a bekövetkező zavarok esetén  a termelés folyamatosságának a biztosítása. A készlet nagyságát befolyásolja:</a:t>
            </a:r>
          </a:p>
          <a:p>
            <a:r>
              <a:rPr lang="hu-HU" sz="2400" dirty="0"/>
              <a:t>a zavarok gyakorisága és hossza,</a:t>
            </a:r>
          </a:p>
          <a:p>
            <a:r>
              <a:rPr lang="hu-HU" sz="2400" dirty="0"/>
              <a:t>beszerzési bizonytalanságok,</a:t>
            </a:r>
          </a:p>
          <a:p>
            <a:r>
              <a:rPr lang="hu-HU" sz="2400" dirty="0"/>
              <a:t>a felhasználás ingadozása.</a:t>
            </a:r>
          </a:p>
          <a:p>
            <a:pPr>
              <a:buNone/>
            </a:pPr>
            <a:endParaRPr lang="hu-HU" sz="2000" dirty="0"/>
          </a:p>
          <a:p>
            <a:pPr>
              <a:buNone/>
            </a:pPr>
            <a:r>
              <a:rPr lang="hu-HU" sz="2000" dirty="0"/>
              <a:t>A biztonsági készletre jellemző, hogy a termelési fázisoknak megfelelően különböző készültségi állapotban vannak, ezért a készletértékük magasabb, mint a beszerzési érték. </a:t>
            </a:r>
            <a:endParaRPr lang="hu-HU" dirty="0"/>
          </a:p>
          <a:p>
            <a:endParaRPr lang="hu-H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2800" dirty="0"/>
              <a:t>Készletek típusai a felhasználás alapján</a:t>
            </a:r>
            <a:endParaRPr lang="hu-HU" sz="1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b="1" dirty="0"/>
              <a:t>Lerakódási készlet</a:t>
            </a:r>
            <a:r>
              <a:rPr lang="hu-HU" sz="2000" b="1" dirty="0"/>
              <a:t> </a:t>
            </a:r>
            <a:r>
              <a:rPr lang="hu-HU" sz="2000" dirty="0"/>
              <a:t>(elfekvő, vagy nem mozgó tételek)</a:t>
            </a:r>
            <a:endParaRPr lang="hu-HU" dirty="0"/>
          </a:p>
          <a:p>
            <a:pPr algn="just">
              <a:buNone/>
            </a:pPr>
            <a:r>
              <a:rPr lang="hu-HU" dirty="0"/>
              <a:t> Ebbe a kategóriába sorolandó azok a tételek, amelyek felhasználására belátható időtávban nem kerül sor. </a:t>
            </a:r>
          </a:p>
          <a:p>
            <a:pPr>
              <a:buNone/>
            </a:pPr>
            <a:endParaRPr lang="hu-HU" sz="2400" dirty="0"/>
          </a:p>
          <a:p>
            <a:pPr>
              <a:buNone/>
            </a:pPr>
            <a:r>
              <a:rPr lang="hu-HU" sz="2400" dirty="0"/>
              <a:t>Keletkezésének főbb okai:</a:t>
            </a:r>
          </a:p>
          <a:p>
            <a:r>
              <a:rPr lang="hu-HU" sz="2000" dirty="0"/>
              <a:t>termékszerkezet váltás, kifutó termék,</a:t>
            </a:r>
          </a:p>
          <a:p>
            <a:r>
              <a:rPr lang="hu-HU" sz="2000" dirty="0"/>
              <a:t>biztonsági készletszint felhasználási ütemtelensége (megmarad),</a:t>
            </a:r>
          </a:p>
          <a:p>
            <a:r>
              <a:rPr lang="hu-HU" sz="2000" dirty="0"/>
              <a:t>anyag, helyettesítő anyagváltozás,</a:t>
            </a:r>
          </a:p>
          <a:p>
            <a:r>
              <a:rPr lang="hu-HU" sz="2000" dirty="0"/>
              <a:t>túlbiztosítás,</a:t>
            </a:r>
          </a:p>
          <a:p>
            <a:r>
              <a:rPr lang="hu-HU" sz="2000" dirty="0"/>
              <a:t>konstrukciós, illetve technológiai változtatás.</a:t>
            </a:r>
            <a:endParaRPr lang="hu-H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Készletezési mechanizmusok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143593"/>
            <a:ext cx="8229600" cy="3982570"/>
          </a:xfrm>
        </p:spPr>
        <p:txBody>
          <a:bodyPr/>
          <a:lstStyle/>
          <a:p>
            <a:pPr>
              <a:buNone/>
            </a:pPr>
            <a:r>
              <a:rPr lang="hu-HU" dirty="0"/>
              <a:t>A működési stratégia meghatározásánál két alapvető kérdésre kell választ kapni:</a:t>
            </a:r>
          </a:p>
          <a:p>
            <a:endParaRPr lang="hu-HU" dirty="0"/>
          </a:p>
          <a:p>
            <a:pPr marL="719138" indent="-447675"/>
            <a:r>
              <a:rPr lang="hu-HU" dirty="0"/>
              <a:t>mikor (rendelési pont)</a:t>
            </a:r>
          </a:p>
          <a:p>
            <a:pPr marL="719138" indent="-447675"/>
            <a:r>
              <a:rPr lang="hu-HU" dirty="0"/>
              <a:t>mennyit rendeljen a döntéshozó (rendelési mennyiség).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Mikor és mennyit rendeljünk?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hu-HU" sz="1800" dirty="0"/>
              <a:t>A rendelési mennyiség és a rendelési pont meghatározása során vizsgálni kell:</a:t>
            </a:r>
          </a:p>
          <a:p>
            <a:pPr marL="719138" indent="-544513"/>
            <a:r>
              <a:rPr lang="hu-HU" sz="1800" dirty="0"/>
              <a:t>a készlet állapotát (készletszintet),</a:t>
            </a:r>
          </a:p>
          <a:p>
            <a:pPr marL="719138" indent="-544513"/>
            <a:r>
              <a:rPr lang="hu-HU" sz="1800" dirty="0"/>
              <a:t>az output folyamatot (szükség felmérése, kielégítésének módja),</a:t>
            </a:r>
          </a:p>
          <a:p>
            <a:pPr marL="719138" indent="-544513"/>
            <a:r>
              <a:rPr lang="hu-HU" sz="1800" dirty="0"/>
              <a:t>az input folyamatot (rendelés lehetőségei, beérkezés).</a:t>
            </a:r>
          </a:p>
          <a:p>
            <a:pPr>
              <a:buNone/>
            </a:pPr>
            <a:endParaRPr lang="hu-HU" sz="1800" dirty="0"/>
          </a:p>
          <a:p>
            <a:pPr>
              <a:buNone/>
            </a:pPr>
            <a:r>
              <a:rPr lang="hu-HU" sz="1800" dirty="0"/>
              <a:t>Az időponti kérdésre adható lehetséges válaszok:</a:t>
            </a:r>
          </a:p>
          <a:p>
            <a:pPr marL="719138" indent="-544513"/>
            <a:r>
              <a:rPr lang="hu-HU" sz="1800" dirty="0"/>
              <a:t>Előre adott, egyenlő időközökben kell rendelést feladni.</a:t>
            </a:r>
          </a:p>
          <a:p>
            <a:pPr marL="719138" indent="-544513"/>
            <a:r>
              <a:rPr lang="hu-HU" sz="1800" dirty="0"/>
              <a:t>A készlet utánpótlásról akkor döntünk, amikor a készlet valamilyen előre megadott minimális nagyság alá csökken.</a:t>
            </a:r>
          </a:p>
          <a:p>
            <a:pPr marL="719138" indent="-544513"/>
            <a:r>
              <a:rPr lang="hu-HU" sz="1800" dirty="0"/>
              <a:t>A rendelési tétel nagyságára adható válaszok:</a:t>
            </a:r>
          </a:p>
          <a:p>
            <a:pPr marL="719138" indent="-544513"/>
            <a:r>
              <a:rPr lang="hu-HU" sz="1800" dirty="0"/>
              <a:t>Előre adott egyenlő nagyságú rendeléseket kell feladni.</a:t>
            </a:r>
          </a:p>
          <a:p>
            <a:pPr marL="719138" indent="-544513"/>
            <a:r>
              <a:rPr lang="hu-HU" sz="1800" dirty="0"/>
              <a:t>Akkora mennyiséget kell feladni, hogy a készletszint a beérkezéskor egy előre adott maximális szintet érjen el.</a:t>
            </a:r>
          </a:p>
          <a:p>
            <a:endParaRPr lang="hu-HU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Mechanizmusok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7892321" cy="4525963"/>
          </a:xfrm>
        </p:spPr>
        <p:txBody>
          <a:bodyPr/>
          <a:lstStyle/>
          <a:p>
            <a:pPr marL="544513" indent="-457200" algn="just"/>
            <a:r>
              <a:rPr lang="hu-HU" dirty="0"/>
              <a:t>Állandó időközönkénti rendelés, amely a maximális szintre tölti fel a készletet, ez a </a:t>
            </a:r>
            <a:r>
              <a:rPr lang="hu-HU" b="1" dirty="0"/>
              <a:t>ciklikus</a:t>
            </a:r>
            <a:r>
              <a:rPr lang="hu-HU" dirty="0"/>
              <a:t>nak nevezett mechanizmus.</a:t>
            </a:r>
          </a:p>
          <a:p>
            <a:pPr marL="544513" indent="-457200" algn="just"/>
            <a:r>
              <a:rPr lang="hu-HU" dirty="0"/>
              <a:t>Adott minimális szint elérése esetén adott rendelési tétel feladása. Ezt az eljárást </a:t>
            </a:r>
            <a:r>
              <a:rPr lang="hu-HU" b="1" dirty="0" err="1"/>
              <a:t>kétraktáros</a:t>
            </a:r>
            <a:r>
              <a:rPr lang="hu-HU" dirty="0"/>
              <a:t> készletgazdálkodásnak nevezzük.</a:t>
            </a:r>
          </a:p>
          <a:p>
            <a:pPr marL="544513" indent="-457200" algn="just"/>
            <a:r>
              <a:rPr lang="hu-HU" dirty="0"/>
              <a:t>Adott minimális szint elérése esetén olyan rendelés, amely adott maximális szintre tölti fel a készletet - ez az ún. </a:t>
            </a:r>
            <a:r>
              <a:rPr lang="hu-HU" b="1" dirty="0"/>
              <a:t>csillapításos</a:t>
            </a:r>
            <a:r>
              <a:rPr lang="hu-HU" dirty="0"/>
              <a:t> készletgazdálkodás. 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Ciklikus modell</a:t>
            </a:r>
          </a:p>
        </p:txBody>
      </p:sp>
      <p:cxnSp>
        <p:nvCxnSpPr>
          <p:cNvPr id="5" name="Egyenes összekötő nyíllal 4"/>
          <p:cNvCxnSpPr/>
          <p:nvPr/>
        </p:nvCxnSpPr>
        <p:spPr>
          <a:xfrm rot="16200000" flipV="1">
            <a:off x="-947057" y="4034639"/>
            <a:ext cx="3418114" cy="217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nyíllal 6"/>
          <p:cNvCxnSpPr/>
          <p:nvPr/>
        </p:nvCxnSpPr>
        <p:spPr>
          <a:xfrm>
            <a:off x="762000" y="5743696"/>
            <a:ext cx="6890657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nyíllal 8"/>
          <p:cNvCxnSpPr/>
          <p:nvPr/>
        </p:nvCxnSpPr>
        <p:spPr>
          <a:xfrm>
            <a:off x="783771" y="6081154"/>
            <a:ext cx="168728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/>
          <p:cNvCxnSpPr/>
          <p:nvPr/>
        </p:nvCxnSpPr>
        <p:spPr>
          <a:xfrm>
            <a:off x="2460171" y="6081154"/>
            <a:ext cx="168728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/>
          <p:cNvCxnSpPr/>
          <p:nvPr/>
        </p:nvCxnSpPr>
        <p:spPr>
          <a:xfrm>
            <a:off x="4125685" y="6081155"/>
            <a:ext cx="168728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/>
          <p:cNvCxnSpPr/>
          <p:nvPr/>
        </p:nvCxnSpPr>
        <p:spPr>
          <a:xfrm>
            <a:off x="5791200" y="6081154"/>
            <a:ext cx="168728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12"/>
          <p:cNvSpPr txBox="1"/>
          <p:nvPr/>
        </p:nvSpPr>
        <p:spPr>
          <a:xfrm>
            <a:off x="1338943" y="610292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3069772" y="608114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</a:t>
            </a:r>
          </a:p>
        </p:txBody>
      </p:sp>
      <p:sp>
        <p:nvSpPr>
          <p:cNvPr id="15" name="Szövegdoboz 14"/>
          <p:cNvSpPr txBox="1"/>
          <p:nvPr/>
        </p:nvSpPr>
        <p:spPr>
          <a:xfrm>
            <a:off x="4746172" y="608114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</a:t>
            </a:r>
          </a:p>
        </p:txBody>
      </p:sp>
      <p:sp>
        <p:nvSpPr>
          <p:cNvPr id="16" name="Szövegdoboz 15"/>
          <p:cNvSpPr txBox="1"/>
          <p:nvPr/>
        </p:nvSpPr>
        <p:spPr>
          <a:xfrm>
            <a:off x="6357257" y="608114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</a:t>
            </a:r>
          </a:p>
        </p:txBody>
      </p:sp>
      <p:cxnSp>
        <p:nvCxnSpPr>
          <p:cNvPr id="18" name="Egyenes összekötő 17"/>
          <p:cNvCxnSpPr/>
          <p:nvPr/>
        </p:nvCxnSpPr>
        <p:spPr>
          <a:xfrm>
            <a:off x="772886" y="2880754"/>
            <a:ext cx="682534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zövegdoboz 18"/>
          <p:cNvSpPr txBox="1"/>
          <p:nvPr/>
        </p:nvSpPr>
        <p:spPr>
          <a:xfrm>
            <a:off x="968829" y="2456210"/>
            <a:ext cx="276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/>
              <a:t>Maximális készletszint</a:t>
            </a:r>
          </a:p>
        </p:txBody>
      </p:sp>
      <p:sp>
        <p:nvSpPr>
          <p:cNvPr id="20" name="Szövegdoboz 19"/>
          <p:cNvSpPr txBox="1"/>
          <p:nvPr/>
        </p:nvSpPr>
        <p:spPr>
          <a:xfrm>
            <a:off x="174172" y="1726868"/>
            <a:ext cx="1121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Készlet-szint</a:t>
            </a:r>
          </a:p>
        </p:txBody>
      </p:sp>
      <p:sp>
        <p:nvSpPr>
          <p:cNvPr id="21" name="Szövegdoboz 20"/>
          <p:cNvSpPr txBox="1"/>
          <p:nvPr/>
        </p:nvSpPr>
        <p:spPr>
          <a:xfrm>
            <a:off x="7761514" y="5536867"/>
            <a:ext cx="93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Idő</a:t>
            </a:r>
          </a:p>
        </p:txBody>
      </p:sp>
      <p:cxnSp>
        <p:nvCxnSpPr>
          <p:cNvPr id="25" name="Egyenes összekötő 24"/>
          <p:cNvCxnSpPr/>
          <p:nvPr/>
        </p:nvCxnSpPr>
        <p:spPr>
          <a:xfrm rot="16200000" flipH="1">
            <a:off x="1513114" y="3784267"/>
            <a:ext cx="1752600" cy="3265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26"/>
          <p:cNvCxnSpPr/>
          <p:nvPr/>
        </p:nvCxnSpPr>
        <p:spPr>
          <a:xfrm rot="16200000" flipH="1">
            <a:off x="2857498" y="4148940"/>
            <a:ext cx="2492834" cy="43542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27"/>
          <p:cNvCxnSpPr/>
          <p:nvPr/>
        </p:nvCxnSpPr>
        <p:spPr>
          <a:xfrm rot="16200000" flipH="1">
            <a:off x="5061856" y="3577440"/>
            <a:ext cx="1360719" cy="1088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31"/>
          <p:cNvCxnSpPr/>
          <p:nvPr/>
        </p:nvCxnSpPr>
        <p:spPr>
          <a:xfrm rot="16200000" flipH="1">
            <a:off x="696686" y="2946067"/>
            <a:ext cx="1785257" cy="165462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33"/>
          <p:cNvCxnSpPr/>
          <p:nvPr/>
        </p:nvCxnSpPr>
        <p:spPr>
          <a:xfrm rot="16200000" flipH="1">
            <a:off x="1970314" y="3294411"/>
            <a:ext cx="2536372" cy="173082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/>
          <p:cNvCxnSpPr/>
          <p:nvPr/>
        </p:nvCxnSpPr>
        <p:spPr>
          <a:xfrm>
            <a:off x="4071257" y="2891639"/>
            <a:ext cx="1687286" cy="1360715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gyenes összekötő 37"/>
          <p:cNvCxnSpPr/>
          <p:nvPr/>
        </p:nvCxnSpPr>
        <p:spPr>
          <a:xfrm>
            <a:off x="5725886" y="2913411"/>
            <a:ext cx="914400" cy="772885"/>
          </a:xfrm>
          <a:prstGeom prst="line">
            <a:avLst/>
          </a:prstGeom>
          <a:ln w="38100">
            <a:solidFill>
              <a:srgbClr val="00206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zövegdoboz 40"/>
          <p:cNvSpPr txBox="1"/>
          <p:nvPr/>
        </p:nvSpPr>
        <p:spPr>
          <a:xfrm>
            <a:off x="1796143" y="3327068"/>
            <a:ext cx="57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Q1</a:t>
            </a:r>
          </a:p>
        </p:txBody>
      </p:sp>
      <p:sp>
        <p:nvSpPr>
          <p:cNvPr id="42" name="Szövegdoboz 41"/>
          <p:cNvSpPr txBox="1"/>
          <p:nvPr/>
        </p:nvSpPr>
        <p:spPr>
          <a:xfrm>
            <a:off x="3429000" y="3392382"/>
            <a:ext cx="57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Q2</a:t>
            </a:r>
          </a:p>
        </p:txBody>
      </p:sp>
      <p:sp>
        <p:nvSpPr>
          <p:cNvPr id="43" name="Szövegdoboz 42"/>
          <p:cNvSpPr txBox="1"/>
          <p:nvPr/>
        </p:nvSpPr>
        <p:spPr>
          <a:xfrm>
            <a:off x="5072743" y="3163782"/>
            <a:ext cx="57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Kétraktáras</a:t>
            </a:r>
            <a:r>
              <a:rPr lang="hu-HU" dirty="0"/>
              <a:t> modell</a:t>
            </a:r>
          </a:p>
        </p:txBody>
      </p:sp>
      <p:cxnSp>
        <p:nvCxnSpPr>
          <p:cNvPr id="4" name="Egyenes összekötő nyíllal 3"/>
          <p:cNvCxnSpPr/>
          <p:nvPr/>
        </p:nvCxnSpPr>
        <p:spPr>
          <a:xfrm rot="16200000" flipV="1">
            <a:off x="-947057" y="3822204"/>
            <a:ext cx="3418114" cy="217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nyíllal 4"/>
          <p:cNvCxnSpPr/>
          <p:nvPr/>
        </p:nvCxnSpPr>
        <p:spPr>
          <a:xfrm>
            <a:off x="762000" y="5531261"/>
            <a:ext cx="6890657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nyíllal 5"/>
          <p:cNvCxnSpPr/>
          <p:nvPr/>
        </p:nvCxnSpPr>
        <p:spPr>
          <a:xfrm>
            <a:off x="783771" y="5868719"/>
            <a:ext cx="168728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nyíllal 6"/>
          <p:cNvCxnSpPr/>
          <p:nvPr/>
        </p:nvCxnSpPr>
        <p:spPr>
          <a:xfrm flipV="1">
            <a:off x="2460171" y="5863771"/>
            <a:ext cx="2313710" cy="494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nyíllal 8"/>
          <p:cNvCxnSpPr/>
          <p:nvPr/>
        </p:nvCxnSpPr>
        <p:spPr>
          <a:xfrm>
            <a:off x="4758047" y="5868719"/>
            <a:ext cx="1108363" cy="69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/>
          <p:cNvSpPr txBox="1"/>
          <p:nvPr/>
        </p:nvSpPr>
        <p:spPr>
          <a:xfrm>
            <a:off x="1338943" y="589048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t1</a:t>
            </a:r>
          </a:p>
        </p:txBody>
      </p:sp>
      <p:sp>
        <p:nvSpPr>
          <p:cNvPr id="11" name="Szövegdoboz 10"/>
          <p:cNvSpPr txBox="1"/>
          <p:nvPr/>
        </p:nvSpPr>
        <p:spPr>
          <a:xfrm>
            <a:off x="3069772" y="586871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t2</a:t>
            </a:r>
          </a:p>
        </p:txBody>
      </p:sp>
      <p:sp>
        <p:nvSpPr>
          <p:cNvPr id="13" name="Szövegdoboz 12"/>
          <p:cNvSpPr txBox="1"/>
          <p:nvPr/>
        </p:nvSpPr>
        <p:spPr>
          <a:xfrm>
            <a:off x="4991595" y="590433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t3</a:t>
            </a:r>
          </a:p>
        </p:txBody>
      </p:sp>
      <p:cxnSp>
        <p:nvCxnSpPr>
          <p:cNvPr id="14" name="Egyenes összekötő 13"/>
          <p:cNvCxnSpPr/>
          <p:nvPr/>
        </p:nvCxnSpPr>
        <p:spPr>
          <a:xfrm>
            <a:off x="761010" y="4497119"/>
            <a:ext cx="682534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14"/>
          <p:cNvSpPr txBox="1"/>
          <p:nvPr/>
        </p:nvSpPr>
        <p:spPr>
          <a:xfrm>
            <a:off x="4721431" y="4072575"/>
            <a:ext cx="276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1600" i="1" dirty="0"/>
              <a:t>Jelző készletszint</a:t>
            </a:r>
          </a:p>
        </p:txBody>
      </p:sp>
      <p:sp>
        <p:nvSpPr>
          <p:cNvPr id="16" name="Szövegdoboz 15"/>
          <p:cNvSpPr txBox="1"/>
          <p:nvPr/>
        </p:nvSpPr>
        <p:spPr>
          <a:xfrm>
            <a:off x="174172" y="1514433"/>
            <a:ext cx="1121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Készlet-szint</a:t>
            </a:r>
          </a:p>
        </p:txBody>
      </p:sp>
      <p:sp>
        <p:nvSpPr>
          <p:cNvPr id="17" name="Szövegdoboz 16"/>
          <p:cNvSpPr txBox="1"/>
          <p:nvPr/>
        </p:nvSpPr>
        <p:spPr>
          <a:xfrm>
            <a:off x="7761514" y="5324432"/>
            <a:ext cx="93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Idő</a:t>
            </a:r>
          </a:p>
        </p:txBody>
      </p:sp>
      <p:cxnSp>
        <p:nvCxnSpPr>
          <p:cNvPr id="32" name="Egyenes összekötő 31"/>
          <p:cNvCxnSpPr/>
          <p:nvPr/>
        </p:nvCxnSpPr>
        <p:spPr>
          <a:xfrm>
            <a:off x="759035" y="5017644"/>
            <a:ext cx="682534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zövegdoboz 32"/>
          <p:cNvSpPr txBox="1"/>
          <p:nvPr/>
        </p:nvSpPr>
        <p:spPr>
          <a:xfrm>
            <a:off x="4790708" y="4628726"/>
            <a:ext cx="276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1600" i="1" dirty="0"/>
              <a:t>Minimális készletszint</a:t>
            </a:r>
          </a:p>
        </p:txBody>
      </p:sp>
      <p:cxnSp>
        <p:nvCxnSpPr>
          <p:cNvPr id="34" name="Egyenes összekötő 33"/>
          <p:cNvCxnSpPr/>
          <p:nvPr/>
        </p:nvCxnSpPr>
        <p:spPr>
          <a:xfrm rot="16200000" flipH="1">
            <a:off x="708561" y="3196769"/>
            <a:ext cx="1785257" cy="165462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34"/>
          <p:cNvCxnSpPr/>
          <p:nvPr/>
        </p:nvCxnSpPr>
        <p:spPr>
          <a:xfrm rot="16200000" flipH="1">
            <a:off x="1290945" y="3793999"/>
            <a:ext cx="2201884" cy="3760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/>
          <p:cNvCxnSpPr/>
          <p:nvPr/>
        </p:nvCxnSpPr>
        <p:spPr>
          <a:xfrm>
            <a:off x="2373086" y="2679203"/>
            <a:ext cx="2270166" cy="193765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46"/>
          <p:cNvCxnSpPr/>
          <p:nvPr/>
        </p:nvCxnSpPr>
        <p:spPr>
          <a:xfrm rot="16200000" flipH="1">
            <a:off x="3521528" y="3518887"/>
            <a:ext cx="2201884" cy="3760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gyenes összekötő 48"/>
          <p:cNvCxnSpPr/>
          <p:nvPr/>
        </p:nvCxnSpPr>
        <p:spPr>
          <a:xfrm rot="16200000" flipH="1">
            <a:off x="3986150" y="3045359"/>
            <a:ext cx="2474027" cy="1262743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gyenes összekötő 50"/>
          <p:cNvCxnSpPr/>
          <p:nvPr/>
        </p:nvCxnSpPr>
        <p:spPr>
          <a:xfrm rot="16200000" flipH="1">
            <a:off x="4754583" y="3801917"/>
            <a:ext cx="2201884" cy="3760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zövegdoboz 51"/>
          <p:cNvSpPr txBox="1"/>
          <p:nvPr/>
        </p:nvSpPr>
        <p:spPr>
          <a:xfrm>
            <a:off x="1888177" y="3215573"/>
            <a:ext cx="42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</a:t>
            </a:r>
          </a:p>
        </p:txBody>
      </p:sp>
      <p:sp>
        <p:nvSpPr>
          <p:cNvPr id="53" name="Szövegdoboz 52"/>
          <p:cNvSpPr txBox="1"/>
          <p:nvPr/>
        </p:nvSpPr>
        <p:spPr>
          <a:xfrm>
            <a:off x="4130634" y="2881085"/>
            <a:ext cx="42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</a:t>
            </a:r>
          </a:p>
        </p:txBody>
      </p:sp>
      <p:sp>
        <p:nvSpPr>
          <p:cNvPr id="54" name="Szövegdoboz 53"/>
          <p:cNvSpPr txBox="1"/>
          <p:nvPr/>
        </p:nvSpPr>
        <p:spPr>
          <a:xfrm>
            <a:off x="5339938" y="3330368"/>
            <a:ext cx="42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</a:t>
            </a:r>
          </a:p>
        </p:txBody>
      </p:sp>
      <p:sp>
        <p:nvSpPr>
          <p:cNvPr id="55" name="Ellipszis 54"/>
          <p:cNvSpPr/>
          <p:nvPr/>
        </p:nvSpPr>
        <p:spPr>
          <a:xfrm>
            <a:off x="1793174" y="4272477"/>
            <a:ext cx="961901" cy="475013"/>
          </a:xfrm>
          <a:prstGeom prst="ellipse">
            <a:avLst/>
          </a:prstGeom>
          <a:solidFill>
            <a:schemeClr val="accent1">
              <a:tint val="100000"/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7" name="Egyenes összekötő nyíllal 56"/>
          <p:cNvCxnSpPr/>
          <p:nvPr/>
        </p:nvCxnSpPr>
        <p:spPr>
          <a:xfrm rot="16200000" flipV="1">
            <a:off x="1413164" y="5412508"/>
            <a:ext cx="1733798" cy="475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zövegdoboz 57"/>
          <p:cNvSpPr txBox="1"/>
          <p:nvPr/>
        </p:nvSpPr>
        <p:spPr>
          <a:xfrm>
            <a:off x="1341912" y="6421910"/>
            <a:ext cx="198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utánpótlási idő</a:t>
            </a:r>
          </a:p>
        </p:txBody>
      </p:sp>
      <p:cxnSp>
        <p:nvCxnSpPr>
          <p:cNvPr id="59" name="Egyenes összekötő 58"/>
          <p:cNvCxnSpPr/>
          <p:nvPr/>
        </p:nvCxnSpPr>
        <p:spPr>
          <a:xfrm>
            <a:off x="5832764" y="2724726"/>
            <a:ext cx="914400" cy="772885"/>
          </a:xfrm>
          <a:prstGeom prst="line">
            <a:avLst/>
          </a:prstGeom>
          <a:ln w="38100">
            <a:solidFill>
              <a:srgbClr val="00206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Csillapításos modell</a:t>
            </a:r>
          </a:p>
        </p:txBody>
      </p:sp>
      <p:cxnSp>
        <p:nvCxnSpPr>
          <p:cNvPr id="4" name="Egyenes összekötő nyíllal 3"/>
          <p:cNvCxnSpPr/>
          <p:nvPr/>
        </p:nvCxnSpPr>
        <p:spPr>
          <a:xfrm rot="16200000" flipV="1">
            <a:off x="-947057" y="3979221"/>
            <a:ext cx="3418114" cy="217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nyíllal 4"/>
          <p:cNvCxnSpPr/>
          <p:nvPr/>
        </p:nvCxnSpPr>
        <p:spPr>
          <a:xfrm>
            <a:off x="762000" y="5688278"/>
            <a:ext cx="6890657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nyíllal 5"/>
          <p:cNvCxnSpPr/>
          <p:nvPr/>
        </p:nvCxnSpPr>
        <p:spPr>
          <a:xfrm>
            <a:off x="783771" y="6025736"/>
            <a:ext cx="168728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nyíllal 6"/>
          <p:cNvCxnSpPr/>
          <p:nvPr/>
        </p:nvCxnSpPr>
        <p:spPr>
          <a:xfrm flipV="1">
            <a:off x="2460171" y="6020788"/>
            <a:ext cx="2313710" cy="494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/>
          <p:cNvCxnSpPr/>
          <p:nvPr/>
        </p:nvCxnSpPr>
        <p:spPr>
          <a:xfrm>
            <a:off x="4758047" y="6025736"/>
            <a:ext cx="1108363" cy="69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/>
          <p:cNvSpPr txBox="1"/>
          <p:nvPr/>
        </p:nvSpPr>
        <p:spPr>
          <a:xfrm>
            <a:off x="1338943" y="604750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t1</a:t>
            </a:r>
          </a:p>
        </p:txBody>
      </p:sp>
      <p:sp>
        <p:nvSpPr>
          <p:cNvPr id="10" name="Szövegdoboz 9"/>
          <p:cNvSpPr txBox="1"/>
          <p:nvPr/>
        </p:nvSpPr>
        <p:spPr>
          <a:xfrm>
            <a:off x="3069772" y="602573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t2</a:t>
            </a:r>
          </a:p>
        </p:txBody>
      </p:sp>
      <p:sp>
        <p:nvSpPr>
          <p:cNvPr id="11" name="Szövegdoboz 10"/>
          <p:cNvSpPr txBox="1"/>
          <p:nvPr/>
        </p:nvSpPr>
        <p:spPr>
          <a:xfrm>
            <a:off x="4991595" y="606135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t3</a:t>
            </a:r>
          </a:p>
        </p:txBody>
      </p:sp>
      <p:cxnSp>
        <p:nvCxnSpPr>
          <p:cNvPr id="12" name="Egyenes összekötő 11"/>
          <p:cNvCxnSpPr/>
          <p:nvPr/>
        </p:nvCxnSpPr>
        <p:spPr>
          <a:xfrm>
            <a:off x="761010" y="4654136"/>
            <a:ext cx="682534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12"/>
          <p:cNvSpPr txBox="1"/>
          <p:nvPr/>
        </p:nvSpPr>
        <p:spPr>
          <a:xfrm>
            <a:off x="4721431" y="4229592"/>
            <a:ext cx="276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1600" i="1" dirty="0"/>
              <a:t>Jelző készletszint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174172" y="1671450"/>
            <a:ext cx="1121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Készlet-szint</a:t>
            </a:r>
          </a:p>
        </p:txBody>
      </p:sp>
      <p:sp>
        <p:nvSpPr>
          <p:cNvPr id="15" name="Szövegdoboz 14"/>
          <p:cNvSpPr txBox="1"/>
          <p:nvPr/>
        </p:nvSpPr>
        <p:spPr>
          <a:xfrm>
            <a:off x="7761514" y="5481449"/>
            <a:ext cx="93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Idő</a:t>
            </a:r>
          </a:p>
        </p:txBody>
      </p:sp>
      <p:cxnSp>
        <p:nvCxnSpPr>
          <p:cNvPr id="16" name="Egyenes összekötő 15"/>
          <p:cNvCxnSpPr/>
          <p:nvPr/>
        </p:nvCxnSpPr>
        <p:spPr>
          <a:xfrm>
            <a:off x="759035" y="5174661"/>
            <a:ext cx="682534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4790708" y="4785743"/>
            <a:ext cx="276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1600" i="1" dirty="0"/>
              <a:t>Minimális készletszint</a:t>
            </a:r>
          </a:p>
        </p:txBody>
      </p:sp>
      <p:cxnSp>
        <p:nvCxnSpPr>
          <p:cNvPr id="18" name="Egyenes összekötő 17"/>
          <p:cNvCxnSpPr/>
          <p:nvPr/>
        </p:nvCxnSpPr>
        <p:spPr>
          <a:xfrm rot="16200000" flipH="1">
            <a:off x="708561" y="3353786"/>
            <a:ext cx="1785257" cy="165462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18"/>
          <p:cNvCxnSpPr/>
          <p:nvPr/>
        </p:nvCxnSpPr>
        <p:spPr>
          <a:xfrm rot="16200000" flipH="1">
            <a:off x="1460668" y="4120739"/>
            <a:ext cx="1864423" cy="35622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/>
          <p:cNvCxnSpPr/>
          <p:nvPr/>
        </p:nvCxnSpPr>
        <p:spPr>
          <a:xfrm>
            <a:off x="2384961" y="3216230"/>
            <a:ext cx="2234540" cy="159327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20"/>
          <p:cNvCxnSpPr/>
          <p:nvPr/>
        </p:nvCxnSpPr>
        <p:spPr>
          <a:xfrm rot="16200000" flipH="1">
            <a:off x="3835731" y="3990108"/>
            <a:ext cx="1577436" cy="3364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/>
          <p:cNvCxnSpPr/>
          <p:nvPr/>
        </p:nvCxnSpPr>
        <p:spPr>
          <a:xfrm rot="16200000" flipH="1">
            <a:off x="4140529" y="3653637"/>
            <a:ext cx="1927763" cy="102523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22"/>
          <p:cNvCxnSpPr/>
          <p:nvPr/>
        </p:nvCxnSpPr>
        <p:spPr>
          <a:xfrm rot="16200000" flipH="1">
            <a:off x="4655130" y="4156364"/>
            <a:ext cx="1907968" cy="3166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zövegdoboz 23"/>
          <p:cNvSpPr txBox="1"/>
          <p:nvPr/>
        </p:nvSpPr>
        <p:spPr>
          <a:xfrm>
            <a:off x="1733797" y="3372590"/>
            <a:ext cx="58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Q1</a:t>
            </a:r>
          </a:p>
        </p:txBody>
      </p:sp>
      <p:sp>
        <p:nvSpPr>
          <p:cNvPr id="25" name="Szövegdoboz 24"/>
          <p:cNvSpPr txBox="1"/>
          <p:nvPr/>
        </p:nvSpPr>
        <p:spPr>
          <a:xfrm>
            <a:off x="4013860" y="3038102"/>
            <a:ext cx="544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Q2</a:t>
            </a:r>
          </a:p>
        </p:txBody>
      </p:sp>
      <p:sp>
        <p:nvSpPr>
          <p:cNvPr id="26" name="Szövegdoboz 25"/>
          <p:cNvSpPr txBox="1"/>
          <p:nvPr/>
        </p:nvSpPr>
        <p:spPr>
          <a:xfrm>
            <a:off x="5177642" y="3487385"/>
            <a:ext cx="58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Q3</a:t>
            </a:r>
          </a:p>
        </p:txBody>
      </p:sp>
      <p:cxnSp>
        <p:nvCxnSpPr>
          <p:cNvPr id="30" name="Egyenes összekötő 29"/>
          <p:cNvCxnSpPr/>
          <p:nvPr/>
        </p:nvCxnSpPr>
        <p:spPr>
          <a:xfrm>
            <a:off x="761010" y="3193471"/>
            <a:ext cx="682534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zövegdoboz 30"/>
          <p:cNvSpPr txBox="1"/>
          <p:nvPr/>
        </p:nvSpPr>
        <p:spPr>
          <a:xfrm>
            <a:off x="838200" y="2768927"/>
            <a:ext cx="276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/>
              <a:t>Maximális készletszint</a:t>
            </a:r>
          </a:p>
        </p:txBody>
      </p:sp>
      <p:cxnSp>
        <p:nvCxnSpPr>
          <p:cNvPr id="38" name="Egyenes összekötő 37"/>
          <p:cNvCxnSpPr/>
          <p:nvPr/>
        </p:nvCxnSpPr>
        <p:spPr>
          <a:xfrm>
            <a:off x="5595257" y="3202378"/>
            <a:ext cx="914400" cy="772885"/>
          </a:xfrm>
          <a:prstGeom prst="line">
            <a:avLst/>
          </a:prstGeom>
          <a:ln w="38100">
            <a:solidFill>
              <a:srgbClr val="00206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Gazdaságos rendelési mennyiség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hu-HU" dirty="0"/>
              <a:t>Feltételezések:</a:t>
            </a:r>
          </a:p>
          <a:p>
            <a:pPr marL="539750" indent="-269875"/>
            <a:r>
              <a:rPr lang="hu-HU" dirty="0"/>
              <a:t>Ismert és állandó készlet-igény</a:t>
            </a:r>
          </a:p>
          <a:p>
            <a:pPr marL="539750" indent="-269875"/>
            <a:r>
              <a:rPr lang="hu-HU" dirty="0"/>
              <a:t>0 beszerzési idő</a:t>
            </a:r>
          </a:p>
          <a:p>
            <a:pPr marL="539750" indent="-269875"/>
            <a:r>
              <a:rPr lang="hu-HU" dirty="0"/>
              <a:t>Rendelt mennyiség egy tételben érkezik</a:t>
            </a:r>
          </a:p>
          <a:p>
            <a:pPr marL="539750" indent="-269875"/>
            <a:r>
              <a:rPr lang="hu-HU" dirty="0"/>
              <a:t>Hiány nem fordul elő</a:t>
            </a:r>
          </a:p>
          <a:p>
            <a:pPr marL="539750" indent="-269875"/>
            <a:r>
              <a:rPr lang="hu-HU" dirty="0"/>
              <a:t>Rendelési költség független a tételnagyságtól</a:t>
            </a:r>
          </a:p>
          <a:p>
            <a:pPr marL="539750" indent="-269875"/>
            <a:r>
              <a:rPr lang="hu-HU" dirty="0"/>
              <a:t>Készlettartás költsége arányos a beszerzési költséggel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Példa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86081"/>
              </p:ext>
            </p:extLst>
          </p:nvPr>
        </p:nvGraphicFramePr>
        <p:xfrm>
          <a:off x="1322120" y="2311400"/>
          <a:ext cx="6096000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Rendelési mennyiség</a:t>
                      </a:r>
                    </a:p>
                    <a:p>
                      <a:pPr algn="ctr"/>
                      <a:r>
                        <a:rPr lang="hu-HU" i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Tartási költség</a:t>
                      </a:r>
                    </a:p>
                    <a:p>
                      <a:pPr algn="ctr"/>
                      <a:r>
                        <a:rPr lang="hu-HU" i="1" dirty="0"/>
                        <a:t>0,5Q*</a:t>
                      </a:r>
                      <a:r>
                        <a:rPr lang="hu-HU" i="1" dirty="0" err="1"/>
                        <a:t>Ch</a:t>
                      </a:r>
                      <a:endParaRPr lang="hu-H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Rendelési költség</a:t>
                      </a:r>
                    </a:p>
                    <a:p>
                      <a:pPr algn="ctr"/>
                      <a:r>
                        <a:rPr lang="hu-HU" i="1" dirty="0"/>
                        <a:t>(D/Q)*</a:t>
                      </a:r>
                      <a:r>
                        <a:rPr lang="hu-HU" i="1" dirty="0" err="1"/>
                        <a:t>Co</a:t>
                      </a:r>
                      <a:endParaRPr lang="hu-H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Teljes költség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20*20=400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425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10*20=200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6,7*20=134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5*20=100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4*20=80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3,</a:t>
                      </a:r>
                      <a:r>
                        <a:rPr lang="hu-HU" dirty="0" err="1"/>
                        <a:t>3</a:t>
                      </a:r>
                      <a:r>
                        <a:rPr lang="hu-HU" dirty="0"/>
                        <a:t>*20=66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2,9*20=58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2,5*20=50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zövegdoboz 4"/>
          <p:cNvSpPr txBox="1"/>
          <p:nvPr/>
        </p:nvSpPr>
        <p:spPr>
          <a:xfrm>
            <a:off x="771896" y="1425039"/>
            <a:ext cx="7718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Az igény  (D) 1000 db termék évente. A tartási költség (</a:t>
            </a:r>
            <a:r>
              <a:rPr lang="hu-HU" dirty="0" err="1"/>
              <a:t>Ch</a:t>
            </a:r>
            <a:r>
              <a:rPr lang="hu-HU" dirty="0"/>
              <a:t>) 1$, a rendelési költség (</a:t>
            </a:r>
            <a:r>
              <a:rPr lang="hu-HU" dirty="0" err="1"/>
              <a:t>Co</a:t>
            </a:r>
            <a:r>
              <a:rPr lang="hu-HU" dirty="0"/>
              <a:t>) 20$ rendelésenként.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Rendelési nagyság számítása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2494806" y="2933207"/>
          <a:ext cx="4062531" cy="1595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19040" progId="Equation.3">
                  <p:embed/>
                </p:oleObj>
              </mc:Choice>
              <mc:Fallback>
                <p:oleObj name="Equation" r:id="rId2" imgW="1066680" imgH="41904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806" y="2933207"/>
                        <a:ext cx="4062531" cy="15959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zövegdoboz 4"/>
          <p:cNvSpPr txBox="1"/>
          <p:nvPr/>
        </p:nvSpPr>
        <p:spPr>
          <a:xfrm>
            <a:off x="356260" y="2339439"/>
            <a:ext cx="193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Teljes költség</a:t>
            </a:r>
          </a:p>
        </p:txBody>
      </p:sp>
      <p:sp>
        <p:nvSpPr>
          <p:cNvPr id="6" name="Ellipszis 5"/>
          <p:cNvSpPr/>
          <p:nvPr/>
        </p:nvSpPr>
        <p:spPr>
          <a:xfrm rot="821042">
            <a:off x="4180114" y="2778827"/>
            <a:ext cx="546265" cy="1935678"/>
          </a:xfrm>
          <a:prstGeom prst="ellipse">
            <a:avLst/>
          </a:prstGeom>
          <a:solidFill>
            <a:schemeClr val="accent1">
              <a:tint val="100000"/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/>
          <p:cNvSpPr/>
          <p:nvPr/>
        </p:nvSpPr>
        <p:spPr>
          <a:xfrm rot="821042">
            <a:off x="5743569" y="2853796"/>
            <a:ext cx="694814" cy="1935678"/>
          </a:xfrm>
          <a:prstGeom prst="ellipse">
            <a:avLst/>
          </a:prstGeom>
          <a:solidFill>
            <a:schemeClr val="accent1">
              <a:tint val="100000"/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>
            <a:off x="2648198" y="5569528"/>
            <a:ext cx="165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Átlagkészlet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5367648" y="5759533"/>
            <a:ext cx="248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Rendelések száma</a:t>
            </a:r>
          </a:p>
        </p:txBody>
      </p:sp>
      <p:sp>
        <p:nvSpPr>
          <p:cNvPr id="10" name="Szövegdoboz 9"/>
          <p:cNvSpPr txBox="1"/>
          <p:nvPr/>
        </p:nvSpPr>
        <p:spPr>
          <a:xfrm>
            <a:off x="2565071" y="1543791"/>
            <a:ext cx="298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Egységnyi készlettartási költség</a:t>
            </a:r>
          </a:p>
        </p:txBody>
      </p:sp>
      <p:sp>
        <p:nvSpPr>
          <p:cNvPr id="11" name="Szövegdoboz 10"/>
          <p:cNvSpPr txBox="1"/>
          <p:nvPr/>
        </p:nvSpPr>
        <p:spPr>
          <a:xfrm>
            <a:off x="5890160" y="1757548"/>
            <a:ext cx="244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Rendelési költség</a:t>
            </a:r>
          </a:p>
        </p:txBody>
      </p:sp>
      <p:cxnSp>
        <p:nvCxnSpPr>
          <p:cNvPr id="13" name="Egyenes összekötő nyíllal 12"/>
          <p:cNvCxnSpPr>
            <a:stCxn id="5" idx="2"/>
          </p:cNvCxnSpPr>
          <p:nvPr/>
        </p:nvCxnSpPr>
        <p:spPr>
          <a:xfrm rot="16200000" flipH="1">
            <a:off x="1577048" y="2455822"/>
            <a:ext cx="782574" cy="12884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/>
          <p:cNvCxnSpPr/>
          <p:nvPr/>
        </p:nvCxnSpPr>
        <p:spPr>
          <a:xfrm rot="5400000">
            <a:off x="3580410" y="2654135"/>
            <a:ext cx="74814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/>
          <p:cNvCxnSpPr/>
          <p:nvPr/>
        </p:nvCxnSpPr>
        <p:spPr>
          <a:xfrm rot="10800000" flipV="1">
            <a:off x="5747657" y="2196935"/>
            <a:ext cx="1199408" cy="748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/>
          <p:cNvCxnSpPr>
            <a:stCxn id="8" idx="0"/>
            <a:endCxn id="6" idx="4"/>
          </p:cNvCxnSpPr>
          <p:nvPr/>
        </p:nvCxnSpPr>
        <p:spPr>
          <a:xfrm rot="5400000" flipH="1" flipV="1">
            <a:off x="3407663" y="4752904"/>
            <a:ext cx="882495" cy="750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/>
          <p:cNvCxnSpPr>
            <a:stCxn id="9" idx="0"/>
            <a:endCxn id="7" idx="4"/>
          </p:cNvCxnSpPr>
          <p:nvPr/>
        </p:nvCxnSpPr>
        <p:spPr>
          <a:xfrm rot="16200000" flipV="1">
            <a:off x="5736553" y="4887467"/>
            <a:ext cx="997531" cy="7466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Rendelési nagyság számítása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698500" y="1971675"/>
          <a:ext cx="328136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19040" progId="Equation.3">
                  <p:embed/>
                </p:oleObj>
              </mc:Choice>
              <mc:Fallback>
                <p:oleObj name="Equation" r:id="rId2" imgW="1295280" imgH="41904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1971675"/>
                        <a:ext cx="3281363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ktum 4"/>
          <p:cNvGraphicFramePr>
            <a:graphicFrameLocks noChangeAspect="1"/>
          </p:cNvGraphicFramePr>
          <p:nvPr/>
        </p:nvGraphicFramePr>
        <p:xfrm>
          <a:off x="6330950" y="1857375"/>
          <a:ext cx="2198688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482400" progId="Equation.3">
                  <p:embed/>
                </p:oleObj>
              </mc:Choice>
              <mc:Fallback>
                <p:oleObj name="Equation" r:id="rId4" imgW="850680" imgH="482400" progId="Equation.3">
                  <p:embed/>
                  <p:pic>
                    <p:nvPicPr>
                      <p:cNvPr id="5" name="Objektum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1857375"/>
                        <a:ext cx="2198688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Jobbra nyíl 5"/>
          <p:cNvSpPr/>
          <p:nvPr/>
        </p:nvSpPr>
        <p:spPr>
          <a:xfrm>
            <a:off x="4750130" y="2196935"/>
            <a:ext cx="950026" cy="6531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7" name="Objektum 6"/>
          <p:cNvGraphicFramePr>
            <a:graphicFrameLocks noChangeAspect="1"/>
          </p:cNvGraphicFramePr>
          <p:nvPr/>
        </p:nvGraphicFramePr>
        <p:xfrm>
          <a:off x="2568019" y="3182588"/>
          <a:ext cx="4257675" cy="1068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444240" progId="Equation.3">
                  <p:embed/>
                </p:oleObj>
              </mc:Choice>
              <mc:Fallback>
                <p:oleObj name="Equation" r:id="rId6" imgW="1968480" imgH="444240" progId="Equation.3">
                  <p:embed/>
                  <p:pic>
                    <p:nvPicPr>
                      <p:cNvPr id="7" name="Objektum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019" y="3182588"/>
                        <a:ext cx="4257675" cy="10680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ktum 7"/>
          <p:cNvGraphicFramePr>
            <a:graphicFrameLocks noChangeAspect="1"/>
          </p:cNvGraphicFramePr>
          <p:nvPr/>
        </p:nvGraphicFramePr>
        <p:xfrm>
          <a:off x="221507" y="5037201"/>
          <a:ext cx="3942321" cy="793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55520" imgH="393480" progId="Equation.3">
                  <p:embed/>
                </p:oleObj>
              </mc:Choice>
              <mc:Fallback>
                <p:oleObj name="Equation" r:id="rId8" imgW="1955520" imgH="393480" progId="Equation.3">
                  <p:embed/>
                  <p:pic>
                    <p:nvPicPr>
                      <p:cNvPr id="8" name="Objektum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507" y="5037201"/>
                        <a:ext cx="3942321" cy="793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ktum 8"/>
          <p:cNvGraphicFramePr>
            <a:graphicFrameLocks noChangeAspect="1"/>
          </p:cNvGraphicFramePr>
          <p:nvPr/>
        </p:nvGraphicFramePr>
        <p:xfrm>
          <a:off x="4883068" y="5036374"/>
          <a:ext cx="4260932" cy="794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47840" imgH="419040" progId="Equation.3">
                  <p:embed/>
                </p:oleObj>
              </mc:Choice>
              <mc:Fallback>
                <p:oleObj name="Equation" r:id="rId10" imgW="2247840" imgH="419040" progId="Equation.3">
                  <p:embed/>
                  <p:pic>
                    <p:nvPicPr>
                      <p:cNvPr id="9" name="Objektum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068" y="5036374"/>
                        <a:ext cx="4260932" cy="794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efelé nyíl 9"/>
          <p:cNvSpPr/>
          <p:nvPr/>
        </p:nvSpPr>
        <p:spPr>
          <a:xfrm>
            <a:off x="4370119" y="4417621"/>
            <a:ext cx="653143" cy="5818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658</TotalTime>
  <Words>890</Words>
  <Application>Microsoft Office PowerPoint</Application>
  <PresentationFormat>Diavetítés a képernyőre (4:3 oldalarány)</PresentationFormat>
  <Paragraphs>244</Paragraphs>
  <Slides>22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Office-téma</vt:lpstr>
      <vt:lpstr>Equation</vt:lpstr>
      <vt:lpstr>PowerPoint-bemutató</vt:lpstr>
      <vt:lpstr>Logisztika</vt:lpstr>
      <vt:lpstr>Logisztika</vt:lpstr>
      <vt:lpstr>Készletgazdálkodás</vt:lpstr>
      <vt:lpstr>Készlettartás indítékai</vt:lpstr>
      <vt:lpstr>Forgóeszközök</vt:lpstr>
      <vt:lpstr>Készletek csoportosítása</vt:lpstr>
      <vt:lpstr>Készletgazdálkodás költségei</vt:lpstr>
      <vt:lpstr>Készletek típusai a felhasználás alapján</vt:lpstr>
      <vt:lpstr>Készletek típusai a felhasználás alapján</vt:lpstr>
      <vt:lpstr>Készletek típusai a felhasználás alapján</vt:lpstr>
      <vt:lpstr>Készletek típusai a felhasználás alapján</vt:lpstr>
      <vt:lpstr>Készletezési mechanizmusok</vt:lpstr>
      <vt:lpstr>Mikor és mennyit rendeljünk?</vt:lpstr>
      <vt:lpstr>Mechanizmusok</vt:lpstr>
      <vt:lpstr>Ciklikus modell</vt:lpstr>
      <vt:lpstr>Kétraktáras modell</vt:lpstr>
      <vt:lpstr>Csillapításos modell</vt:lpstr>
      <vt:lpstr>Gazdaságos rendelési mennyiség</vt:lpstr>
      <vt:lpstr>Példa</vt:lpstr>
      <vt:lpstr>Rendelési nagyság számítása</vt:lpstr>
      <vt:lpstr>Rendelési nagyság számítása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80</cp:revision>
  <dcterms:created xsi:type="dcterms:W3CDTF">2015-07-30T19:30:28Z</dcterms:created>
  <dcterms:modified xsi:type="dcterms:W3CDTF">2021-04-26T16:39:36Z</dcterms:modified>
</cp:coreProperties>
</file>