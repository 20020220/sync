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9" r:id="rId2"/>
    <p:sldId id="279" r:id="rId3"/>
    <p:sldId id="281" r:id="rId4"/>
    <p:sldId id="264" r:id="rId5"/>
    <p:sldId id="282" r:id="rId6"/>
    <p:sldId id="267" r:id="rId7"/>
    <p:sldId id="276" r:id="rId8"/>
    <p:sldId id="280" r:id="rId9"/>
    <p:sldId id="266" r:id="rId10"/>
    <p:sldId id="283" r:id="rId11"/>
    <p:sldId id="284" r:id="rId12"/>
    <p:sldId id="285" r:id="rId13"/>
    <p:sldId id="268" r:id="rId14"/>
    <p:sldId id="269" r:id="rId15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249" autoAdjust="0"/>
  </p:normalViewPr>
  <p:slideViewPr>
    <p:cSldViewPr snapToGrid="0">
      <p:cViewPr varScale="1">
        <p:scale>
          <a:sx n="104" d="100"/>
          <a:sy n="104" d="100"/>
        </p:scale>
        <p:origin x="16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168793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Fogalmak és történet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35429" y="217714"/>
            <a:ext cx="8229600" cy="1143000"/>
          </a:xfrm>
        </p:spPr>
        <p:txBody>
          <a:bodyPr/>
          <a:lstStyle/>
          <a:p>
            <a:r>
              <a:rPr lang="hu-HU" dirty="0"/>
              <a:t>Vállalati folyamatok</a:t>
            </a:r>
          </a:p>
        </p:txBody>
      </p:sp>
      <p:sp>
        <p:nvSpPr>
          <p:cNvPr id="4" name="Jobbra nyíl 3"/>
          <p:cNvSpPr/>
          <p:nvPr/>
        </p:nvSpPr>
        <p:spPr>
          <a:xfrm>
            <a:off x="1545771" y="2950029"/>
            <a:ext cx="6389916" cy="1937657"/>
          </a:xfrm>
          <a:prstGeom prst="rightArrow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Reál (termelési, szolgáltatási)folyamatok</a:t>
            </a:r>
          </a:p>
        </p:txBody>
      </p:sp>
      <p:sp>
        <p:nvSpPr>
          <p:cNvPr id="5" name="Ellipszis 4"/>
          <p:cNvSpPr/>
          <p:nvPr/>
        </p:nvSpPr>
        <p:spPr>
          <a:xfrm>
            <a:off x="261256" y="1796144"/>
            <a:ext cx="1992086" cy="10559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Pénzügy</a:t>
            </a:r>
          </a:p>
        </p:txBody>
      </p:sp>
      <p:sp>
        <p:nvSpPr>
          <p:cNvPr id="6" name="Ellipszis 5"/>
          <p:cNvSpPr/>
          <p:nvPr/>
        </p:nvSpPr>
        <p:spPr>
          <a:xfrm>
            <a:off x="1807028" y="1360717"/>
            <a:ext cx="1992086" cy="10559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Információ</a:t>
            </a:r>
          </a:p>
        </p:txBody>
      </p:sp>
      <p:sp>
        <p:nvSpPr>
          <p:cNvPr id="7" name="Ellipszis 6"/>
          <p:cNvSpPr/>
          <p:nvPr/>
        </p:nvSpPr>
        <p:spPr>
          <a:xfrm>
            <a:off x="6117770" y="1589316"/>
            <a:ext cx="1992086" cy="10559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Stratégia</a:t>
            </a:r>
          </a:p>
        </p:txBody>
      </p:sp>
      <p:sp>
        <p:nvSpPr>
          <p:cNvPr id="8" name="Ellipszis 7"/>
          <p:cNvSpPr/>
          <p:nvPr/>
        </p:nvSpPr>
        <p:spPr>
          <a:xfrm>
            <a:off x="3973285" y="1469572"/>
            <a:ext cx="1992086" cy="10559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Marketing</a:t>
            </a:r>
          </a:p>
        </p:txBody>
      </p:sp>
      <p:sp>
        <p:nvSpPr>
          <p:cNvPr id="9" name="Lekerekített téglalap 8"/>
          <p:cNvSpPr/>
          <p:nvPr/>
        </p:nvSpPr>
        <p:spPr>
          <a:xfrm>
            <a:off x="163286" y="3385457"/>
            <a:ext cx="1077685" cy="1066800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Szállító</a:t>
            </a:r>
          </a:p>
        </p:txBody>
      </p:sp>
      <p:sp>
        <p:nvSpPr>
          <p:cNvPr id="10" name="Ellipszis 9"/>
          <p:cNvSpPr/>
          <p:nvPr/>
        </p:nvSpPr>
        <p:spPr>
          <a:xfrm>
            <a:off x="468085" y="4778830"/>
            <a:ext cx="1992086" cy="1055914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Készletezés</a:t>
            </a:r>
          </a:p>
        </p:txBody>
      </p:sp>
      <p:sp>
        <p:nvSpPr>
          <p:cNvPr id="11" name="Lekerekített téglalap 10"/>
          <p:cNvSpPr/>
          <p:nvPr/>
        </p:nvSpPr>
        <p:spPr>
          <a:xfrm>
            <a:off x="8066315" y="3407229"/>
            <a:ext cx="1077685" cy="1066800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Vevő</a:t>
            </a:r>
          </a:p>
        </p:txBody>
      </p:sp>
      <p:sp>
        <p:nvSpPr>
          <p:cNvPr id="13" name="Ellipszis 12"/>
          <p:cNvSpPr/>
          <p:nvPr/>
        </p:nvSpPr>
        <p:spPr>
          <a:xfrm>
            <a:off x="2612570" y="2111830"/>
            <a:ext cx="1992086" cy="10559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Minőségügy</a:t>
            </a:r>
          </a:p>
        </p:txBody>
      </p:sp>
      <p:sp>
        <p:nvSpPr>
          <p:cNvPr id="14" name="Ellipszis 13"/>
          <p:cNvSpPr/>
          <p:nvPr/>
        </p:nvSpPr>
        <p:spPr>
          <a:xfrm>
            <a:off x="1741714" y="5453745"/>
            <a:ext cx="1992086" cy="1055914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/>
              <a:t>Anyagmozgatás</a:t>
            </a:r>
          </a:p>
        </p:txBody>
      </p:sp>
      <p:sp>
        <p:nvSpPr>
          <p:cNvPr id="15" name="Ellipszis 14"/>
          <p:cNvSpPr/>
          <p:nvPr/>
        </p:nvSpPr>
        <p:spPr>
          <a:xfrm>
            <a:off x="3233057" y="4963887"/>
            <a:ext cx="1992086" cy="1055914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/>
              <a:t>Karbantartás</a:t>
            </a:r>
          </a:p>
        </p:txBody>
      </p:sp>
      <p:sp>
        <p:nvSpPr>
          <p:cNvPr id="16" name="Ellipszis 15"/>
          <p:cNvSpPr/>
          <p:nvPr/>
        </p:nvSpPr>
        <p:spPr>
          <a:xfrm>
            <a:off x="4648200" y="5529944"/>
            <a:ext cx="1992086" cy="1055914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Tervezés</a:t>
            </a:r>
          </a:p>
        </p:txBody>
      </p:sp>
      <p:sp>
        <p:nvSpPr>
          <p:cNvPr id="17" name="Ellipszis 16"/>
          <p:cNvSpPr/>
          <p:nvPr/>
        </p:nvSpPr>
        <p:spPr>
          <a:xfrm>
            <a:off x="4735285" y="2296888"/>
            <a:ext cx="1992086" cy="10559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K+F</a:t>
            </a:r>
          </a:p>
        </p:txBody>
      </p:sp>
      <p:sp>
        <p:nvSpPr>
          <p:cNvPr id="18" name="Ellipszis 17"/>
          <p:cNvSpPr/>
          <p:nvPr/>
        </p:nvSpPr>
        <p:spPr>
          <a:xfrm>
            <a:off x="5791200" y="4876802"/>
            <a:ext cx="1992086" cy="1055914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Ellenőrzés</a:t>
            </a:r>
          </a:p>
        </p:txBody>
      </p:sp>
      <p:sp>
        <p:nvSpPr>
          <p:cNvPr id="19" name="Ellipszis 18"/>
          <p:cNvSpPr/>
          <p:nvPr/>
        </p:nvSpPr>
        <p:spPr>
          <a:xfrm>
            <a:off x="7151914" y="5497287"/>
            <a:ext cx="1992086" cy="1055914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obbra nyíl 4"/>
          <p:cNvSpPr/>
          <p:nvPr/>
        </p:nvSpPr>
        <p:spPr>
          <a:xfrm>
            <a:off x="1524000" y="4397831"/>
            <a:ext cx="6455228" cy="1915885"/>
          </a:xfrm>
          <a:prstGeom prst="rightArrow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Számbavétel</a:t>
            </a: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Vállalati folyamatok</a:t>
            </a:r>
          </a:p>
        </p:txBody>
      </p:sp>
      <p:sp>
        <p:nvSpPr>
          <p:cNvPr id="4" name="Jobbra nyíl 3"/>
          <p:cNvSpPr/>
          <p:nvPr/>
        </p:nvSpPr>
        <p:spPr>
          <a:xfrm>
            <a:off x="1197430" y="3135085"/>
            <a:ext cx="6455228" cy="1915885"/>
          </a:xfrm>
          <a:prstGeom prst="rightArrow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Végrehajtás</a:t>
            </a:r>
          </a:p>
        </p:txBody>
      </p:sp>
      <p:sp>
        <p:nvSpPr>
          <p:cNvPr id="6" name="Jobbra nyíl 5"/>
          <p:cNvSpPr/>
          <p:nvPr/>
        </p:nvSpPr>
        <p:spPr>
          <a:xfrm>
            <a:off x="794656" y="1915885"/>
            <a:ext cx="6455228" cy="1915885"/>
          </a:xfrm>
          <a:prstGeom prst="rightArrow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Tervezés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Irányítási folyamatok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a)	</a:t>
            </a:r>
            <a:r>
              <a:rPr lang="hu-HU" sz="2000" dirty="0" err="1"/>
              <a:t>A</a:t>
            </a:r>
            <a:r>
              <a:rPr lang="hu-HU" sz="2000" dirty="0"/>
              <a:t> vállalat jövőjét meghatározó folyamatok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		- vállalati gazdálkodás tervezése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		- fejlesztés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hu-HU" sz="2000" dirty="0"/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b)	A vállalat rövid távú feladatainak meghatározása és a teljesítés vezénylése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		- kereskedelem vállalkozás-értékesítés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		- termelésirányítás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hu-HU" sz="2000" dirty="0"/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c)	A végrehajtandó feladatok termelési feltételeinek biztosítása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		- munkaerő-ellátás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	 	- raktározható készlet ellátás (anyagellátás)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		- eszközellátás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		- nem raktározható készlet ellátás (energiaellátás)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hu-HU" sz="2000" dirty="0"/>
              <a:t>		- pénz- és hitelgazdálkodás.</a:t>
            </a:r>
          </a:p>
          <a:p>
            <a:endParaRPr lang="hu-HU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sz="2000" dirty="0"/>
              <a:t>Az a gazdasági tevékenység, amelynek során az ember elsajátítja (kitermeli) a természet javait, majd alkalmassá teszi (átalakítja) azokat a szükségletei szerint, és eljuttatja a fogyasztóhoz (szállítja, eladja). A termelés fogalmába, az anyagi javak előállításán kívül beletartozik a csomagolás, raktározás, a javító, karbantartó tevékenység is, továbbá azok a természeti folyamatok, amelyek szükségesek egy-egy termék létrejöttéhez, s amelyek az ember ellenőrzésével zajlanak (pl. a növény növekedése, a gyümölcs érése, a beton megszilárdulása, a must erjedése). A termelés fogalma tehát magában foglalja a használati értéket előállító munkát, a termelő jellegű szolgáltatást és a természeti folyamatokat.</a:t>
            </a:r>
          </a:p>
          <a:p>
            <a:pPr algn="r">
              <a:buNone/>
            </a:pPr>
            <a:r>
              <a:rPr lang="hu-HU" sz="2000" i="1" dirty="0"/>
              <a:t>(Kislexikon)</a:t>
            </a:r>
          </a:p>
          <a:p>
            <a:pPr algn="just"/>
            <a:r>
              <a:rPr lang="hu-HU" sz="2000" dirty="0"/>
              <a:t> A termelési tényezők, inputok (a munkaerő, a </a:t>
            </a:r>
            <a:r>
              <a:rPr lang="hu-HU" sz="2000" dirty="0" err="1"/>
              <a:t>tőkejavak</a:t>
            </a:r>
            <a:r>
              <a:rPr lang="hu-HU" sz="2000" dirty="0"/>
              <a:t> és a föld) más javakká (kibocsátássá, outputtá) történő átalakítása.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</a:t>
            </a:r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</p:nvPr>
        </p:nvGraphicFramePr>
        <p:xfrm>
          <a:off x="404949" y="2135777"/>
          <a:ext cx="822960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Rendszer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Komponens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Átalakítás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Kimenet (eredmény)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Fém-megmunkáló vállalat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Acéllemez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Vágó, hegesztő gépek és munkások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Darabolás, hajlítás, hegesztés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Lemez-szekrény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Étterem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Éhes vendég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Élelmiszer, személyzet, környezet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Főzés,</a:t>
                      </a:r>
                      <a:r>
                        <a:rPr lang="hu-HU" sz="1600" baseline="0" dirty="0"/>
                        <a:t> kiszolgálás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Jóllakott vendég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Egyetem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Felvett hallgató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Tanár, előadó,</a:t>
                      </a:r>
                      <a:r>
                        <a:rPr lang="hu-HU" sz="1600" baseline="0" dirty="0"/>
                        <a:t> jegyzet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Oktatás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Diplomás személy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Raktár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Raktározandó áru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Tároló hely, mozgatógépek, személyzet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Raktározás, anyagmozgatás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Megfelelően</a:t>
                      </a:r>
                      <a:r>
                        <a:rPr lang="hu-HU" sz="1600" baseline="0" dirty="0"/>
                        <a:t> kiszállított áru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107572" y="110705"/>
            <a:ext cx="8229600" cy="1143000"/>
          </a:xfrm>
        </p:spPr>
        <p:txBody>
          <a:bodyPr>
            <a:normAutofit/>
          </a:bodyPr>
          <a:lstStyle/>
          <a:p>
            <a:r>
              <a:rPr lang="hu-HU" dirty="0"/>
              <a:t>Termelés- és szolgáltatás-menedzsment</a:t>
            </a:r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</p:nvPr>
        </p:nvGraphicFramePr>
        <p:xfrm>
          <a:off x="0" y="2917371"/>
          <a:ext cx="8229600" cy="202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hu-HU" dirty="0"/>
                        <a:t>Nem-működési folyamatok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u-HU" dirty="0" err="1">
                          <a:solidFill>
                            <a:schemeClr val="bg1"/>
                          </a:solidFill>
                        </a:rPr>
                        <a:t>Operations</a:t>
                      </a:r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 and </a:t>
                      </a:r>
                      <a:r>
                        <a:rPr lang="hu-HU" dirty="0" err="1">
                          <a:solidFill>
                            <a:schemeClr val="bg1"/>
                          </a:solidFill>
                        </a:rPr>
                        <a:t>process</a:t>
                      </a:r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 management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hu-HU" i="1" dirty="0"/>
                        <a:t>Egyéb, nem mag-folyamatok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i="1" dirty="0" err="1"/>
                        <a:t>Operations</a:t>
                      </a:r>
                      <a:r>
                        <a:rPr lang="hu-HU" i="1" dirty="0"/>
                        <a:t> management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hu-HU" dirty="0"/>
                        <a:t>Mag-folyamatok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Production</a:t>
                      </a:r>
                      <a:r>
                        <a:rPr lang="hu-HU" dirty="0"/>
                        <a:t>/</a:t>
                      </a:r>
                      <a:r>
                        <a:rPr lang="hu-HU" dirty="0" err="1"/>
                        <a:t>manufacuring</a:t>
                      </a:r>
                      <a:r>
                        <a:rPr lang="hu-HU" dirty="0"/>
                        <a:t> management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Operations</a:t>
                      </a:r>
                      <a:r>
                        <a:rPr lang="hu-HU" dirty="0"/>
                        <a:t> management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Termelők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Szolgáltatók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Alapfogalmak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b="1" dirty="0"/>
              <a:t>Termelőrendszer</a:t>
            </a:r>
            <a:r>
              <a:rPr lang="hu-HU" dirty="0"/>
              <a:t>: erőforrások olyan halmaza, amelyeknek feladata egy bemenő erőforrásrendszer átalakítása termékké vagy szolgáltatás transzformációs folyamat keretébe</a:t>
            </a:r>
          </a:p>
          <a:p>
            <a:pPr algn="just"/>
            <a:endParaRPr lang="hu-HU" dirty="0"/>
          </a:p>
          <a:p>
            <a:pPr algn="just"/>
            <a:r>
              <a:rPr lang="hu-HU" dirty="0"/>
              <a:t> </a:t>
            </a:r>
            <a:r>
              <a:rPr lang="hu-HU" b="1" dirty="0"/>
              <a:t>Termelés-tervezés</a:t>
            </a:r>
            <a:r>
              <a:rPr lang="hu-HU" dirty="0"/>
              <a:t>: a termeléshez szükséges emberi, gépi, anyagi valamint információ jellegű erőforrások mennyiségének térbeli és időbeli helyzetének meghatározása.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Alapfogalmak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96691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hu-HU" b="1" dirty="0"/>
              <a:t>Termelés</a:t>
            </a:r>
            <a:r>
              <a:rPr lang="hu-HU" dirty="0"/>
              <a:t> </a:t>
            </a:r>
            <a:r>
              <a:rPr lang="hu-HU" b="1" dirty="0"/>
              <a:t>szervezés</a:t>
            </a:r>
            <a:r>
              <a:rPr lang="hu-HU" dirty="0"/>
              <a:t>: a hatékony termeléshez szükséges emberi, gépi, anyagi valamint információs erőforrások szervezése</a:t>
            </a:r>
          </a:p>
          <a:p>
            <a:pPr algn="just"/>
            <a:endParaRPr lang="hu-HU" b="1" dirty="0"/>
          </a:p>
          <a:p>
            <a:pPr algn="just"/>
            <a:r>
              <a:rPr lang="hu-HU" b="1" dirty="0"/>
              <a:t>Termelésmenedzsment</a:t>
            </a:r>
            <a:r>
              <a:rPr lang="hu-HU" dirty="0"/>
              <a:t>: a termeléshez szükséges erőforrások menedzselése</a:t>
            </a:r>
          </a:p>
          <a:p>
            <a:pPr algn="just"/>
            <a:endParaRPr lang="hu-HU" dirty="0"/>
          </a:p>
          <a:p>
            <a:pPr algn="just"/>
            <a:r>
              <a:rPr lang="hu-HU" b="1" dirty="0"/>
              <a:t>Termelésirányítás</a:t>
            </a:r>
            <a:r>
              <a:rPr lang="hu-HU" dirty="0"/>
              <a:t>: a termelési feladatok megvalósításához szükséges emberi, gépi, anyagi valamint információ jellegű erőforrások operatív összerendelése.</a:t>
            </a:r>
          </a:p>
          <a:p>
            <a:pPr>
              <a:buNone/>
            </a:pPr>
            <a:br>
              <a:rPr lang="hu-HU" dirty="0"/>
            </a:br>
            <a:endParaRPr lang="hu-H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92935"/>
          </a:xfrm>
        </p:spPr>
        <p:txBody>
          <a:bodyPr/>
          <a:lstStyle/>
          <a:p>
            <a:r>
              <a:rPr lang="hu-HU" dirty="0"/>
              <a:t>TIR felépítése</a:t>
            </a:r>
          </a:p>
        </p:txBody>
      </p:sp>
      <p:graphicFrame>
        <p:nvGraphicFramePr>
          <p:cNvPr id="118786" name="Object 2"/>
          <p:cNvGraphicFramePr>
            <a:graphicFrameLocks noChangeAspect="1"/>
          </p:cNvGraphicFramePr>
          <p:nvPr/>
        </p:nvGraphicFramePr>
        <p:xfrm>
          <a:off x="250825" y="733425"/>
          <a:ext cx="8893175" cy="612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949600" imgH="7108200" progId="">
                  <p:embed/>
                </p:oleObj>
              </mc:Choice>
              <mc:Fallback>
                <p:oleObj name="VISIO" r:id="rId2" imgW="8949600" imgH="7108200" progId="">
                  <p:embed/>
                  <p:pic>
                    <p:nvPicPr>
                      <p:cNvPr id="1187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733425"/>
                        <a:ext cx="8893175" cy="612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Operatív TIR feladatstruktúrája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93763" indent="-893763">
              <a:lnSpc>
                <a:spcPct val="80000"/>
              </a:lnSpc>
              <a:spcAft>
                <a:spcPts val="1000"/>
              </a:spcAft>
              <a:buFontTx/>
              <a:buAutoNum type="arabicPeriod"/>
            </a:pPr>
            <a:r>
              <a:rPr lang="hu-HU" sz="2600" b="1" dirty="0"/>
              <a:t>	</a:t>
            </a:r>
            <a:r>
              <a:rPr lang="hu-HU" sz="2600" dirty="0"/>
              <a:t>Termelési feladat meghatározása</a:t>
            </a:r>
          </a:p>
          <a:p>
            <a:pPr marL="893763" indent="-893763">
              <a:lnSpc>
                <a:spcPct val="80000"/>
              </a:lnSpc>
              <a:spcAft>
                <a:spcPts val="1000"/>
              </a:spcAft>
              <a:buFontTx/>
              <a:buAutoNum type="arabicPeriod"/>
            </a:pPr>
            <a:r>
              <a:rPr lang="hu-HU" sz="2600" dirty="0"/>
              <a:t>	Termeléshez szükséges feltételek meghatározása (gyártás előkészítés)</a:t>
            </a:r>
          </a:p>
          <a:p>
            <a:pPr marL="893763" indent="-893763">
              <a:lnSpc>
                <a:spcPct val="80000"/>
              </a:lnSpc>
              <a:spcAft>
                <a:spcPts val="1000"/>
              </a:spcAft>
              <a:buFontTx/>
              <a:buAutoNum type="arabicPeriod"/>
            </a:pPr>
            <a:r>
              <a:rPr lang="hu-HU" sz="2600" dirty="0"/>
              <a:t>	Gazdálkodás (feltételek rendelkezésre állásának vizsgálata)</a:t>
            </a:r>
          </a:p>
          <a:p>
            <a:pPr marL="893763" indent="-893763">
              <a:lnSpc>
                <a:spcPct val="80000"/>
              </a:lnSpc>
              <a:spcAft>
                <a:spcPts val="1000"/>
              </a:spcAft>
              <a:buFontTx/>
              <a:buAutoNum type="arabicPeriod"/>
            </a:pPr>
            <a:r>
              <a:rPr lang="hu-HU" sz="2600" dirty="0"/>
              <a:t>	Határidőzés (termelés programozása, ütemezése)</a:t>
            </a:r>
          </a:p>
          <a:p>
            <a:pPr marL="893763" indent="-893763">
              <a:lnSpc>
                <a:spcPct val="80000"/>
              </a:lnSpc>
              <a:spcAft>
                <a:spcPts val="1000"/>
              </a:spcAft>
              <a:buFontTx/>
              <a:buAutoNum type="arabicPeriod"/>
            </a:pPr>
            <a:r>
              <a:rPr lang="hu-HU" sz="2600" dirty="0"/>
              <a:t>	Végrehajtás (termék előállítása)</a:t>
            </a:r>
          </a:p>
          <a:p>
            <a:pPr marL="893763" indent="-893763">
              <a:lnSpc>
                <a:spcPct val="80000"/>
              </a:lnSpc>
              <a:spcAft>
                <a:spcPts val="1000"/>
              </a:spcAft>
              <a:buFontTx/>
              <a:buAutoNum type="arabicPeriod"/>
            </a:pPr>
            <a:r>
              <a:rPr lang="hu-HU" sz="2600" dirty="0"/>
              <a:t>	Számbavétel, elszámolás, előrehaladás, ellenőrzés</a:t>
            </a:r>
          </a:p>
          <a:p>
            <a:pPr marL="893763" indent="-893763">
              <a:lnSpc>
                <a:spcPct val="80000"/>
              </a:lnSpc>
              <a:spcAft>
                <a:spcPts val="1000"/>
              </a:spcAft>
              <a:buFontTx/>
              <a:buAutoNum type="arabicPeriod"/>
            </a:pPr>
            <a:r>
              <a:rPr lang="hu-HU" sz="2600" dirty="0"/>
              <a:t>Zavarelhárítás (termelés közben keletkező problémák kezelése)</a:t>
            </a:r>
          </a:p>
          <a:p>
            <a:endParaRPr lang="hu-HU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Operatív TIR időstruktúrája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708879"/>
            <a:ext cx="8229600" cy="4417284"/>
          </a:xfrm>
        </p:spPr>
        <p:txBody>
          <a:bodyPr/>
          <a:lstStyle/>
          <a:p>
            <a:pPr marL="893763" indent="-893763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hu-HU" dirty="0"/>
              <a:t>Termelési terv (éves előirányzat)</a:t>
            </a:r>
          </a:p>
          <a:p>
            <a:pPr marL="893763" indent="-893763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hu-HU" dirty="0"/>
              <a:t>Rendelés elbírálás</a:t>
            </a:r>
          </a:p>
          <a:p>
            <a:pPr marL="893763" indent="-893763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hu-HU" dirty="0"/>
              <a:t>Durva program (1 hónap) anyagbeszerzési 	előrejelzés</a:t>
            </a:r>
          </a:p>
          <a:p>
            <a:pPr marL="893763" indent="-893763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hu-HU" dirty="0"/>
              <a:t>Finom program (1 hetes program, amely 1+4 nap gördülő módon)</a:t>
            </a:r>
          </a:p>
          <a:p>
            <a:pPr marL="893763" indent="-893763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hu-HU" dirty="0"/>
              <a:t>Munkaadagolás, ütemezés (napi, műszak program).</a:t>
            </a:r>
          </a:p>
          <a:p>
            <a:pPr marL="893763" indent="-893763">
              <a:lnSpc>
                <a:spcPct val="90000"/>
              </a:lnSpc>
              <a:spcAft>
                <a:spcPts val="500"/>
              </a:spcAft>
              <a:buFontTx/>
              <a:buNone/>
            </a:pPr>
            <a:endParaRPr lang="hu-HU" sz="3200" b="1" dirty="0"/>
          </a:p>
          <a:p>
            <a:pPr>
              <a:spcAft>
                <a:spcPts val="500"/>
              </a:spcAft>
              <a:buNone/>
            </a:pPr>
            <a:endParaRPr lang="hu-HU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Termelésmenedzsment fejlődése </a:t>
            </a:r>
            <a:r>
              <a:rPr lang="hu-HU" sz="2200" dirty="0"/>
              <a:t>(Koltai alapján)</a:t>
            </a:r>
            <a:endParaRPr lang="hu-HU" dirty="0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522515" y="1540692"/>
          <a:ext cx="7903028" cy="488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1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Év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Esemény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Személy, ország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Tudományos menedzsment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Taylor, 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Mozdulatelemzés, ipari</a:t>
                      </a:r>
                      <a:r>
                        <a:rPr lang="hu-HU" baseline="0" dirty="0"/>
                        <a:t> pszichológia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Lillian</a:t>
                      </a:r>
                      <a:r>
                        <a:rPr lang="hu-HU" dirty="0"/>
                        <a:t> és </a:t>
                      </a:r>
                      <a:r>
                        <a:rPr lang="hu-HU" dirty="0" err="1"/>
                        <a:t>Gilbrecht</a:t>
                      </a:r>
                      <a:r>
                        <a:rPr lang="hu-HU" dirty="0"/>
                        <a:t>,</a:t>
                      </a:r>
                      <a:r>
                        <a:rPr lang="hu-HU" baseline="0" dirty="0"/>
                        <a:t> USA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Mozgó</a:t>
                      </a:r>
                      <a:r>
                        <a:rPr lang="hu-HU" baseline="0" dirty="0"/>
                        <a:t> szerelőszalag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Ford, 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Tevékenység ütemezés-vizsgálata</a:t>
                      </a:r>
                      <a:r>
                        <a:rPr lang="hu-HU" baseline="0" dirty="0"/>
                        <a:t> grafikusan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Gantt</a:t>
                      </a:r>
                      <a:r>
                        <a:rPr lang="hu-HU" dirty="0"/>
                        <a:t>, 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Optimális</a:t>
                      </a:r>
                      <a:r>
                        <a:rPr lang="hu-HU" baseline="0" dirty="0"/>
                        <a:t> gyártási/rendelési tételnagyság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Harris, 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Statisztikai minőségszabályozás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Shewhart</a:t>
                      </a:r>
                      <a:r>
                        <a:rPr lang="hu-HU" dirty="0"/>
                        <a:t>,</a:t>
                      </a:r>
                      <a:r>
                        <a:rPr lang="hu-HU" baseline="0" dirty="0"/>
                        <a:t> </a:t>
                      </a:r>
                      <a:r>
                        <a:rPr lang="hu-HU" baseline="0" dirty="0" err="1"/>
                        <a:t>Doge</a:t>
                      </a:r>
                      <a:r>
                        <a:rPr lang="hu-HU" baseline="0" dirty="0"/>
                        <a:t>, Romin, USA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1927-1933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Hawthorne</a:t>
                      </a:r>
                      <a:r>
                        <a:rPr lang="hu-HU" baseline="0" dirty="0"/>
                        <a:t> kísérletek (munkakörnyezet 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Mayo</a:t>
                      </a:r>
                      <a:r>
                        <a:rPr lang="hu-HU" baseline="0" dirty="0"/>
                        <a:t>, USA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Munkafolyamatok tevékenységeinek statisztikai elemzése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Tippett</a:t>
                      </a:r>
                      <a:r>
                        <a:rPr lang="hu-HU" dirty="0"/>
                        <a:t>,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Komplex rendszerek vizsgálata (</a:t>
                      </a:r>
                      <a:r>
                        <a:rPr lang="hu-HU" dirty="0" err="1"/>
                        <a:t>op.kut</a:t>
                      </a:r>
                      <a:r>
                        <a:rPr lang="hu-HU" dirty="0"/>
                        <a:t>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Szimplex</a:t>
                      </a:r>
                      <a:r>
                        <a:rPr lang="hu-HU" baseline="0" dirty="0"/>
                        <a:t> módszer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Dantzig</a:t>
                      </a:r>
                      <a:r>
                        <a:rPr lang="hu-HU" dirty="0"/>
                        <a:t>,</a:t>
                      </a:r>
                      <a:r>
                        <a:rPr lang="hu-HU" baseline="0" dirty="0"/>
                        <a:t> USA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Termelésmenedzsment fejlődése </a:t>
            </a:r>
            <a:r>
              <a:rPr lang="hu-HU" sz="2200" dirty="0"/>
              <a:t>(Koltai alapján)</a:t>
            </a:r>
            <a:endParaRPr lang="hu-HU" dirty="0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613955" y="2050143"/>
          <a:ext cx="790302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1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Év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Esemény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Személy, ország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1950-1970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További operációkutatási módszerek fejlesztése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Világszerte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1970-es évek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Orliczky</a:t>
                      </a:r>
                      <a:r>
                        <a:rPr lang="hu-HU" dirty="0"/>
                        <a:t>, </a:t>
                      </a:r>
                      <a:r>
                        <a:rPr lang="hu-HU" dirty="0" err="1"/>
                        <a:t>Wight</a:t>
                      </a:r>
                      <a:r>
                        <a:rPr lang="hu-HU" dirty="0"/>
                        <a:t>, 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1980-as évek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3 betűsök: TQM, JIT, CIM, CAD,</a:t>
                      </a:r>
                      <a:r>
                        <a:rPr lang="hu-HU" baseline="0" dirty="0"/>
                        <a:t> CAM, TPS stb..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Japán és 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1990-es évek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Korszerű termelésszervezés, szolgáltató rendszerek, operációkutatás mindennapossá válása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2000-es évek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Termelési</a:t>
                      </a:r>
                      <a:r>
                        <a:rPr lang="hu-HU" baseline="0" dirty="0"/>
                        <a:t> rendszerek szimulációja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657</TotalTime>
  <Words>698</Words>
  <Application>Microsoft Office PowerPoint</Application>
  <PresentationFormat>Diavetítés a képernyőre (4:3 oldalarány)</PresentationFormat>
  <Paragraphs>158</Paragraphs>
  <Slides>14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Office-téma</vt:lpstr>
      <vt:lpstr>VISIO</vt:lpstr>
      <vt:lpstr>PowerPoint-bemutató</vt:lpstr>
      <vt:lpstr>Vállalati folyamatok</vt:lpstr>
      <vt:lpstr>Vállalati folyamatok</vt:lpstr>
      <vt:lpstr>Irányítási folyamatok</vt:lpstr>
      <vt:lpstr>Termelés</vt:lpstr>
      <vt:lpstr>Termelés</vt:lpstr>
      <vt:lpstr>Termelés- és szolgáltatás-menedzsment</vt:lpstr>
      <vt:lpstr>Alapfogalmak</vt:lpstr>
      <vt:lpstr>Alapfogalmak</vt:lpstr>
      <vt:lpstr>TIR felépítése</vt:lpstr>
      <vt:lpstr>Operatív TIR feladatstruktúrája</vt:lpstr>
      <vt:lpstr>Operatív TIR időstruktúrája</vt:lpstr>
      <vt:lpstr>Termelésmenedzsment fejlődése (Koltai alapján)</vt:lpstr>
      <vt:lpstr>Termelésmenedzsment fejlődése (Koltai alapján)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81</cp:revision>
  <dcterms:created xsi:type="dcterms:W3CDTF">2015-07-30T19:30:28Z</dcterms:created>
  <dcterms:modified xsi:type="dcterms:W3CDTF">2021-04-26T16:10:23Z</dcterms:modified>
</cp:coreProperties>
</file>