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9" r:id="rId2"/>
    <p:sldId id="260" r:id="rId3"/>
    <p:sldId id="262" r:id="rId4"/>
    <p:sldId id="261" r:id="rId5"/>
    <p:sldId id="263" r:id="rId6"/>
    <p:sldId id="264" r:id="rId7"/>
    <p:sldId id="268" r:id="rId8"/>
    <p:sldId id="269" r:id="rId9"/>
    <p:sldId id="270" r:id="rId10"/>
    <p:sldId id="271" r:id="rId11"/>
    <p:sldId id="265" r:id="rId12"/>
    <p:sldId id="266" r:id="rId13"/>
    <p:sldId id="267" r:id="rId14"/>
    <p:sldId id="272" r:id="rId15"/>
    <p:sldId id="273" r:id="rId16"/>
    <p:sldId id="278" r:id="rId17"/>
    <p:sldId id="279" r:id="rId18"/>
    <p:sldId id="280" r:id="rId19"/>
    <p:sldId id="281" r:id="rId20"/>
    <p:sldId id="277" r:id="rId21"/>
    <p:sldId id="282" r:id="rId22"/>
    <p:sldId id="283" r:id="rId23"/>
    <p:sldId id="284" r:id="rId24"/>
    <p:sldId id="285" r:id="rId25"/>
    <p:sldId id="286" r:id="rId26"/>
    <p:sldId id="287" r:id="rId27"/>
  </p:sldIdLst>
  <p:sldSz cx="9144000" cy="6858000" type="screen4x3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4249" autoAdjust="0"/>
  </p:normalViewPr>
  <p:slideViewPr>
    <p:cSldViewPr snapToGrid="0">
      <p:cViewPr varScale="1">
        <p:scale>
          <a:sx n="104" d="100"/>
          <a:sy n="104" d="100"/>
        </p:scale>
        <p:origin x="16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AF14-04B3-4F12-BDAB-056B885BFB88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B1FE6-2C46-4E21-8F97-2C7463EAA1E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759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9158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2114" y="365127"/>
            <a:ext cx="7383236" cy="766988"/>
          </a:xfrm>
        </p:spPr>
        <p:txBody>
          <a:bodyPr>
            <a:normAutofit/>
          </a:bodyPr>
          <a:lstStyle>
            <a:lvl1pPr>
              <a:defRPr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1pPr>
            <a:lvl2pPr marL="6858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2pPr>
            <a:lvl3pPr marL="11430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3pPr>
            <a:lvl4pPr marL="16002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4pPr>
            <a:lvl5pPr marL="2057400" indent="-228600">
              <a:buClr>
                <a:srgbClr val="899FB2"/>
              </a:buClr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hu-HU" dirty="0"/>
              <a:t>Mintaszöveg szerkesztése</a:t>
            </a:r>
          </a:p>
          <a:p>
            <a:pPr lvl="1"/>
            <a:r>
              <a:rPr lang="hu-HU" dirty="0"/>
              <a:t>Második szint</a:t>
            </a:r>
          </a:p>
          <a:p>
            <a:pPr lvl="2"/>
            <a:r>
              <a:rPr lang="hu-HU" dirty="0"/>
              <a:t>Harmadik szint</a:t>
            </a:r>
          </a:p>
          <a:p>
            <a:pPr lvl="3"/>
            <a:r>
              <a:rPr lang="hu-HU" dirty="0"/>
              <a:t>Negyedik szint</a:t>
            </a:r>
          </a:p>
          <a:p>
            <a:pPr lvl="4"/>
            <a:r>
              <a:rPr lang="hu-HU" dirty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179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184845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174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881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1332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78807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7821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26435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6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64534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E6249-B6F5-480E-9F9C-1860EA85840D}" type="datetimeFigureOut">
              <a:rPr lang="hu-HU" smtClean="0"/>
              <a:t>2021. 04. 26.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33E09E-42F6-4978-B364-E4A79396A57F}" type="slidenum">
              <a:rPr lang="hu-HU" smtClean="0"/>
              <a:t>‹#›</a:t>
            </a:fld>
            <a:endParaRPr lang="hu-HU"/>
          </a:p>
        </p:txBody>
      </p:sp>
      <p:sp>
        <p:nvSpPr>
          <p:cNvPr id="10" name="Rectangle 6"/>
          <p:cNvSpPr/>
          <p:nvPr userDrawn="1"/>
        </p:nvSpPr>
        <p:spPr>
          <a:xfrm>
            <a:off x="0" y="-1"/>
            <a:ext cx="9144000" cy="1422000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395168"/>
            <a:ext cx="9144000" cy="57150"/>
          </a:xfrm>
          <a:prstGeom prst="rect">
            <a:avLst/>
          </a:prstGeom>
        </p:spPr>
      </p:pic>
      <p:pic>
        <p:nvPicPr>
          <p:cNvPr id="7" name="Kép 6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351258" y="426153"/>
            <a:ext cx="554784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11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15.jpeg"/><Relationship Id="rId7" Type="http://schemas.openxmlformats.org/officeDocument/2006/relationships/image" Target="../media/image19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/>
          <p:nvPr/>
        </p:nvSpPr>
        <p:spPr>
          <a:xfrm>
            <a:off x="0" y="0"/>
            <a:ext cx="9144000" cy="4561344"/>
          </a:xfrm>
          <a:prstGeom prst="rect">
            <a:avLst/>
          </a:prstGeom>
          <a:solidFill>
            <a:srgbClr val="133F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61344"/>
            <a:ext cx="9144000" cy="57150"/>
          </a:xfrm>
          <a:prstGeom prst="rect">
            <a:avLst/>
          </a:prstGeom>
        </p:spPr>
      </p:pic>
      <p:pic>
        <p:nvPicPr>
          <p:cNvPr id="6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55" y="541288"/>
            <a:ext cx="3553211" cy="931285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218038" y="5102632"/>
            <a:ext cx="4707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b="1" dirty="0"/>
              <a:t>Dr. Berényi László</a:t>
            </a:r>
          </a:p>
          <a:p>
            <a:pPr algn="ctr"/>
            <a:endParaRPr lang="hu-HU" sz="2400" dirty="0"/>
          </a:p>
          <a:p>
            <a:pPr algn="ctr"/>
            <a:r>
              <a:rPr lang="hu-HU" sz="2400" dirty="0"/>
              <a:t>Vezetéstudományi Intézet</a:t>
            </a:r>
          </a:p>
        </p:txBody>
      </p:sp>
      <p:sp>
        <p:nvSpPr>
          <p:cNvPr id="7" name="Cím 1"/>
          <p:cNvSpPr txBox="1">
            <a:spLocks/>
          </p:cNvSpPr>
          <p:nvPr/>
        </p:nvSpPr>
        <p:spPr>
          <a:xfrm>
            <a:off x="1073499" y="3168793"/>
            <a:ext cx="7383236" cy="76698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u-HU" sz="4400" b="1" dirty="0">
                <a:solidFill>
                  <a:schemeClr val="bg1"/>
                </a:solidFill>
              </a:rPr>
              <a:t>Termelésmenedzsment alapjai</a:t>
            </a:r>
          </a:p>
          <a:p>
            <a:endParaRPr lang="hu-HU" sz="3600" dirty="0">
              <a:solidFill>
                <a:schemeClr val="bg1"/>
              </a:solidFill>
            </a:endParaRPr>
          </a:p>
          <a:p>
            <a:r>
              <a:rPr lang="hu-HU" sz="3600" dirty="0">
                <a:solidFill>
                  <a:schemeClr val="bg1"/>
                </a:solidFill>
              </a:rPr>
              <a:t>Karbantartás</a:t>
            </a:r>
          </a:p>
        </p:txBody>
      </p:sp>
    </p:spTree>
    <p:extLst>
      <p:ext uri="{BB962C8B-B14F-4D97-AF65-F5344CB8AC3E}">
        <p14:creationId xmlns:p14="http://schemas.microsoft.com/office/powerpoint/2010/main" val="20758846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Megbízhatóság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Megbízhatóság eredetileg hibamentes működés valószínűsége</a:t>
            </a:r>
          </a:p>
          <a:p>
            <a:r>
              <a:rPr lang="hu-HU" dirty="0"/>
              <a:t>Egyéb tényezők:</a:t>
            </a:r>
          </a:p>
          <a:p>
            <a:pPr lvl="1"/>
            <a:r>
              <a:rPr lang="hu-HU" dirty="0"/>
              <a:t>Karbantarthatóság, javíthatóság</a:t>
            </a:r>
          </a:p>
          <a:p>
            <a:pPr lvl="1"/>
            <a:r>
              <a:rPr lang="hu-HU" dirty="0"/>
              <a:t>Tartósság</a:t>
            </a:r>
          </a:p>
          <a:p>
            <a:pPr lvl="1"/>
            <a:r>
              <a:rPr lang="hu-HU" dirty="0"/>
              <a:t>Szállítás, tárolás tűrése</a:t>
            </a:r>
          </a:p>
          <a:p>
            <a:r>
              <a:rPr lang="hu-HU" dirty="0"/>
              <a:t>Használhatóság</a:t>
            </a:r>
          </a:p>
          <a:p>
            <a:pPr lvl="1"/>
            <a:r>
              <a:rPr lang="hu-HU" dirty="0"/>
              <a:t>Megbízhatóság +</a:t>
            </a:r>
          </a:p>
          <a:p>
            <a:pPr lvl="1"/>
            <a:r>
              <a:rPr lang="hu-HU" dirty="0"/>
              <a:t>Karbantarthatóság + </a:t>
            </a:r>
          </a:p>
          <a:p>
            <a:pPr lvl="1"/>
            <a:r>
              <a:rPr lang="hu-HU" dirty="0"/>
              <a:t>Karbantartás-ellátás képessége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Meghibásodás</a:t>
            </a:r>
          </a:p>
        </p:txBody>
      </p:sp>
      <p:sp>
        <p:nvSpPr>
          <p:cNvPr id="4" name="Lekerekített téglalap 3"/>
          <p:cNvSpPr/>
          <p:nvPr/>
        </p:nvSpPr>
        <p:spPr>
          <a:xfrm>
            <a:off x="653143" y="1959429"/>
            <a:ext cx="2365828" cy="1088571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latin typeface="+mj-lt"/>
              </a:rPr>
              <a:t>Működő állapot</a:t>
            </a:r>
          </a:p>
        </p:txBody>
      </p:sp>
      <p:sp>
        <p:nvSpPr>
          <p:cNvPr id="5" name="Lekerekített téglalap 4"/>
          <p:cNvSpPr/>
          <p:nvPr/>
        </p:nvSpPr>
        <p:spPr>
          <a:xfrm>
            <a:off x="5682343" y="4550229"/>
            <a:ext cx="2365828" cy="1088571"/>
          </a:xfrm>
          <a:prstGeom prst="round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>
                <a:latin typeface="+mj-lt"/>
              </a:rPr>
              <a:t>Hiba-állapot</a:t>
            </a:r>
          </a:p>
        </p:txBody>
      </p:sp>
      <p:cxnSp>
        <p:nvCxnSpPr>
          <p:cNvPr id="7" name="Szögletes összekötő 6"/>
          <p:cNvCxnSpPr>
            <a:stCxn id="4" idx="3"/>
            <a:endCxn id="5" idx="1"/>
          </p:cNvCxnSpPr>
          <p:nvPr/>
        </p:nvCxnSpPr>
        <p:spPr>
          <a:xfrm>
            <a:off x="3018971" y="2503715"/>
            <a:ext cx="2663372" cy="259080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/>
          <p:cNvSpPr txBox="1"/>
          <p:nvPr/>
        </p:nvSpPr>
        <p:spPr>
          <a:xfrm>
            <a:off x="4630057" y="3062514"/>
            <a:ext cx="30334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400" dirty="0">
                <a:latin typeface="+mj-lt"/>
              </a:rPr>
              <a:t>meghibásodás</a:t>
            </a:r>
            <a:endParaRPr lang="hu-HU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Meghibásodás okai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2046514"/>
            <a:ext cx="8229600" cy="3774849"/>
          </a:xfrm>
        </p:spPr>
        <p:txBody>
          <a:bodyPr/>
          <a:lstStyle/>
          <a:p>
            <a:r>
              <a:rPr lang="hu-HU" dirty="0"/>
              <a:t>Meghibásodás túlterhelés következtében</a:t>
            </a:r>
          </a:p>
          <a:p>
            <a:endParaRPr lang="hu-HU" dirty="0"/>
          </a:p>
          <a:p>
            <a:r>
              <a:rPr lang="hu-HU" dirty="0"/>
              <a:t>Függő meghibásodás</a:t>
            </a:r>
          </a:p>
          <a:p>
            <a:endParaRPr lang="hu-HU" dirty="0"/>
          </a:p>
          <a:p>
            <a:r>
              <a:rPr lang="hu-HU" dirty="0"/>
              <a:t>Gyártási eredetű meghibásodás</a:t>
            </a:r>
          </a:p>
          <a:p>
            <a:endParaRPr lang="hu-HU" dirty="0"/>
          </a:p>
          <a:p>
            <a:r>
              <a:rPr lang="hu-HU" dirty="0"/>
              <a:t>Üzemelési meghibásodás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943429"/>
          </a:xfrm>
        </p:spPr>
        <p:txBody>
          <a:bodyPr>
            <a:noAutofit/>
          </a:bodyPr>
          <a:lstStyle/>
          <a:p>
            <a:r>
              <a:rPr lang="hu-HU" sz="3600" dirty="0"/>
              <a:t>Meghibásodás további tipologizálása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Bekövetkezés időtartama szerint:</a:t>
            </a:r>
          </a:p>
          <a:p>
            <a:pPr lvl="1"/>
            <a:r>
              <a:rPr lang="hu-HU" dirty="0"/>
              <a:t>Váratlan meghibásodás</a:t>
            </a:r>
          </a:p>
          <a:p>
            <a:pPr lvl="1"/>
            <a:r>
              <a:rPr lang="hu-HU" dirty="0"/>
              <a:t>Fokozatos meghibásodás</a:t>
            </a:r>
          </a:p>
          <a:p>
            <a:endParaRPr lang="hu-HU" dirty="0"/>
          </a:p>
          <a:p>
            <a:r>
              <a:rPr lang="hu-HU" dirty="0"/>
              <a:t>Állapot-vesztés mértéke szerint:</a:t>
            </a:r>
          </a:p>
          <a:p>
            <a:pPr lvl="1"/>
            <a:r>
              <a:rPr lang="hu-HU" dirty="0"/>
              <a:t>Teljes meghibásodás</a:t>
            </a:r>
          </a:p>
          <a:p>
            <a:pPr lvl="1"/>
            <a:r>
              <a:rPr lang="hu-HU" dirty="0"/>
              <a:t>Részleges meghibásodás</a:t>
            </a:r>
          </a:p>
          <a:p>
            <a:pPr lvl="1"/>
            <a:r>
              <a:rPr lang="hu-HU" dirty="0"/>
              <a:t>Katasztrofális meghibásodás (váratlan és teljes)</a:t>
            </a:r>
          </a:p>
          <a:p>
            <a:pPr lvl="1"/>
            <a:r>
              <a:rPr lang="hu-HU" dirty="0"/>
              <a:t>Degradációs meghibásodás (fokozatos és részleges)</a:t>
            </a:r>
          </a:p>
          <a:p>
            <a:pPr>
              <a:buNone/>
            </a:pPr>
            <a:endParaRPr lang="hu-HU" dirty="0"/>
          </a:p>
          <a:p>
            <a:endParaRPr lang="hu-H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48327" y="209322"/>
            <a:ext cx="8229600" cy="943429"/>
          </a:xfrm>
        </p:spPr>
        <p:txBody>
          <a:bodyPr>
            <a:noAutofit/>
          </a:bodyPr>
          <a:lstStyle/>
          <a:p>
            <a:r>
              <a:rPr lang="hu-HU" sz="2800" dirty="0"/>
              <a:t>Meghibásodás további tipologizálása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Bekövetkezési szakaszok szerint:</a:t>
            </a:r>
          </a:p>
          <a:p>
            <a:pPr lvl="1"/>
            <a:r>
              <a:rPr lang="hu-HU" dirty="0"/>
              <a:t>Korai szakasz</a:t>
            </a:r>
          </a:p>
          <a:p>
            <a:pPr lvl="1"/>
            <a:r>
              <a:rPr lang="hu-HU" dirty="0"/>
              <a:t>Állandó meghibásodási ráta szakasz</a:t>
            </a:r>
          </a:p>
          <a:p>
            <a:pPr lvl="1"/>
            <a:r>
              <a:rPr lang="hu-HU" dirty="0"/>
              <a:t>Elhasználódási meghibásodási szakasz</a:t>
            </a:r>
          </a:p>
        </p:txBody>
      </p:sp>
      <p:pic>
        <p:nvPicPr>
          <p:cNvPr id="3074" name="Picture 2" descr="http://m.blog.hu/bk/bkvfigyelo/image/8_as_kiesett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62286" y="3479233"/>
            <a:ext cx="4074432" cy="305582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Eszközöket érő hatások</a:t>
            </a:r>
          </a:p>
        </p:txBody>
      </p:sp>
      <p:sp>
        <p:nvSpPr>
          <p:cNvPr id="4" name="Lekerekített téglalap 3"/>
          <p:cNvSpPr/>
          <p:nvPr/>
        </p:nvSpPr>
        <p:spPr>
          <a:xfrm>
            <a:off x="319315" y="1741714"/>
            <a:ext cx="2336800" cy="899886"/>
          </a:xfrm>
          <a:prstGeom prst="round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+mj-lt"/>
              </a:rPr>
              <a:t>Értékcsökkentő hatások</a:t>
            </a:r>
          </a:p>
        </p:txBody>
      </p:sp>
      <p:sp>
        <p:nvSpPr>
          <p:cNvPr id="5" name="Lekerekített téglalap 4"/>
          <p:cNvSpPr/>
          <p:nvPr/>
        </p:nvSpPr>
        <p:spPr>
          <a:xfrm>
            <a:off x="246743" y="4535715"/>
            <a:ext cx="2431143" cy="899886"/>
          </a:xfrm>
          <a:prstGeom prst="roundRect">
            <a:avLst/>
          </a:prstGeom>
          <a:solidFill>
            <a:schemeClr val="accent1">
              <a:lumMod val="60000"/>
              <a:lumOff val="40000"/>
              <a:alpha val="7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solidFill>
                  <a:schemeClr val="tx1"/>
                </a:solidFill>
                <a:latin typeface="+mj-lt"/>
              </a:rPr>
              <a:t>Károsodások</a:t>
            </a:r>
          </a:p>
        </p:txBody>
      </p:sp>
      <p:sp>
        <p:nvSpPr>
          <p:cNvPr id="6" name="Szövegdoboz 5"/>
          <p:cNvSpPr txBox="1"/>
          <p:nvPr/>
        </p:nvSpPr>
        <p:spPr>
          <a:xfrm>
            <a:off x="5225146" y="1727200"/>
            <a:ext cx="406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Fizikai-kémiai</a:t>
            </a:r>
          </a:p>
          <a:p>
            <a:r>
              <a:rPr lang="hu-HU" dirty="0">
                <a:latin typeface="+mj-lt"/>
              </a:rPr>
              <a:t>Környezeti</a:t>
            </a:r>
          </a:p>
          <a:p>
            <a:r>
              <a:rPr lang="hu-HU" dirty="0">
                <a:latin typeface="+mj-lt"/>
              </a:rPr>
              <a:t>Emberekhez kapcsolódó (avulás)</a:t>
            </a:r>
          </a:p>
        </p:txBody>
      </p:sp>
      <p:sp>
        <p:nvSpPr>
          <p:cNvPr id="7" name="Lekerekített téglalap 6"/>
          <p:cNvSpPr/>
          <p:nvPr/>
        </p:nvSpPr>
        <p:spPr>
          <a:xfrm>
            <a:off x="2772229" y="3468916"/>
            <a:ext cx="2322286" cy="812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latin typeface="+mj-lt"/>
              </a:rPr>
              <a:t>Öregedés, elhasználódás</a:t>
            </a:r>
          </a:p>
        </p:txBody>
      </p:sp>
      <p:sp>
        <p:nvSpPr>
          <p:cNvPr id="8" name="Lekerekített téglalap 7"/>
          <p:cNvSpPr/>
          <p:nvPr/>
        </p:nvSpPr>
        <p:spPr>
          <a:xfrm>
            <a:off x="2779486" y="4564745"/>
            <a:ext cx="2322286" cy="812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latin typeface="+mj-lt"/>
              </a:rPr>
              <a:t>Élőlények, természet</a:t>
            </a:r>
          </a:p>
        </p:txBody>
      </p:sp>
      <p:sp>
        <p:nvSpPr>
          <p:cNvPr id="9" name="Lekerekített téglalap 8"/>
          <p:cNvSpPr/>
          <p:nvPr/>
        </p:nvSpPr>
        <p:spPr>
          <a:xfrm>
            <a:off x="2750457" y="5696859"/>
            <a:ext cx="2322286" cy="8128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b="1" dirty="0">
                <a:latin typeface="+mj-lt"/>
              </a:rPr>
              <a:t>Túlterhelés</a:t>
            </a:r>
          </a:p>
        </p:txBody>
      </p:sp>
      <p:sp>
        <p:nvSpPr>
          <p:cNvPr id="10" name="Szövegdoboz 9"/>
          <p:cNvSpPr txBox="1"/>
          <p:nvPr/>
        </p:nvSpPr>
        <p:spPr>
          <a:xfrm>
            <a:off x="5283200" y="3323771"/>
            <a:ext cx="3323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Kopás</a:t>
            </a:r>
          </a:p>
          <a:p>
            <a:r>
              <a:rPr lang="hu-HU" dirty="0">
                <a:latin typeface="+mj-lt"/>
              </a:rPr>
              <a:t>Kifáradás</a:t>
            </a:r>
          </a:p>
          <a:p>
            <a:r>
              <a:rPr lang="hu-HU" dirty="0">
                <a:latin typeface="+mj-lt"/>
              </a:rPr>
              <a:t>Korrózió</a:t>
            </a:r>
          </a:p>
        </p:txBody>
      </p:sp>
      <p:sp>
        <p:nvSpPr>
          <p:cNvPr id="11" name="Szövegdoboz 10"/>
          <p:cNvSpPr txBox="1"/>
          <p:nvPr/>
        </p:nvSpPr>
        <p:spPr>
          <a:xfrm>
            <a:off x="5363029" y="4521200"/>
            <a:ext cx="33237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+mj-lt"/>
              </a:rPr>
              <a:t>Mikroorganizmusok</a:t>
            </a:r>
          </a:p>
          <a:p>
            <a:r>
              <a:rPr lang="hu-HU" dirty="0">
                <a:latin typeface="+mj-lt"/>
              </a:rPr>
              <a:t>Rágcsálók</a:t>
            </a:r>
          </a:p>
          <a:p>
            <a:r>
              <a:rPr lang="hu-HU" dirty="0">
                <a:latin typeface="+mj-lt"/>
              </a:rPr>
              <a:t>Természeti jelenségek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Eszközöket érő hatások</a:t>
            </a:r>
          </a:p>
        </p:txBody>
      </p:sp>
      <p:pic>
        <p:nvPicPr>
          <p:cNvPr id="22532" name="Picture 4" descr="http://m.blog.hu/va/vancello/image/2010october/moskvitch01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799" y="1454545"/>
            <a:ext cx="3055711" cy="20504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2" descr="http://kedvencszervizem.hu/wp-content/uploads/rozsdas_aut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0718" y="2913289"/>
            <a:ext cx="1905000" cy="117157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534" name="Picture 6" descr="http://2.bp.blogspot.com/_6Rc94tJNMG4/TCGLWSlhqFI/AAAAAAAAA0w/MU7slxv3fsc/s1600/P1270568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1199" y="4015582"/>
            <a:ext cx="3143703" cy="23577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536" name="Picture 8" descr="http://t2.gstatic.com/images?q=tbn:ANd9GcTj8pR9cS6gpxB9sBFWji6dLYyQAJzwo72qx3hC4HGwpKAVv8-h8w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90432" y="1492022"/>
            <a:ext cx="2628900" cy="174307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2538" name="Picture 10" descr="http://t0.gstatic.com/images?q=tbn:ANd9GcRbH5hdVMrhFcBkbKEWZ1WhQdGC0usg1Ht2tnctV3g7nMam0oOIjw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085975" y="4064000"/>
            <a:ext cx="3166072" cy="23714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Eszközöket érő hatások</a:t>
            </a:r>
          </a:p>
        </p:txBody>
      </p:sp>
      <p:pic>
        <p:nvPicPr>
          <p:cNvPr id="27650" name="Picture 2" descr="http://t2.gstatic.com/images?q=tbn:ANd9GcTjYj7pO5R61r5YA_59hqLhItagBL8IYHcYwT_9g-clMu-9Iy47tr-B0mKT1w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0660" y="1539874"/>
            <a:ext cx="2937585" cy="19435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652" name="Picture 4" descr="http://www.vasker.hu/images/stories/vizk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1061" y="1615847"/>
            <a:ext cx="3115620" cy="163199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654" name="Picture 6" descr="http://t0.gstatic.com/images?q=tbn:ANd9GcSg-lFQHiopJ1To5xS9L2kThUh6mbk9BkgAbgJnSegS5RZrcDf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58971" y="4041684"/>
            <a:ext cx="3343275" cy="22117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656" name="Picture 8" descr="http://automenedzser.hu/image.aspx?id=9c4fb5e7-87e0-454e-8451-43ab5e22d028&amp;view=4bd2eec3-08db-41df-9c0b-92b7475ac5a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00603" y="3821112"/>
            <a:ext cx="3810000" cy="24193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223818" y="199151"/>
            <a:ext cx="8229600" cy="1016000"/>
          </a:xfrm>
        </p:spPr>
        <p:txBody>
          <a:bodyPr/>
          <a:lstStyle/>
          <a:p>
            <a:r>
              <a:rPr lang="hu-HU" dirty="0"/>
              <a:t>Számítógép tisztítás</a:t>
            </a:r>
          </a:p>
        </p:txBody>
      </p:sp>
      <p:pic>
        <p:nvPicPr>
          <p:cNvPr id="28674" name="Picture 2" descr="http://t3.gstatic.com/images?q=tbn:ANd9GcRHGyoI8bjdlS7kbgozABFK2HogvqNOyVC-w0AHNvLcHLSenY0JHfZVqoSEA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1688" y="1429205"/>
            <a:ext cx="2369911" cy="17710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676" name="Picture 4" descr="http://images.philips.com/is/image/PhilipsConsumer/SVC3225G_10-GAL-global?wid=430&amp;hei=430&amp;$jpglarge$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63418" y="4004129"/>
            <a:ext cx="2480582" cy="248058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678" name="Picture 6" descr="http://www.e-szakuzlet.hu/pictures/hama_84170.jpg?PHPSESSID=4428d33a986b3148dd67f09d1cf4872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8775" y="4078513"/>
            <a:ext cx="2256064" cy="22560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680" name="Picture 8" descr="http://t2.gstatic.com/images?q=tbn:ANd9GcQ1_zv320iBSkHBOq1SwpyJ_nn_ExVLBF1tGfSYN3xGcXZ-v32M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296604" y="1569583"/>
            <a:ext cx="1440996" cy="192133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682" name="Picture 10" descr="http://t3.gstatic.com/images?q=tbn:ANd9GcTisD8TahnjG4qXfHoiYSUrhVLY8k3AfM289kZRVMnSol_P6F-0YQ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827690" y="2598146"/>
            <a:ext cx="1324882" cy="1261519"/>
          </a:xfrm>
          <a:prstGeom prst="rect">
            <a:avLst/>
          </a:prstGeom>
          <a:noFill/>
        </p:spPr>
      </p:pic>
      <p:pic>
        <p:nvPicPr>
          <p:cNvPr id="28684" name="Picture 12" descr="http://csubakka.hu/wp-content/uploads/2011/08/198_27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64201" y="4310743"/>
            <a:ext cx="2827049" cy="216875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686" name="Picture 14" descr="http://t1.gstatic.com/images?q=tbn:ANd9GcTPX7HQw9hSP1nbF7gAsLtdA9o2KuLu7F5eIp8Kf_9o2cPzDKK6kxOhpQI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90660" y="1438728"/>
            <a:ext cx="2667000" cy="8858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Üzemfenntartás</a:t>
            </a:r>
          </a:p>
        </p:txBody>
      </p:sp>
      <p:sp>
        <p:nvSpPr>
          <p:cNvPr id="4" name="Lekerekített téglalap 3"/>
          <p:cNvSpPr/>
          <p:nvPr/>
        </p:nvSpPr>
        <p:spPr>
          <a:xfrm>
            <a:off x="3120571" y="3687946"/>
            <a:ext cx="2757715" cy="1045029"/>
          </a:xfrm>
          <a:prstGeom prst="roundRect">
            <a:avLst/>
          </a:prstGeom>
          <a:blipFill>
            <a:blip r:embed="rId2" cstate="print"/>
            <a:tile tx="0" ty="0" sx="100000" sy="100000" flip="none" algn="tl"/>
          </a:blip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>
                <a:solidFill>
                  <a:schemeClr val="tx1"/>
                </a:solidFill>
              </a:rPr>
              <a:t>Üzemfenntartás </a:t>
            </a:r>
          </a:p>
          <a:p>
            <a:pPr algn="ctr"/>
            <a:r>
              <a:rPr lang="hu-HU" sz="2000" b="1" dirty="0">
                <a:solidFill>
                  <a:schemeClr val="tx1"/>
                </a:solidFill>
              </a:rPr>
              <a:t>területei</a:t>
            </a:r>
          </a:p>
        </p:txBody>
      </p:sp>
      <p:sp>
        <p:nvSpPr>
          <p:cNvPr id="5" name="Lekerekített téglalap 4"/>
          <p:cNvSpPr/>
          <p:nvPr/>
        </p:nvSpPr>
        <p:spPr>
          <a:xfrm>
            <a:off x="442686" y="1851888"/>
            <a:ext cx="2757715" cy="1045029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/>
              <a:t>Gépgazdálkodás</a:t>
            </a:r>
          </a:p>
        </p:txBody>
      </p:sp>
      <p:sp>
        <p:nvSpPr>
          <p:cNvPr id="6" name="Lekerekített téglalap 5"/>
          <p:cNvSpPr/>
          <p:nvPr/>
        </p:nvSpPr>
        <p:spPr>
          <a:xfrm>
            <a:off x="6030686" y="1750288"/>
            <a:ext cx="2757715" cy="1045029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/>
              <a:t>Karbantartás</a:t>
            </a:r>
          </a:p>
        </p:txBody>
      </p:sp>
      <p:sp>
        <p:nvSpPr>
          <p:cNvPr id="7" name="Lekerekített téglalap 6"/>
          <p:cNvSpPr/>
          <p:nvPr/>
        </p:nvSpPr>
        <p:spPr>
          <a:xfrm>
            <a:off x="653142" y="5516746"/>
            <a:ext cx="2757715" cy="1045029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/>
              <a:t>Korszerűsítés</a:t>
            </a:r>
          </a:p>
        </p:txBody>
      </p:sp>
      <p:sp>
        <p:nvSpPr>
          <p:cNvPr id="8" name="Lekerekített téglalap 7"/>
          <p:cNvSpPr/>
          <p:nvPr/>
        </p:nvSpPr>
        <p:spPr>
          <a:xfrm>
            <a:off x="5791200" y="5502232"/>
            <a:ext cx="2757715" cy="1045029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400" b="1" dirty="0"/>
              <a:t>Nyilvántartás</a:t>
            </a:r>
          </a:p>
        </p:txBody>
      </p:sp>
      <p:cxnSp>
        <p:nvCxnSpPr>
          <p:cNvPr id="14" name="Egyenes összekötő nyíllal 13"/>
          <p:cNvCxnSpPr/>
          <p:nvPr/>
        </p:nvCxnSpPr>
        <p:spPr>
          <a:xfrm rot="10800000">
            <a:off x="1683658" y="3107375"/>
            <a:ext cx="2569029" cy="304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/>
          <p:cNvCxnSpPr/>
          <p:nvPr/>
        </p:nvCxnSpPr>
        <p:spPr>
          <a:xfrm flipV="1">
            <a:off x="5167085" y="2947718"/>
            <a:ext cx="2235204" cy="39188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gyenes összekötő nyíllal 17"/>
          <p:cNvCxnSpPr/>
          <p:nvPr/>
        </p:nvCxnSpPr>
        <p:spPr>
          <a:xfrm rot="10800000" flipV="1">
            <a:off x="1973943" y="4979717"/>
            <a:ext cx="2148116" cy="3628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gyenes összekötő nyíllal 19"/>
          <p:cNvCxnSpPr/>
          <p:nvPr/>
        </p:nvCxnSpPr>
        <p:spPr>
          <a:xfrm>
            <a:off x="4905829" y="4950689"/>
            <a:ext cx="2322285" cy="2177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Karbantartás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hu-HU" sz="2400" dirty="0"/>
              <a:t>Magában foglalja a vizsgált egység mindenkori helyzetének megfelelően az összes olyan tevékenységet, amely révén </a:t>
            </a:r>
            <a:r>
              <a:rPr lang="hu-HU" sz="2400" b="1" dirty="0"/>
              <a:t>megőrizhető</a:t>
            </a:r>
            <a:r>
              <a:rPr lang="hu-HU" sz="2400" dirty="0"/>
              <a:t> (fenntartható)  illetve </a:t>
            </a:r>
            <a:r>
              <a:rPr lang="hu-HU" sz="2400" b="1" dirty="0"/>
              <a:t>helyreállítható</a:t>
            </a:r>
            <a:r>
              <a:rPr lang="hu-HU" sz="2400" dirty="0"/>
              <a:t> az előírt állapot, továbbá amelynek felhasználásával a tényleges állapot meghatározható, megítélhető, minősíthető.</a:t>
            </a:r>
          </a:p>
          <a:p>
            <a:pPr algn="just"/>
            <a:endParaRPr lang="hu-HU" sz="2400" dirty="0"/>
          </a:p>
          <a:p>
            <a:pPr algn="just">
              <a:buNone/>
            </a:pPr>
            <a:r>
              <a:rPr lang="hu-HU" sz="2400" dirty="0"/>
              <a:t>Intézkedések összessége, amelyek a kívánt állapot megóvására, helyreállítására, valamint a meglevő állapot megállapítására és megítélésére irányulnak.</a:t>
            </a:r>
          </a:p>
          <a:p>
            <a:pPr algn="just">
              <a:buNone/>
            </a:pPr>
            <a:r>
              <a:rPr lang="hu-HU" sz="2000" dirty="0"/>
              <a:t>	Az intézkedések: felülvizsgálat (ellenőrzés,  vizsgálat), gondozás 	(kezelés), helyreállítás (javítás), magukba foglalják a karbantartás 	céljainak a vállalkozás céljával való egyeztetését és a megfelelő 	karbantartási stratégia megállapítását is.</a:t>
            </a:r>
            <a:endParaRPr lang="hu-HU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Karbantartás</a:t>
            </a:r>
          </a:p>
        </p:txBody>
      </p:sp>
      <p:sp>
        <p:nvSpPr>
          <p:cNvPr id="4" name="Lekerekített téglalap 3"/>
          <p:cNvSpPr/>
          <p:nvPr/>
        </p:nvSpPr>
        <p:spPr>
          <a:xfrm>
            <a:off x="478971" y="1901376"/>
            <a:ext cx="2743200" cy="8128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>
                <a:solidFill>
                  <a:schemeClr val="tx1"/>
                </a:solidFill>
                <a:latin typeface="+mj-lt"/>
              </a:rPr>
              <a:t>Kezelés és gondozás</a:t>
            </a:r>
          </a:p>
        </p:txBody>
      </p:sp>
      <p:sp>
        <p:nvSpPr>
          <p:cNvPr id="5" name="Lekerekített téglalap 4"/>
          <p:cNvSpPr/>
          <p:nvPr/>
        </p:nvSpPr>
        <p:spPr>
          <a:xfrm>
            <a:off x="1792514" y="3592286"/>
            <a:ext cx="2743200" cy="8128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>
                <a:solidFill>
                  <a:schemeClr val="tx1"/>
                </a:solidFill>
                <a:latin typeface="+mj-lt"/>
              </a:rPr>
              <a:t>Felügyelet</a:t>
            </a:r>
          </a:p>
        </p:txBody>
      </p:sp>
      <p:sp>
        <p:nvSpPr>
          <p:cNvPr id="6" name="Lekerekített téglalap 5"/>
          <p:cNvSpPr/>
          <p:nvPr/>
        </p:nvSpPr>
        <p:spPr>
          <a:xfrm>
            <a:off x="210456" y="5348514"/>
            <a:ext cx="2743200" cy="812800"/>
          </a:xfrm>
          <a:prstGeom prst="roundRect">
            <a:avLst/>
          </a:prstGeom>
          <a:ln>
            <a:noFill/>
          </a:ln>
          <a:effectLst>
            <a:outerShdw blurRad="127000" dist="38100" dir="2700000" algn="ctr">
              <a:srgbClr val="000000">
                <a:alpha val="45000"/>
              </a:srgbClr>
            </a:outerShdw>
          </a:effectLst>
          <a:scene3d>
            <a:camera prst="perspectiveFront" fov="2700000">
              <a:rot lat="20376000" lon="1938000" rev="20112001"/>
            </a:camera>
            <a:lightRig rig="soft" dir="t">
              <a:rot lat="0" lon="0" rev="0"/>
            </a:lightRig>
          </a:scene3d>
          <a:sp3d prstMaterial="translucentPowder">
            <a:bevelT w="203200" h="50800" prst="softRound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2000" b="1" dirty="0">
                <a:solidFill>
                  <a:schemeClr val="tx1"/>
                </a:solidFill>
                <a:latin typeface="+mj-lt"/>
              </a:rPr>
              <a:t>Helyreállítás, javítás</a:t>
            </a:r>
          </a:p>
        </p:txBody>
      </p:sp>
      <p:sp>
        <p:nvSpPr>
          <p:cNvPr id="7" name="Szövegdoboz 6"/>
          <p:cNvSpPr txBox="1"/>
          <p:nvPr/>
        </p:nvSpPr>
        <p:spPr>
          <a:xfrm>
            <a:off x="3889828" y="1494971"/>
            <a:ext cx="43397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61938" indent="-2619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Rendeltetésszerű használat</a:t>
            </a:r>
          </a:p>
          <a:p>
            <a:pPr marL="261938" indent="-2619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Beállítás</a:t>
            </a:r>
          </a:p>
          <a:p>
            <a:pPr marL="261938" indent="-2619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Tisztántartás</a:t>
            </a:r>
          </a:p>
          <a:p>
            <a:pPr marL="261938" indent="-2619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Kenés</a:t>
            </a:r>
          </a:p>
          <a:p>
            <a:pPr marL="261938" indent="-2619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Konzerválás</a:t>
            </a:r>
          </a:p>
        </p:txBody>
      </p:sp>
      <p:sp>
        <p:nvSpPr>
          <p:cNvPr id="8" name="Szövegdoboz 7"/>
          <p:cNvSpPr txBox="1"/>
          <p:nvPr/>
        </p:nvSpPr>
        <p:spPr>
          <a:xfrm>
            <a:off x="4804228" y="3461657"/>
            <a:ext cx="4339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619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Hatósági ellenőrző vizsgálatok</a:t>
            </a:r>
          </a:p>
          <a:p>
            <a:pPr indent="2619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Mérések</a:t>
            </a:r>
          </a:p>
          <a:p>
            <a:pPr indent="2619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Felügyelet, ellenőrzés</a:t>
            </a:r>
          </a:p>
        </p:txBody>
      </p:sp>
      <p:sp>
        <p:nvSpPr>
          <p:cNvPr id="9" name="Szövegdoboz 8"/>
          <p:cNvSpPr txBox="1"/>
          <p:nvPr/>
        </p:nvSpPr>
        <p:spPr>
          <a:xfrm>
            <a:off x="3331028" y="5275942"/>
            <a:ext cx="43397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3635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Különböző javítások</a:t>
            </a:r>
          </a:p>
          <a:p>
            <a:pPr indent="3635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Cserék</a:t>
            </a:r>
          </a:p>
          <a:p>
            <a:pPr indent="363538">
              <a:buFont typeface="Arial" pitchFamily="34" charset="0"/>
              <a:buChar char="•"/>
            </a:pPr>
            <a:r>
              <a:rPr lang="hu-HU" dirty="0">
                <a:latin typeface="+mj-lt"/>
              </a:rPr>
              <a:t>Felújítás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Karbantartási megközelítések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Meghibásodásig járatás</a:t>
            </a:r>
          </a:p>
          <a:p>
            <a:endParaRPr lang="hu-HU" dirty="0"/>
          </a:p>
          <a:p>
            <a:r>
              <a:rPr lang="hu-HU" dirty="0"/>
              <a:t>Meghatározott időnkénti karbantartás</a:t>
            </a:r>
          </a:p>
          <a:p>
            <a:r>
              <a:rPr lang="hu-HU" dirty="0"/>
              <a:t>Futás-teljesítményhez kötött karbantartás</a:t>
            </a:r>
          </a:p>
          <a:p>
            <a:endParaRPr lang="hu-HU" dirty="0"/>
          </a:p>
          <a:p>
            <a:r>
              <a:rPr lang="hu-HU" dirty="0"/>
              <a:t>Megelőző karbantartás (TMK)</a:t>
            </a:r>
          </a:p>
          <a:p>
            <a:pPr lvl="1"/>
            <a:r>
              <a:rPr lang="hu-HU" dirty="0"/>
              <a:t>Állapotfelmérés</a:t>
            </a:r>
          </a:p>
          <a:p>
            <a:pPr lvl="1"/>
            <a:r>
              <a:rPr lang="hu-HU" dirty="0"/>
              <a:t>Kisjavítás</a:t>
            </a:r>
          </a:p>
          <a:p>
            <a:pPr lvl="1"/>
            <a:r>
              <a:rPr lang="hu-HU" dirty="0"/>
              <a:t>Közepes javítás</a:t>
            </a:r>
          </a:p>
          <a:p>
            <a:pPr lvl="1"/>
            <a:r>
              <a:rPr lang="hu-HU" dirty="0"/>
              <a:t>Nagyjavítás</a:t>
            </a:r>
          </a:p>
          <a:p>
            <a:pPr lvl="1">
              <a:buNone/>
            </a:pPr>
            <a:endParaRPr lang="hu-H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500742" y="304803"/>
            <a:ext cx="8229600" cy="725716"/>
          </a:xfrm>
        </p:spPr>
        <p:txBody>
          <a:bodyPr>
            <a:noAutofit/>
          </a:bodyPr>
          <a:lstStyle/>
          <a:p>
            <a:r>
              <a:rPr lang="hu-HU" sz="3200" dirty="0"/>
              <a:t>Karbantartási megközelítések alkalmazása</a:t>
            </a:r>
          </a:p>
        </p:txBody>
      </p:sp>
      <p:graphicFrame>
        <p:nvGraphicFramePr>
          <p:cNvPr id="4" name="Tartalom helye 3"/>
          <p:cNvGraphicFramePr>
            <a:graphicFrameLocks noGrp="1"/>
          </p:cNvGraphicFramePr>
          <p:nvPr>
            <p:ph idx="1"/>
          </p:nvPr>
        </p:nvGraphicFramePr>
        <p:xfrm>
          <a:off x="297544" y="1121228"/>
          <a:ext cx="8846456" cy="5258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16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16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16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933"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Jellemző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Eseti</a:t>
                      </a:r>
                      <a:r>
                        <a:rPr lang="hu-HU" b="1" baseline="0" dirty="0"/>
                        <a:t> </a:t>
                      </a:r>
                    </a:p>
                    <a:p>
                      <a:pPr algn="ctr"/>
                      <a:r>
                        <a:rPr lang="hu-HU" b="1" baseline="0" dirty="0"/>
                        <a:t>(hibáig járatás)</a:t>
                      </a:r>
                      <a:endParaRPr lang="hu-H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Ciklikus</a:t>
                      </a:r>
                    </a:p>
                    <a:p>
                      <a:pPr algn="ctr"/>
                      <a:r>
                        <a:rPr lang="hu-HU" b="1" baseline="0" dirty="0"/>
                        <a:t>(idő, futás)</a:t>
                      </a:r>
                      <a:endParaRPr lang="hu-HU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hu-HU" b="1" dirty="0"/>
                        <a:t>Állapot szerinti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6076">
                <a:tc>
                  <a:txBody>
                    <a:bodyPr/>
                    <a:lstStyle/>
                    <a:p>
                      <a:r>
                        <a:rPr lang="hu-HU" b="1" dirty="0"/>
                        <a:t>Alkalmazási terület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Kis kár, magas szóródás a meghibásodásban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Nagy kiesés,</a:t>
                      </a:r>
                      <a:r>
                        <a:rPr lang="hu-HU" baseline="0" dirty="0"/>
                        <a:t> előkészítést igénylő karbantartás, állandó élettartamú elemek</a:t>
                      </a:r>
                      <a:endParaRPr lang="hu-H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Mérés</a:t>
                      </a:r>
                      <a:r>
                        <a:rPr lang="hu-HU" baseline="0" dirty="0"/>
                        <a:t> és adatgyűjtés lehetséges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933">
                <a:tc>
                  <a:txBody>
                    <a:bodyPr/>
                    <a:lstStyle/>
                    <a:p>
                      <a:r>
                        <a:rPr lang="hu-HU" b="1" dirty="0"/>
                        <a:t>Információ-igény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Gyors, azonnali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Pontos, előzetes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Állandó</a:t>
                      </a:r>
                      <a:r>
                        <a:rPr lang="hu-HU" baseline="0" dirty="0"/>
                        <a:t> információellátás</a:t>
                      </a:r>
                      <a:endParaRPr lang="hu-H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762">
                <a:tc>
                  <a:txBody>
                    <a:bodyPr/>
                    <a:lstStyle/>
                    <a:p>
                      <a:r>
                        <a:rPr lang="hu-HU" b="1" dirty="0"/>
                        <a:t>Szervezés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Gyors beavatkozás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Tervezett, ütemezett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Felkészülés, felügyelet szervezés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3590">
                <a:tc>
                  <a:txBody>
                    <a:bodyPr/>
                    <a:lstStyle/>
                    <a:p>
                      <a:r>
                        <a:rPr lang="hu-HU" b="1" dirty="0"/>
                        <a:t>Szervezete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Helyi, univerzális, szakképzet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Centralizált, külső lehet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Felügyelet-központú, műszer-igényes, képzettség fontos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564">
                <a:tc>
                  <a:txBody>
                    <a:bodyPr/>
                    <a:lstStyle/>
                    <a:p>
                      <a:r>
                        <a:rPr lang="hu-HU" b="1" dirty="0"/>
                        <a:t>Vezetés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Gyors döntések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Tervezés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u-HU" dirty="0"/>
                        <a:t>Stratégiai tervezés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914400" y="178125"/>
            <a:ext cx="8229600" cy="1143000"/>
          </a:xfrm>
        </p:spPr>
        <p:txBody>
          <a:bodyPr>
            <a:normAutofit/>
          </a:bodyPr>
          <a:lstStyle/>
          <a:p>
            <a:r>
              <a:rPr lang="hu-HU" dirty="0"/>
              <a:t>Karbantartási megközelítések fejlődése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846" y="2307774"/>
            <a:ext cx="8828556" cy="38902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Tervszerű Megelőző Karbantartás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u-HU" dirty="0"/>
              <a:t>TMK</a:t>
            </a:r>
          </a:p>
          <a:p>
            <a:r>
              <a:rPr lang="hu-HU" dirty="0" err="1"/>
              <a:t>Preventive</a:t>
            </a:r>
            <a:r>
              <a:rPr lang="hu-HU" dirty="0"/>
              <a:t> </a:t>
            </a:r>
            <a:r>
              <a:rPr lang="hu-HU" dirty="0" err="1"/>
              <a:t>Maintenance</a:t>
            </a:r>
            <a:r>
              <a:rPr lang="hu-HU" dirty="0"/>
              <a:t>, </a:t>
            </a:r>
            <a:r>
              <a:rPr lang="hu-HU" dirty="0" err="1"/>
              <a:t>Planned</a:t>
            </a:r>
            <a:r>
              <a:rPr lang="hu-HU" dirty="0"/>
              <a:t> </a:t>
            </a:r>
            <a:r>
              <a:rPr lang="hu-HU" dirty="0" err="1"/>
              <a:t>Maintenance</a:t>
            </a:r>
            <a:r>
              <a:rPr lang="hu-HU" dirty="0"/>
              <a:t>, PM</a:t>
            </a:r>
          </a:p>
          <a:p>
            <a:endParaRPr lang="hu-HU" dirty="0"/>
          </a:p>
          <a:p>
            <a:r>
              <a:rPr lang="hu-HU" dirty="0"/>
              <a:t>Lényege:</a:t>
            </a:r>
          </a:p>
          <a:p>
            <a:pPr lvl="1"/>
            <a:r>
              <a:rPr lang="hu-HU" dirty="0"/>
              <a:t>Tervezett időszakonként felülvizsgálati, javítási, csere munkákat elvégezni. Leállítás független a meghibásodások észlelésétől!</a:t>
            </a:r>
          </a:p>
          <a:p>
            <a:r>
              <a:rPr lang="hu-HU" dirty="0"/>
              <a:t>Cél:</a:t>
            </a:r>
          </a:p>
          <a:p>
            <a:pPr lvl="1"/>
            <a:r>
              <a:rPr lang="hu-HU" dirty="0"/>
              <a:t>Gazdaságosan elérni állandó és optimális üzembiztonságot, csökkenteni annak esélyét, hogy javítás előtt munkaképtelenség álljon be.</a:t>
            </a:r>
          </a:p>
          <a:p>
            <a:pPr lvl="1"/>
            <a:endParaRPr lang="hu-H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TMK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Előnyök:</a:t>
            </a:r>
          </a:p>
          <a:p>
            <a:pPr lvl="1"/>
            <a:r>
              <a:rPr lang="hu-HU" dirty="0"/>
              <a:t>Tervezhetőség</a:t>
            </a:r>
          </a:p>
          <a:p>
            <a:pPr lvl="1"/>
            <a:r>
              <a:rPr lang="hu-HU" dirty="0"/>
              <a:t>Jó szintű üzembiztonság</a:t>
            </a:r>
          </a:p>
          <a:p>
            <a:pPr lvl="1"/>
            <a:r>
              <a:rPr lang="hu-HU" dirty="0"/>
              <a:t>Váratlan meghibásodások valószínűségének csökkenése</a:t>
            </a:r>
          </a:p>
          <a:p>
            <a:endParaRPr lang="hu-HU" dirty="0"/>
          </a:p>
          <a:p>
            <a:r>
              <a:rPr lang="hu-HU" dirty="0"/>
              <a:t>Hátrányok:</a:t>
            </a:r>
          </a:p>
          <a:p>
            <a:pPr lvl="1"/>
            <a:r>
              <a:rPr lang="hu-HU" dirty="0"/>
              <a:t>Magas javítási költségek</a:t>
            </a:r>
          </a:p>
          <a:p>
            <a:pPr lvl="1"/>
            <a:r>
              <a:rPr lang="hu-HU" dirty="0"/>
              <a:t>Javításokat, cseréket elemezni kell a rendszer javítása érdekében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Állapotfüggő karbantartás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Condition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/Centered / </a:t>
            </a:r>
            <a:r>
              <a:rPr lang="hu-HU" dirty="0" err="1"/>
              <a:t>Corrective</a:t>
            </a:r>
            <a:r>
              <a:rPr lang="hu-HU" dirty="0"/>
              <a:t> </a:t>
            </a:r>
            <a:r>
              <a:rPr lang="hu-HU" dirty="0" err="1"/>
              <a:t>maintenance</a:t>
            </a:r>
            <a:r>
              <a:rPr lang="hu-HU" dirty="0"/>
              <a:t> (CBM, CCM, CM)</a:t>
            </a:r>
          </a:p>
          <a:p>
            <a:endParaRPr lang="hu-HU" dirty="0"/>
          </a:p>
          <a:p>
            <a:r>
              <a:rPr lang="hu-HU" dirty="0"/>
              <a:t>Lényege:</a:t>
            </a:r>
          </a:p>
          <a:p>
            <a:pPr lvl="1"/>
            <a:r>
              <a:rPr lang="hu-HU" dirty="0"/>
              <a:t>Folyamatos állapotvizsgálat alapján kell dönteni a karbantartásról. Nagy értékű berendezéseknél hasznos, ahol a váratlan meghibásodás vesztesége nagy.</a:t>
            </a:r>
          </a:p>
          <a:p>
            <a:r>
              <a:rPr lang="hu-HU" dirty="0"/>
              <a:t>Cél:</a:t>
            </a:r>
          </a:p>
          <a:p>
            <a:pPr lvl="1"/>
            <a:r>
              <a:rPr lang="hu-HU" dirty="0"/>
              <a:t>Váratlan meghibásodás esélyét csökkenteni</a:t>
            </a:r>
          </a:p>
          <a:p>
            <a:pPr lvl="1"/>
            <a:r>
              <a:rPr lang="hu-HU" dirty="0"/>
              <a:t>Csak a szükséges beavatkozásokat elvégezni</a:t>
            </a:r>
          </a:p>
          <a:p>
            <a:endParaRPr lang="hu-HU" dirty="0"/>
          </a:p>
          <a:p>
            <a:endParaRPr lang="hu-H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Műszaki diagnosztika</a:t>
            </a:r>
          </a:p>
        </p:txBody>
      </p:sp>
      <p:pic>
        <p:nvPicPr>
          <p:cNvPr id="1028" name="Picture 4" descr="http://senselektro.hu/images/stories/olymp/omniscanmxec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1163" y="1808508"/>
            <a:ext cx="3422496" cy="23570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32" name="Picture 8" descr="http://ru.all.biz/img/ru/catalog/small/256272.jpe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rot="10800000">
            <a:off x="6877146" y="3391838"/>
            <a:ext cx="2266854" cy="274770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2" descr="http://t1.gstatic.com/images?q=tbn:ANd9GcTJvTTtBqE5zQdBSrVDG5wXQi-exy2RFs3OE5olncXelGEI2s1Czbf1bH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7804" y="1375909"/>
            <a:ext cx="2137681" cy="363605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6" descr="http://t2.gstatic.com/images?q=tbn:ANd9GcQ7qYrVG3ir4EBeUOaKY6uoTlQCBcb7GYw-EMSoV0K95uy76CiF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726091" y="4684032"/>
            <a:ext cx="2524125" cy="18002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Állapotfüggő karbantartás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/>
              <a:t>Előny:</a:t>
            </a:r>
          </a:p>
          <a:p>
            <a:pPr lvl="1"/>
            <a:r>
              <a:rPr lang="hu-HU" dirty="0"/>
              <a:t>Javítások szervezettsége növelhető (de nem a tervezése!)</a:t>
            </a:r>
          </a:p>
          <a:p>
            <a:pPr lvl="1"/>
            <a:r>
              <a:rPr lang="hu-HU" dirty="0"/>
              <a:t>Alkatrész-használat kitolható élettartam végéig</a:t>
            </a:r>
          </a:p>
          <a:p>
            <a:pPr lvl="1"/>
            <a:r>
              <a:rPr lang="hu-HU" dirty="0"/>
              <a:t>Számítógépes (adatbázis) támogathatóság</a:t>
            </a:r>
          </a:p>
          <a:p>
            <a:pPr lvl="1"/>
            <a:r>
              <a:rPr lang="hu-HU" dirty="0"/>
              <a:t>Mérési eredmények prognosztikai céllal felhasználhatók</a:t>
            </a:r>
          </a:p>
          <a:p>
            <a:endParaRPr lang="hu-HU" dirty="0"/>
          </a:p>
          <a:p>
            <a:r>
              <a:rPr lang="hu-HU" dirty="0"/>
              <a:t>Hátrány:</a:t>
            </a:r>
          </a:p>
          <a:p>
            <a:pPr lvl="1"/>
            <a:r>
              <a:rPr lang="hu-HU" dirty="0"/>
              <a:t>Mérési rendszer kialakítása kritikus</a:t>
            </a:r>
          </a:p>
          <a:p>
            <a:pPr lvl="1"/>
            <a:r>
              <a:rPr lang="hu-HU" dirty="0"/>
              <a:t>Mérőeszközök karbantartása fontos</a:t>
            </a:r>
          </a:p>
          <a:p>
            <a:pPr lvl="1"/>
            <a:r>
              <a:rPr lang="hu-HU" dirty="0"/>
              <a:t>Javítás pontos tartalma előre nem tervezhető</a:t>
            </a:r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48327" y="350982"/>
            <a:ext cx="8229600" cy="798286"/>
          </a:xfrm>
        </p:spPr>
        <p:txBody>
          <a:bodyPr>
            <a:noAutofit/>
          </a:bodyPr>
          <a:lstStyle/>
          <a:p>
            <a:r>
              <a:rPr lang="hu-HU" sz="2800" dirty="0"/>
              <a:t>Megbízhatóság központú karbantartás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Reliability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 </a:t>
            </a:r>
            <a:r>
              <a:rPr lang="hu-HU" dirty="0" err="1"/>
              <a:t>Maintenance</a:t>
            </a:r>
            <a:r>
              <a:rPr lang="hu-HU" dirty="0"/>
              <a:t>,  RCM</a:t>
            </a:r>
          </a:p>
          <a:p>
            <a:endParaRPr lang="hu-HU" dirty="0"/>
          </a:p>
          <a:p>
            <a:r>
              <a:rPr lang="hu-HU" dirty="0"/>
              <a:t>Lényege:</a:t>
            </a:r>
          </a:p>
          <a:p>
            <a:pPr lvl="1"/>
            <a:r>
              <a:rPr lang="hu-HU" dirty="0"/>
              <a:t>Hibavalószínűség-következmény elemzés alapján magas helyen álló gépekre. Rögzíteni kell a megengedett meghibásodási mértéket (számát).</a:t>
            </a:r>
          </a:p>
          <a:p>
            <a:pPr lvl="1"/>
            <a:r>
              <a:rPr lang="hu-HU" dirty="0"/>
              <a:t>A fentiek alapján kell karbantartási stratégiákat kidolgozni az egyes gépekre</a:t>
            </a:r>
          </a:p>
          <a:p>
            <a:pPr lvl="1"/>
            <a:r>
              <a:rPr lang="hu-HU" dirty="0"/>
              <a:t>Karbantartás a megengedett meghibásodási érték elérésekor indul</a:t>
            </a:r>
          </a:p>
          <a:p>
            <a:pPr lvl="1"/>
            <a:endParaRPr lang="hu-HU" dirty="0"/>
          </a:p>
          <a:p>
            <a:endParaRPr lang="hu-H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1049646" y="249382"/>
            <a:ext cx="8229600" cy="1030514"/>
          </a:xfrm>
        </p:spPr>
        <p:txBody>
          <a:bodyPr/>
          <a:lstStyle/>
          <a:p>
            <a:r>
              <a:rPr lang="hu-HU" dirty="0"/>
              <a:t>Kockázat alapú karbantartás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457200" y="1426032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lang="hu-HU" dirty="0" err="1"/>
              <a:t>Risk</a:t>
            </a:r>
            <a:r>
              <a:rPr lang="hu-HU" dirty="0"/>
              <a:t> </a:t>
            </a:r>
            <a:r>
              <a:rPr lang="hu-HU" dirty="0" err="1"/>
              <a:t>Based</a:t>
            </a:r>
            <a:r>
              <a:rPr lang="hu-HU" dirty="0"/>
              <a:t> </a:t>
            </a:r>
            <a:r>
              <a:rPr lang="hu-HU" dirty="0" err="1"/>
              <a:t>Maintenance</a:t>
            </a:r>
            <a:r>
              <a:rPr lang="hu-HU" dirty="0"/>
              <a:t> (RBM)</a:t>
            </a:r>
          </a:p>
          <a:p>
            <a:r>
              <a:rPr lang="hu-HU" dirty="0"/>
              <a:t>Filozófiája:</a:t>
            </a:r>
          </a:p>
          <a:p>
            <a:pPr lvl="1"/>
            <a:r>
              <a:rPr lang="hu-HU" dirty="0"/>
              <a:t>Elfogadni a nem felesleges kockázatokat, ha a várható előny ellensúlyozza a veszteségeket. Döntéseket megfelelő szinten kell meghozni!</a:t>
            </a:r>
          </a:p>
          <a:p>
            <a:r>
              <a:rPr lang="hu-HU" dirty="0"/>
              <a:t>Lényege:</a:t>
            </a:r>
          </a:p>
          <a:p>
            <a:pPr lvl="1"/>
            <a:r>
              <a:rPr lang="hu-HU" dirty="0"/>
              <a:t>Kockázatkezelésen alapul</a:t>
            </a:r>
          </a:p>
          <a:p>
            <a:pPr lvl="1"/>
            <a:r>
              <a:rPr lang="hu-HU" dirty="0"/>
              <a:t>Döntéshozatali folyamat</a:t>
            </a:r>
          </a:p>
          <a:p>
            <a:r>
              <a:rPr lang="hu-HU" dirty="0"/>
              <a:t>Előny:</a:t>
            </a:r>
          </a:p>
          <a:p>
            <a:pPr lvl="1"/>
            <a:r>
              <a:rPr lang="hu-HU" dirty="0"/>
              <a:t>Megnövelt rendelkezésre állási idő</a:t>
            </a:r>
          </a:p>
          <a:p>
            <a:pPr lvl="1"/>
            <a:r>
              <a:rPr lang="hu-HU" dirty="0"/>
              <a:t>Megnövelt karbantartási ciklusidő</a:t>
            </a:r>
          </a:p>
          <a:p>
            <a:pPr lvl="1"/>
            <a:r>
              <a:rPr lang="hu-HU" dirty="0"/>
              <a:t>Csökkenő költségek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err="1"/>
              <a:t>Teljeskörű</a:t>
            </a:r>
            <a:r>
              <a:rPr lang="hu-HU" dirty="0"/>
              <a:t> Hatékony Karbantartás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hu-HU" dirty="0"/>
              <a:t>Total </a:t>
            </a:r>
            <a:r>
              <a:rPr lang="hu-HU" dirty="0" err="1"/>
              <a:t>Productivity</a:t>
            </a:r>
            <a:r>
              <a:rPr lang="hu-HU" dirty="0"/>
              <a:t> </a:t>
            </a:r>
            <a:r>
              <a:rPr lang="hu-HU" dirty="0" err="1"/>
              <a:t>Maintenance</a:t>
            </a:r>
            <a:r>
              <a:rPr lang="hu-HU" dirty="0"/>
              <a:t>, TPM</a:t>
            </a:r>
          </a:p>
          <a:p>
            <a:r>
              <a:rPr lang="hu-HU" dirty="0" err="1"/>
              <a:t>Teljeskörű</a:t>
            </a:r>
            <a:r>
              <a:rPr lang="hu-HU" dirty="0"/>
              <a:t> Hatékony Karbantartás</a:t>
            </a:r>
          </a:p>
          <a:p>
            <a:endParaRPr lang="hu-HU" sz="2200" dirty="0"/>
          </a:p>
          <a:p>
            <a:r>
              <a:rPr lang="hu-HU" dirty="0"/>
              <a:t>Veszteségek megszüntetésének menete:</a:t>
            </a:r>
          </a:p>
          <a:p>
            <a:pPr lvl="1"/>
            <a:r>
              <a:rPr lang="hu-HU" dirty="0"/>
              <a:t>A veszteségek lebontása</a:t>
            </a:r>
          </a:p>
          <a:p>
            <a:pPr lvl="1"/>
            <a:r>
              <a:rPr lang="hu-HU" dirty="0"/>
              <a:t>A lebontott veszteségek csoportokba rendezése</a:t>
            </a:r>
          </a:p>
          <a:p>
            <a:pPr lvl="1"/>
            <a:r>
              <a:rPr lang="hu-HU" dirty="0"/>
              <a:t>A kialakított csoportokra veszteségcsökkentő módszer kifejlesztése</a:t>
            </a:r>
          </a:p>
          <a:p>
            <a:pPr lvl="1"/>
            <a:r>
              <a:rPr lang="hu-HU" dirty="0"/>
              <a:t>A TPM tartóoszlopainak kialakítása (= veszteségcsoportok + veszteségcsökkentő módszertan)</a:t>
            </a:r>
          </a:p>
          <a:p>
            <a:pPr lvl="1"/>
            <a:r>
              <a:rPr lang="hu-HU" dirty="0"/>
              <a:t>A veszteségek folyamatos csökkentése, megszüntetése a módszertan alapján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TPM célok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347788" indent="-723900"/>
            <a:r>
              <a:rPr lang="hu-HU" dirty="0"/>
              <a:t>0 baleset</a:t>
            </a:r>
          </a:p>
          <a:p>
            <a:pPr marL="1347788" indent="-723900"/>
            <a:r>
              <a:rPr lang="hu-HU" dirty="0"/>
              <a:t>0 vevői reklamáció</a:t>
            </a:r>
          </a:p>
          <a:p>
            <a:pPr marL="1347788" indent="-723900"/>
            <a:r>
              <a:rPr lang="hu-HU" dirty="0"/>
              <a:t>0 anyag veszteség</a:t>
            </a:r>
          </a:p>
          <a:p>
            <a:pPr marL="1347788" indent="-723900"/>
            <a:r>
              <a:rPr lang="hu-HU" dirty="0"/>
              <a:t>0 minőségi hiba</a:t>
            </a:r>
          </a:p>
          <a:p>
            <a:pPr marL="1347788" indent="-723900"/>
            <a:r>
              <a:rPr lang="hu-HU" dirty="0"/>
              <a:t>100%-os termelési megbízhatóság</a:t>
            </a:r>
          </a:p>
          <a:p>
            <a:pPr marL="1347788" indent="-723900"/>
            <a:r>
              <a:rPr lang="hu-HU" dirty="0"/>
              <a:t>Berendezés hatékonyság növelés</a:t>
            </a:r>
          </a:p>
          <a:p>
            <a:pPr marL="1347788" indent="-723900"/>
            <a:r>
              <a:rPr lang="hu-HU" dirty="0"/>
              <a:t>Költségcsökkentés</a:t>
            </a:r>
          </a:p>
          <a:p>
            <a:pPr marL="1347788" indent="-723900"/>
            <a:r>
              <a:rPr lang="hu-HU" dirty="0"/>
              <a:t>Dolgozói elégedettség</a:t>
            </a:r>
          </a:p>
          <a:p>
            <a:endParaRPr lang="hu-H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TPM-ház</a:t>
            </a:r>
            <a:endParaRPr lang="hu-H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0781" y="1491795"/>
            <a:ext cx="5695130" cy="4996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-té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éma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é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656</TotalTime>
  <Words>699</Words>
  <Application>Microsoft Office PowerPoint</Application>
  <PresentationFormat>Diavetítés a képernyőre (4:3 oldalarány)</PresentationFormat>
  <Paragraphs>202</Paragraphs>
  <Slides>26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Wingdings</vt:lpstr>
      <vt:lpstr>Office-téma</vt:lpstr>
      <vt:lpstr>PowerPoint-bemutató</vt:lpstr>
      <vt:lpstr>Megbízhatóság</vt:lpstr>
      <vt:lpstr>Meghibásodás</vt:lpstr>
      <vt:lpstr>Meghibásodás okai</vt:lpstr>
      <vt:lpstr>Meghibásodás további tipologizálása</vt:lpstr>
      <vt:lpstr>Meghibásodás további tipologizálása</vt:lpstr>
      <vt:lpstr>Eszközöket érő hatások</vt:lpstr>
      <vt:lpstr>Eszközöket érő hatások</vt:lpstr>
      <vt:lpstr>Eszközöket érő hatások</vt:lpstr>
      <vt:lpstr>Számítógép tisztítás</vt:lpstr>
      <vt:lpstr>Üzemfenntartás</vt:lpstr>
      <vt:lpstr>Karbantartás</vt:lpstr>
      <vt:lpstr>Karbantartás</vt:lpstr>
      <vt:lpstr>Karbantartási megközelítések</vt:lpstr>
      <vt:lpstr>Karbantartási megközelítések alkalmazása</vt:lpstr>
      <vt:lpstr>Karbantartási megközelítések fejlődése</vt:lpstr>
      <vt:lpstr>Tervszerű Megelőző Karbantartás</vt:lpstr>
      <vt:lpstr>TMK</vt:lpstr>
      <vt:lpstr>Állapotfüggő karbantartás</vt:lpstr>
      <vt:lpstr>Műszaki diagnosztika</vt:lpstr>
      <vt:lpstr>Állapotfüggő karbantartás</vt:lpstr>
      <vt:lpstr>Megbízhatóság központú karbantartás</vt:lpstr>
      <vt:lpstr>Kockázat alapú karbantartás</vt:lpstr>
      <vt:lpstr>Teljeskörű Hatékony Karbantartás</vt:lpstr>
      <vt:lpstr>TPM célok</vt:lpstr>
      <vt:lpstr>TPM-ház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bemutató</dc:title>
  <dc:creator>Dr. Berényi László</dc:creator>
  <cp:lastModifiedBy>Lászlo Dr. Berényi</cp:lastModifiedBy>
  <cp:revision>80</cp:revision>
  <dcterms:created xsi:type="dcterms:W3CDTF">2015-07-30T19:30:28Z</dcterms:created>
  <dcterms:modified xsi:type="dcterms:W3CDTF">2021-04-26T16:40:27Z</dcterms:modified>
</cp:coreProperties>
</file>