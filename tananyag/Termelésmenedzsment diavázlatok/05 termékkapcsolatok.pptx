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9" r:id="rId2"/>
    <p:sldId id="277" r:id="rId3"/>
    <p:sldId id="278" r:id="rId4"/>
    <p:sldId id="279" r:id="rId5"/>
    <p:sldId id="280" r:id="rId6"/>
    <p:sldId id="281" r:id="rId7"/>
    <p:sldId id="282" r:id="rId8"/>
    <p:sldId id="284" r:id="rId9"/>
    <p:sldId id="285" r:id="rId10"/>
    <p:sldId id="286" r:id="rId11"/>
    <p:sldId id="287" r:id="rId12"/>
    <p:sldId id="289" r:id="rId13"/>
    <p:sldId id="288" r:id="rId14"/>
    <p:sldId id="290" r:id="rId15"/>
    <p:sldId id="291" r:id="rId16"/>
    <p:sldId id="295" r:id="rId17"/>
    <p:sldId id="292" r:id="rId18"/>
    <p:sldId id="293" r:id="rId19"/>
    <p:sldId id="294" r:id="rId20"/>
  </p:sldIdLst>
  <p:sldSz cx="9144000" cy="6858000" type="screen4x3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94249" autoAdjust="0"/>
  </p:normalViewPr>
  <p:slideViewPr>
    <p:cSldViewPr snapToGrid="0">
      <p:cViewPr varScale="1">
        <p:scale>
          <a:sx n="104" d="100"/>
          <a:sy n="104" d="100"/>
        </p:scale>
        <p:origin x="16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60AF14-04B3-4F12-BDAB-056B885BFB88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B1FE6-2C46-4E21-8F97-2C7463EAA1E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759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Alcím mintájának szerkesztése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915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114" y="365127"/>
            <a:ext cx="7383236" cy="766988"/>
          </a:xfrm>
        </p:spPr>
        <p:txBody>
          <a:bodyPr>
            <a:normAutofit/>
          </a:bodyPr>
          <a:lstStyle>
            <a:lvl1pPr>
              <a:defRPr sz="2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1pPr>
            <a:lvl2pPr marL="6858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2pPr>
            <a:lvl3pPr marL="11430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3pPr>
            <a:lvl4pPr marL="16002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4pPr>
            <a:lvl5pPr marL="20574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179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18484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1748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90881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21332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78807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78210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26435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66111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64534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  <p:sp>
        <p:nvSpPr>
          <p:cNvPr id="10" name="Rectangle 6"/>
          <p:cNvSpPr/>
          <p:nvPr userDrawn="1"/>
        </p:nvSpPr>
        <p:spPr>
          <a:xfrm>
            <a:off x="0" y="-1"/>
            <a:ext cx="9144000" cy="1422000"/>
          </a:xfrm>
          <a:prstGeom prst="rect">
            <a:avLst/>
          </a:prstGeom>
          <a:solidFill>
            <a:srgbClr val="133F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2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395168"/>
            <a:ext cx="9144000" cy="57150"/>
          </a:xfrm>
          <a:prstGeom prst="rect">
            <a:avLst/>
          </a:prstGeom>
        </p:spPr>
      </p:pic>
      <p:pic>
        <p:nvPicPr>
          <p:cNvPr id="7" name="Kép 6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351258" y="426153"/>
            <a:ext cx="554784" cy="52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11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7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9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image" Target="../media/image13.wmf"/><Relationship Id="rId7" Type="http://schemas.openxmlformats.org/officeDocument/2006/relationships/image" Target="../media/image15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17.wmf"/><Relationship Id="rId5" Type="http://schemas.openxmlformats.org/officeDocument/2006/relationships/image" Target="../media/image14.w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6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8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wmf"/><Relationship Id="rId4" Type="http://schemas.openxmlformats.org/officeDocument/2006/relationships/oleObject" Target="../embeddings/oleObject20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image" Target="../media/image25.wmf"/><Relationship Id="rId7" Type="http://schemas.openxmlformats.org/officeDocument/2006/relationships/image" Target="../media/image27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26.wmf"/><Relationship Id="rId4" Type="http://schemas.openxmlformats.org/officeDocument/2006/relationships/oleObject" Target="../embeddings/oleObject22.bin"/><Relationship Id="rId9" Type="http://schemas.openxmlformats.org/officeDocument/2006/relationships/image" Target="../media/image28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13" Type="http://schemas.openxmlformats.org/officeDocument/2006/relationships/image" Target="../media/image34.wmf"/><Relationship Id="rId3" Type="http://schemas.openxmlformats.org/officeDocument/2006/relationships/image" Target="../media/image29.wmf"/><Relationship Id="rId7" Type="http://schemas.openxmlformats.org/officeDocument/2006/relationships/image" Target="../media/image31.wmf"/><Relationship Id="rId12" Type="http://schemas.openxmlformats.org/officeDocument/2006/relationships/oleObject" Target="../embeddings/oleObject30.bin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7.bin"/><Relationship Id="rId11" Type="http://schemas.openxmlformats.org/officeDocument/2006/relationships/image" Target="../media/image33.wmf"/><Relationship Id="rId5" Type="http://schemas.openxmlformats.org/officeDocument/2006/relationships/image" Target="../media/image30.wmf"/><Relationship Id="rId15" Type="http://schemas.openxmlformats.org/officeDocument/2006/relationships/image" Target="../media/image35.wmf"/><Relationship Id="rId10" Type="http://schemas.openxmlformats.org/officeDocument/2006/relationships/oleObject" Target="../embeddings/oleObject29.bin"/><Relationship Id="rId4" Type="http://schemas.openxmlformats.org/officeDocument/2006/relationships/oleObject" Target="../embeddings/oleObject26.bin"/><Relationship Id="rId9" Type="http://schemas.openxmlformats.org/officeDocument/2006/relationships/image" Target="../media/image32.wmf"/><Relationship Id="rId14" Type="http://schemas.openxmlformats.org/officeDocument/2006/relationships/oleObject" Target="../embeddings/oleObject3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0" y="0"/>
            <a:ext cx="9144000" cy="4561344"/>
          </a:xfrm>
          <a:prstGeom prst="rect">
            <a:avLst/>
          </a:prstGeom>
          <a:solidFill>
            <a:srgbClr val="133F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61344"/>
            <a:ext cx="9144000" cy="57150"/>
          </a:xfrm>
          <a:prstGeom prst="rect">
            <a:avLst/>
          </a:prstGeom>
        </p:spPr>
      </p:pic>
      <p:pic>
        <p:nvPicPr>
          <p:cNvPr id="6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255" y="541288"/>
            <a:ext cx="3553211" cy="931285"/>
          </a:xfrm>
          <a:prstGeom prst="rect">
            <a:avLst/>
          </a:prstGeom>
        </p:spPr>
      </p:pic>
      <p:sp>
        <p:nvSpPr>
          <p:cNvPr id="2" name="Szövegdoboz 1"/>
          <p:cNvSpPr txBox="1"/>
          <p:nvPr/>
        </p:nvSpPr>
        <p:spPr>
          <a:xfrm>
            <a:off x="2218038" y="5102632"/>
            <a:ext cx="47079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b="1" dirty="0"/>
              <a:t>Dr. Berényi László</a:t>
            </a:r>
          </a:p>
          <a:p>
            <a:pPr algn="ctr"/>
            <a:endParaRPr lang="hu-HU" sz="2400" dirty="0"/>
          </a:p>
          <a:p>
            <a:pPr algn="ctr"/>
            <a:r>
              <a:rPr lang="hu-HU" sz="2400" dirty="0"/>
              <a:t>Vezetéstudományi Intézet</a:t>
            </a:r>
          </a:p>
        </p:txBody>
      </p:sp>
      <p:sp>
        <p:nvSpPr>
          <p:cNvPr id="7" name="Cím 1"/>
          <p:cNvSpPr txBox="1">
            <a:spLocks/>
          </p:cNvSpPr>
          <p:nvPr/>
        </p:nvSpPr>
        <p:spPr>
          <a:xfrm>
            <a:off x="1073499" y="3168793"/>
            <a:ext cx="7383236" cy="76698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4400" b="1" dirty="0">
                <a:solidFill>
                  <a:schemeClr val="bg1"/>
                </a:solidFill>
              </a:rPr>
              <a:t>Termelésmenedzsment alapjai</a:t>
            </a:r>
          </a:p>
          <a:p>
            <a:endParaRPr lang="hu-HU" sz="3600" dirty="0">
              <a:solidFill>
                <a:schemeClr val="bg1"/>
              </a:solidFill>
            </a:endParaRPr>
          </a:p>
          <a:p>
            <a:r>
              <a:rPr lang="hu-HU" sz="3600" dirty="0">
                <a:solidFill>
                  <a:schemeClr val="bg1"/>
                </a:solidFill>
              </a:rPr>
              <a:t>Termékkapcsolatok mérlege</a:t>
            </a:r>
          </a:p>
        </p:txBody>
      </p:sp>
    </p:spTree>
    <p:extLst>
      <p:ext uri="{BB962C8B-B14F-4D97-AF65-F5344CB8AC3E}">
        <p14:creationId xmlns:p14="http://schemas.microsoft.com/office/powerpoint/2010/main" val="2075884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Alapkérdés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endParaRPr lang="hu-HU" b="1" dirty="0"/>
          </a:p>
          <a:p>
            <a:pPr algn="ctr">
              <a:buNone/>
            </a:pPr>
            <a:endParaRPr lang="hu-HU" b="1" dirty="0"/>
          </a:p>
          <a:p>
            <a:pPr algn="ctr">
              <a:buNone/>
            </a:pPr>
            <a:r>
              <a:rPr lang="hu-HU" b="1" dirty="0"/>
              <a:t>Miből mennyit kell gyártani?</a:t>
            </a:r>
          </a:p>
          <a:p>
            <a:endParaRPr lang="hu-HU" dirty="0"/>
          </a:p>
          <a:p>
            <a:r>
              <a:rPr lang="hu-HU" dirty="0"/>
              <a:t>Felidézendő:</a:t>
            </a:r>
          </a:p>
          <a:p>
            <a:pPr lvl="1"/>
            <a:r>
              <a:rPr lang="hu-HU" dirty="0"/>
              <a:t>Vektorok és mátrixok alapműveletei</a:t>
            </a:r>
          </a:p>
          <a:p>
            <a:endParaRPr lang="hu-H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Árbevétel-irányú megközelítés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2143593"/>
            <a:ext cx="8229600" cy="3982570"/>
          </a:xfrm>
        </p:spPr>
        <p:txBody>
          <a:bodyPr/>
          <a:lstStyle/>
          <a:p>
            <a:pPr marL="630238" indent="-269875"/>
            <a:r>
              <a:rPr lang="hu-HU" dirty="0"/>
              <a:t>A vállalat gazdálkodási tényezők alapján határozza meg az elérendő árbevételt.</a:t>
            </a:r>
          </a:p>
          <a:p>
            <a:pPr marL="630238" indent="-269875"/>
            <a:endParaRPr lang="hu-HU" dirty="0"/>
          </a:p>
          <a:p>
            <a:pPr marL="630238" indent="-269875"/>
            <a:r>
              <a:rPr lang="hu-HU" b="1" dirty="0"/>
              <a:t>Feladat</a:t>
            </a:r>
            <a:r>
              <a:rPr lang="hu-HU" dirty="0"/>
              <a:t>: Az értékesítési mennyiséghez (y) meghatározni a gyártási mennyiséget (q)!</a:t>
            </a:r>
          </a:p>
          <a:p>
            <a:endParaRPr lang="hu-HU" dirty="0"/>
          </a:p>
          <a:p>
            <a:pPr>
              <a:buNone/>
            </a:pPr>
            <a:endParaRPr lang="hu-H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082265" y="112836"/>
            <a:ext cx="8229600" cy="1143000"/>
          </a:xfrm>
        </p:spPr>
        <p:txBody>
          <a:bodyPr>
            <a:normAutofit/>
          </a:bodyPr>
          <a:lstStyle/>
          <a:p>
            <a:r>
              <a:rPr lang="hu-HU" dirty="0"/>
              <a:t>Termelési feltételek oldaláról való megközelítés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2338466"/>
            <a:ext cx="8229600" cy="3835198"/>
          </a:xfrm>
        </p:spPr>
        <p:txBody>
          <a:bodyPr/>
          <a:lstStyle/>
          <a:p>
            <a:pPr marL="809625" indent="-360363" algn="just"/>
            <a:r>
              <a:rPr lang="hu-HU" dirty="0"/>
              <a:t>A rendelkezésre álló potenciál alapján határozza meg a vállalat az értékesítési mennyiséget</a:t>
            </a:r>
          </a:p>
          <a:p>
            <a:pPr marL="809625" indent="-360363" algn="just"/>
            <a:endParaRPr lang="hu-HU" dirty="0"/>
          </a:p>
          <a:p>
            <a:pPr marL="809625" indent="-360363" algn="just"/>
            <a:r>
              <a:rPr lang="hu-HU" b="1" dirty="0"/>
              <a:t>Feladat</a:t>
            </a:r>
            <a:r>
              <a:rPr lang="hu-HU" dirty="0"/>
              <a:t>: a gyártási potenciálok, mennyiségek (q) alapján meghatározni az értékesítést (y)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380295" y="183699"/>
            <a:ext cx="8229600" cy="775855"/>
          </a:xfrm>
        </p:spPr>
        <p:txBody>
          <a:bodyPr>
            <a:normAutofit/>
          </a:bodyPr>
          <a:lstStyle/>
          <a:p>
            <a:r>
              <a:rPr lang="hu-HU" sz="3600" dirty="0"/>
              <a:t>Alap-összefüggés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hu-HU" sz="1800" b="1" dirty="0"/>
              <a:t>belső felhasználás + értékesítés = gyártandó mennyiség (+ raktári készlet)</a:t>
            </a:r>
          </a:p>
          <a:p>
            <a:endParaRPr lang="hu-HU" dirty="0"/>
          </a:p>
          <a:p>
            <a:endParaRPr lang="hu-HU" dirty="0"/>
          </a:p>
        </p:txBody>
      </p:sp>
      <p:graphicFrame>
        <p:nvGraphicFramePr>
          <p:cNvPr id="4" name="Objektum 3"/>
          <p:cNvGraphicFramePr>
            <a:graphicFrameLocks noChangeAspect="1"/>
          </p:cNvGraphicFramePr>
          <p:nvPr/>
        </p:nvGraphicFramePr>
        <p:xfrm>
          <a:off x="3353955" y="2123043"/>
          <a:ext cx="2141140" cy="8101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39600" imgH="355320" progId="Equation.3">
                  <p:embed/>
                </p:oleObj>
              </mc:Choice>
              <mc:Fallback>
                <p:oleObj name="Equation" r:id="rId2" imgW="939600" imgH="355320" progId="Equation.3">
                  <p:embed/>
                  <p:pic>
                    <p:nvPicPr>
                      <p:cNvPr id="4" name="Objektum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3955" y="2123043"/>
                        <a:ext cx="2141140" cy="81016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Cím 1"/>
          <p:cNvSpPr txBox="1">
            <a:spLocks/>
          </p:cNvSpPr>
          <p:nvPr/>
        </p:nvSpPr>
        <p:spPr>
          <a:xfrm>
            <a:off x="514598" y="2784763"/>
            <a:ext cx="8229600" cy="775855"/>
          </a:xfrm>
          <a:prstGeom prst="rect">
            <a:avLst/>
          </a:prstGeom>
        </p:spPr>
        <p:txBody>
          <a:bodyPr anchor="b" anchorCtr="0">
            <a:normAutofit/>
            <a:scene3d>
              <a:camera prst="orthographicFront"/>
              <a:lightRig rig="soft" dir="t">
                <a:rot lat="0" lon="0" rev="2100000"/>
              </a:lightRig>
            </a:scene3d>
            <a:sp3d prstMaterial="matte">
              <a:bevelT w="38100" h="38100"/>
            </a:sp3d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3600" b="1" i="0" u="none" strike="noStrike" kern="1200" cap="none" spc="0" normalizeH="0" baseline="0" noProof="0" dirty="0">
                <a:ln>
                  <a:noFill/>
                </a:ln>
                <a:solidFill>
                  <a:srgbClr val="7F4A25"/>
                </a:solidFill>
                <a:effectLst>
                  <a:outerShdw blurRad="63500" dist="38100" dir="822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lt"/>
                <a:cs typeface="+mj-lt"/>
              </a:rPr>
              <a:t>Jelölések</a:t>
            </a:r>
          </a:p>
        </p:txBody>
      </p:sp>
      <p:graphicFrame>
        <p:nvGraphicFramePr>
          <p:cNvPr id="7" name="Objektum 6"/>
          <p:cNvGraphicFramePr>
            <a:graphicFrameLocks noChangeAspect="1"/>
          </p:cNvGraphicFramePr>
          <p:nvPr/>
        </p:nvGraphicFramePr>
        <p:xfrm>
          <a:off x="640195" y="3859480"/>
          <a:ext cx="594396" cy="26091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640" imgH="1269720" progId="Equation.3">
                  <p:embed/>
                </p:oleObj>
              </mc:Choice>
              <mc:Fallback>
                <p:oleObj name="Equation" r:id="rId4" imgW="215640" imgH="1269720" progId="Equation.3">
                  <p:embed/>
                  <p:pic>
                    <p:nvPicPr>
                      <p:cNvPr id="7" name="Objektum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195" y="3859480"/>
                        <a:ext cx="594396" cy="260915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zövegdoboz 7"/>
          <p:cNvSpPr txBox="1"/>
          <p:nvPr/>
        </p:nvSpPr>
        <p:spPr>
          <a:xfrm>
            <a:off x="1959429" y="3811979"/>
            <a:ext cx="49876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+mj-lt"/>
              </a:rPr>
              <a:t>Nettó termelés vektora</a:t>
            </a:r>
          </a:p>
          <a:p>
            <a:endParaRPr lang="hu-HU" dirty="0">
              <a:latin typeface="+mj-lt"/>
            </a:endParaRPr>
          </a:p>
          <a:p>
            <a:r>
              <a:rPr lang="hu-HU" dirty="0">
                <a:latin typeface="+mj-lt"/>
              </a:rPr>
              <a:t>Bruttó termelés vektora</a:t>
            </a:r>
          </a:p>
          <a:p>
            <a:endParaRPr lang="hu-HU" dirty="0">
              <a:latin typeface="+mj-lt"/>
            </a:endParaRPr>
          </a:p>
          <a:p>
            <a:r>
              <a:rPr lang="hu-HU" dirty="0">
                <a:latin typeface="+mj-lt"/>
              </a:rPr>
              <a:t>Belső felhasználás mátrixa</a:t>
            </a:r>
          </a:p>
          <a:p>
            <a:endParaRPr lang="hu-HU" dirty="0">
              <a:latin typeface="+mj-lt"/>
            </a:endParaRPr>
          </a:p>
          <a:p>
            <a:r>
              <a:rPr lang="hu-HU" dirty="0">
                <a:latin typeface="+mj-lt"/>
              </a:rPr>
              <a:t>Egylépéses beépülések mátrixa</a:t>
            </a:r>
          </a:p>
          <a:p>
            <a:endParaRPr lang="hu-HU" dirty="0">
              <a:latin typeface="+mj-lt"/>
            </a:endParaRPr>
          </a:p>
          <a:p>
            <a:r>
              <a:rPr lang="hu-HU" dirty="0">
                <a:latin typeface="+mj-lt"/>
              </a:rPr>
              <a:t>Kétlépéses beépülésem mátrixa</a:t>
            </a:r>
          </a:p>
          <a:p>
            <a:endParaRPr lang="hu-HU" dirty="0">
              <a:latin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Vektorok, mátrixok tartalma</a:t>
            </a:r>
          </a:p>
        </p:txBody>
      </p:sp>
      <p:graphicFrame>
        <p:nvGraphicFramePr>
          <p:cNvPr id="4" name="Objektum 3"/>
          <p:cNvGraphicFramePr>
            <a:graphicFrameLocks noChangeAspect="1"/>
          </p:cNvGraphicFramePr>
          <p:nvPr/>
        </p:nvGraphicFramePr>
        <p:xfrm>
          <a:off x="398587" y="1487384"/>
          <a:ext cx="1157081" cy="2136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95000" imgH="914400" progId="Equation.3">
                  <p:embed/>
                </p:oleObj>
              </mc:Choice>
              <mc:Fallback>
                <p:oleObj name="Equation" r:id="rId2" imgW="495000" imgH="914400" progId="Equation.3">
                  <p:embed/>
                  <p:pic>
                    <p:nvPicPr>
                      <p:cNvPr id="4" name="Objektum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587" y="1487384"/>
                        <a:ext cx="1157081" cy="213635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zövegdoboz 4"/>
          <p:cNvSpPr txBox="1"/>
          <p:nvPr/>
        </p:nvSpPr>
        <p:spPr>
          <a:xfrm>
            <a:off x="1698171" y="1436915"/>
            <a:ext cx="70064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+mj-lt"/>
              </a:rPr>
              <a:t>A1</a:t>
            </a:r>
          </a:p>
          <a:p>
            <a:endParaRPr lang="hu-HU" dirty="0">
              <a:latin typeface="+mj-lt"/>
            </a:endParaRPr>
          </a:p>
          <a:p>
            <a:r>
              <a:rPr lang="hu-HU" dirty="0">
                <a:latin typeface="+mj-lt"/>
              </a:rPr>
              <a:t>A2</a:t>
            </a:r>
          </a:p>
          <a:p>
            <a:endParaRPr lang="hu-HU" dirty="0">
              <a:latin typeface="+mj-lt"/>
            </a:endParaRPr>
          </a:p>
          <a:p>
            <a:r>
              <a:rPr lang="hu-HU" dirty="0">
                <a:latin typeface="+mj-lt"/>
              </a:rPr>
              <a:t>A3</a:t>
            </a:r>
          </a:p>
          <a:p>
            <a:endParaRPr lang="hu-HU" dirty="0">
              <a:latin typeface="+mj-lt"/>
            </a:endParaRPr>
          </a:p>
          <a:p>
            <a:r>
              <a:rPr lang="hu-HU" dirty="0">
                <a:latin typeface="+mj-lt"/>
              </a:rPr>
              <a:t>A4</a:t>
            </a:r>
          </a:p>
          <a:p>
            <a:endParaRPr lang="hu-HU" dirty="0">
              <a:latin typeface="+mj-lt"/>
            </a:endParaRPr>
          </a:p>
        </p:txBody>
      </p:sp>
      <p:sp>
        <p:nvSpPr>
          <p:cNvPr id="6" name="Szövegdoboz 5"/>
          <p:cNvSpPr txBox="1"/>
          <p:nvPr/>
        </p:nvSpPr>
        <p:spPr>
          <a:xfrm>
            <a:off x="2873828" y="2315688"/>
            <a:ext cx="568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+mj-lt"/>
              </a:rPr>
              <a:t>Termékből értékesíthető vagy értékesítendő mennyiség</a:t>
            </a:r>
          </a:p>
        </p:txBody>
      </p:sp>
      <p:graphicFrame>
        <p:nvGraphicFramePr>
          <p:cNvPr id="7" name="Objektum 6"/>
          <p:cNvGraphicFramePr>
            <a:graphicFrameLocks noChangeAspect="1"/>
          </p:cNvGraphicFramePr>
          <p:nvPr/>
        </p:nvGraphicFramePr>
        <p:xfrm>
          <a:off x="2985821" y="4747821"/>
          <a:ext cx="1948908" cy="1474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39600" imgH="711000" progId="Equation.3">
                  <p:embed/>
                </p:oleObj>
              </mc:Choice>
              <mc:Fallback>
                <p:oleObj name="Equation" r:id="rId4" imgW="939600" imgH="711000" progId="Equation.3">
                  <p:embed/>
                  <p:pic>
                    <p:nvPicPr>
                      <p:cNvPr id="7" name="Objektum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5821" y="4747821"/>
                        <a:ext cx="1948908" cy="147484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Egyenes összekötő 8"/>
          <p:cNvCxnSpPr/>
          <p:nvPr/>
        </p:nvCxnSpPr>
        <p:spPr>
          <a:xfrm flipV="1">
            <a:off x="320634" y="3740727"/>
            <a:ext cx="8383979" cy="237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zövegdoboz 9"/>
          <p:cNvSpPr txBox="1"/>
          <p:nvPr/>
        </p:nvSpPr>
        <p:spPr>
          <a:xfrm>
            <a:off x="427512" y="3906982"/>
            <a:ext cx="2090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+mj-lt"/>
              </a:rPr>
              <a:t>Közvetlen beépülések</a:t>
            </a:r>
          </a:p>
        </p:txBody>
      </p:sp>
      <p:sp>
        <p:nvSpPr>
          <p:cNvPr id="11" name="Ellipszis 10"/>
          <p:cNvSpPr/>
          <p:nvPr/>
        </p:nvSpPr>
        <p:spPr>
          <a:xfrm>
            <a:off x="3526971" y="5237018"/>
            <a:ext cx="534390" cy="475013"/>
          </a:xfrm>
          <a:prstGeom prst="ellipse">
            <a:avLst/>
          </a:prstGeom>
          <a:solidFill>
            <a:schemeClr val="accent1">
              <a:tint val="100000"/>
              <a:alpha val="1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3" name="Egyenes összekötő nyíllal 12"/>
          <p:cNvCxnSpPr/>
          <p:nvPr/>
        </p:nvCxnSpPr>
        <p:spPr>
          <a:xfrm rot="10800000" flipV="1">
            <a:off x="3930732" y="4655126"/>
            <a:ext cx="2921330" cy="76002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zövegdoboz 13"/>
          <p:cNvSpPr txBox="1"/>
          <p:nvPr/>
        </p:nvSpPr>
        <p:spPr>
          <a:xfrm>
            <a:off x="6804561" y="4405745"/>
            <a:ext cx="20781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+mj-lt"/>
              </a:rPr>
              <a:t>A2-ből A1-be közvetlenül 1 db épül be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Beépülési mátrix értelmezése</a:t>
            </a:r>
          </a:p>
        </p:txBody>
      </p:sp>
      <p:graphicFrame>
        <p:nvGraphicFramePr>
          <p:cNvPr id="4" name="Objektum 3"/>
          <p:cNvGraphicFramePr>
            <a:graphicFrameLocks noChangeAspect="1"/>
          </p:cNvGraphicFramePr>
          <p:nvPr/>
        </p:nvGraphicFramePr>
        <p:xfrm>
          <a:off x="1049068" y="2758043"/>
          <a:ext cx="2412713" cy="1908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55600" imgH="914400" progId="Equation.3">
                  <p:embed/>
                </p:oleObj>
              </mc:Choice>
              <mc:Fallback>
                <p:oleObj name="Equation" r:id="rId2" imgW="1155600" imgH="914400" progId="Equation.3">
                  <p:embed/>
                  <p:pic>
                    <p:nvPicPr>
                      <p:cNvPr id="4" name="Objektum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9068" y="2758043"/>
                        <a:ext cx="2412713" cy="19089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zövegdoboz 4"/>
          <p:cNvSpPr txBox="1"/>
          <p:nvPr/>
        </p:nvSpPr>
        <p:spPr>
          <a:xfrm>
            <a:off x="0" y="2576945"/>
            <a:ext cx="1330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+mj-lt"/>
              </a:rPr>
              <a:t>termékből</a:t>
            </a:r>
          </a:p>
        </p:txBody>
      </p:sp>
      <p:sp>
        <p:nvSpPr>
          <p:cNvPr id="6" name="Szövegdoboz 5"/>
          <p:cNvSpPr txBox="1"/>
          <p:nvPr/>
        </p:nvSpPr>
        <p:spPr>
          <a:xfrm>
            <a:off x="1636816" y="1933698"/>
            <a:ext cx="1330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+mj-lt"/>
              </a:rPr>
              <a:t>termékbe</a:t>
            </a:r>
          </a:p>
        </p:txBody>
      </p:sp>
      <p:cxnSp>
        <p:nvCxnSpPr>
          <p:cNvPr id="8" name="Egyenes összekötő nyíllal 7"/>
          <p:cNvCxnSpPr>
            <a:stCxn id="5" idx="2"/>
          </p:cNvCxnSpPr>
          <p:nvPr/>
        </p:nvCxnSpPr>
        <p:spPr>
          <a:xfrm rot="16200000" flipH="1">
            <a:off x="938749" y="2672546"/>
            <a:ext cx="165058" cy="71251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gyenes összekötő nyíllal 10"/>
          <p:cNvCxnSpPr>
            <a:stCxn id="6" idx="2"/>
          </p:cNvCxnSpPr>
          <p:nvPr/>
        </p:nvCxnSpPr>
        <p:spPr>
          <a:xfrm rot="5400000">
            <a:off x="2029301" y="2351912"/>
            <a:ext cx="321417" cy="22365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zövegdoboz 11"/>
          <p:cNvSpPr txBox="1"/>
          <p:nvPr/>
        </p:nvSpPr>
        <p:spPr>
          <a:xfrm>
            <a:off x="1733797" y="4762005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+mj-lt"/>
              </a:rPr>
              <a:t>A1    A2   A3  A4</a:t>
            </a:r>
          </a:p>
        </p:txBody>
      </p:sp>
      <p:sp>
        <p:nvSpPr>
          <p:cNvPr id="13" name="Szövegdoboz 12"/>
          <p:cNvSpPr txBox="1"/>
          <p:nvPr/>
        </p:nvSpPr>
        <p:spPr>
          <a:xfrm>
            <a:off x="3536868" y="2693718"/>
            <a:ext cx="4888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+mj-lt"/>
              </a:rPr>
              <a:t>A1</a:t>
            </a:r>
          </a:p>
          <a:p>
            <a:r>
              <a:rPr lang="hu-HU" dirty="0">
                <a:latin typeface="+mj-lt"/>
              </a:rPr>
              <a:t>    A2   </a:t>
            </a:r>
          </a:p>
          <a:p>
            <a:endParaRPr lang="hu-HU" dirty="0">
              <a:latin typeface="+mj-lt"/>
            </a:endParaRPr>
          </a:p>
          <a:p>
            <a:r>
              <a:rPr lang="hu-HU" dirty="0">
                <a:latin typeface="+mj-lt"/>
              </a:rPr>
              <a:t>A3  </a:t>
            </a:r>
          </a:p>
          <a:p>
            <a:endParaRPr lang="hu-HU" dirty="0">
              <a:latin typeface="+mj-lt"/>
            </a:endParaRPr>
          </a:p>
          <a:p>
            <a:r>
              <a:rPr lang="hu-HU" dirty="0">
                <a:latin typeface="+mj-lt"/>
              </a:rPr>
              <a:t>A4</a:t>
            </a:r>
          </a:p>
        </p:txBody>
      </p:sp>
      <p:sp>
        <p:nvSpPr>
          <p:cNvPr id="14" name="Ellipszis 13"/>
          <p:cNvSpPr/>
          <p:nvPr/>
        </p:nvSpPr>
        <p:spPr>
          <a:xfrm>
            <a:off x="1745673" y="2850078"/>
            <a:ext cx="1638795" cy="237506"/>
          </a:xfrm>
          <a:prstGeom prst="ellipse">
            <a:avLst/>
          </a:prstGeom>
          <a:solidFill>
            <a:schemeClr val="accent1">
              <a:tint val="100000"/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6" name="Egyenes összekötő nyíllal 15"/>
          <p:cNvCxnSpPr/>
          <p:nvPr/>
        </p:nvCxnSpPr>
        <p:spPr>
          <a:xfrm rot="10800000" flipV="1">
            <a:off x="2968831" y="2078182"/>
            <a:ext cx="2351314" cy="8431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lipszis 16"/>
          <p:cNvSpPr/>
          <p:nvPr/>
        </p:nvSpPr>
        <p:spPr>
          <a:xfrm>
            <a:off x="3087584" y="2778826"/>
            <a:ext cx="261258" cy="1840675"/>
          </a:xfrm>
          <a:prstGeom prst="ellipse">
            <a:avLst/>
          </a:prstGeom>
          <a:solidFill>
            <a:schemeClr val="accent3">
              <a:lumMod val="20000"/>
              <a:lumOff val="80000"/>
              <a:alpha val="1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" name="Egyenes összekötő nyíllal 18"/>
          <p:cNvCxnSpPr/>
          <p:nvPr/>
        </p:nvCxnSpPr>
        <p:spPr>
          <a:xfrm rot="10800000" flipV="1">
            <a:off x="3265714" y="3016331"/>
            <a:ext cx="2291938" cy="5462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gyenes összekötő nyíllal 20"/>
          <p:cNvCxnSpPr/>
          <p:nvPr/>
        </p:nvCxnSpPr>
        <p:spPr>
          <a:xfrm rot="10800000">
            <a:off x="2327565" y="3479471"/>
            <a:ext cx="3348841" cy="100940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zövegdoboz 21"/>
          <p:cNvSpPr txBox="1"/>
          <p:nvPr/>
        </p:nvSpPr>
        <p:spPr>
          <a:xfrm>
            <a:off x="5712031" y="1793174"/>
            <a:ext cx="2422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+mj-lt"/>
              </a:rPr>
              <a:t>Végtermék</a:t>
            </a:r>
          </a:p>
        </p:txBody>
      </p:sp>
      <p:sp>
        <p:nvSpPr>
          <p:cNvPr id="23" name="Szövegdoboz 22"/>
          <p:cNvSpPr txBox="1"/>
          <p:nvPr/>
        </p:nvSpPr>
        <p:spPr>
          <a:xfrm>
            <a:off x="6032665" y="2861953"/>
            <a:ext cx="2422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+mj-lt"/>
              </a:rPr>
              <a:t>Alapanyag</a:t>
            </a:r>
          </a:p>
        </p:txBody>
      </p:sp>
      <p:sp>
        <p:nvSpPr>
          <p:cNvPr id="24" name="Szövegdoboz 23"/>
          <p:cNvSpPr txBox="1"/>
          <p:nvPr/>
        </p:nvSpPr>
        <p:spPr>
          <a:xfrm>
            <a:off x="5961413" y="4310743"/>
            <a:ext cx="2909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+mj-lt"/>
              </a:rPr>
              <a:t>Önmagába beépülés nincs!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Halmozott beépülési mátrix</a:t>
            </a:r>
          </a:p>
        </p:txBody>
      </p:sp>
      <p:graphicFrame>
        <p:nvGraphicFramePr>
          <p:cNvPr id="4" name="Objektum 3"/>
          <p:cNvGraphicFramePr>
            <a:graphicFrameLocks noChangeAspect="1"/>
          </p:cNvGraphicFramePr>
          <p:nvPr/>
        </p:nvGraphicFramePr>
        <p:xfrm>
          <a:off x="2629642" y="1600034"/>
          <a:ext cx="3569277" cy="1769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85720" imgH="736560" progId="Equation.3">
                  <p:embed/>
                </p:oleObj>
              </mc:Choice>
              <mc:Fallback>
                <p:oleObj name="Equation" r:id="rId2" imgW="1485720" imgH="736560" progId="Equation.3">
                  <p:embed/>
                  <p:pic>
                    <p:nvPicPr>
                      <p:cNvPr id="4" name="Objektum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9642" y="1600034"/>
                        <a:ext cx="3569277" cy="17693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ktum 4"/>
          <p:cNvGraphicFramePr>
            <a:graphicFrameLocks noChangeAspect="1"/>
          </p:cNvGraphicFramePr>
          <p:nvPr/>
        </p:nvGraphicFramePr>
        <p:xfrm>
          <a:off x="2949122" y="4099956"/>
          <a:ext cx="2607830" cy="2063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55600" imgH="914400" progId="Equation.3">
                  <p:embed/>
                </p:oleObj>
              </mc:Choice>
              <mc:Fallback>
                <p:oleObj name="Equation" r:id="rId4" imgW="1155600" imgH="914400" progId="Equation.3">
                  <p:embed/>
                  <p:pic>
                    <p:nvPicPr>
                      <p:cNvPr id="5" name="Objektum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9122" y="4099956"/>
                        <a:ext cx="2607830" cy="2063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Árbevétel-irányú megközelítés</a:t>
            </a:r>
          </a:p>
        </p:txBody>
      </p:sp>
      <p:graphicFrame>
        <p:nvGraphicFramePr>
          <p:cNvPr id="4" name="Objektum 3"/>
          <p:cNvGraphicFramePr>
            <a:graphicFrameLocks noChangeAspect="1"/>
          </p:cNvGraphicFramePr>
          <p:nvPr/>
        </p:nvGraphicFramePr>
        <p:xfrm>
          <a:off x="3781136" y="1739981"/>
          <a:ext cx="1547208" cy="706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83920" imgH="266400" progId="Equation.3">
                  <p:embed/>
                </p:oleObj>
              </mc:Choice>
              <mc:Fallback>
                <p:oleObj name="Equation" r:id="rId2" imgW="583920" imgH="266400" progId="Equation.3">
                  <p:embed/>
                  <p:pic>
                    <p:nvPicPr>
                      <p:cNvPr id="4" name="Objektum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1136" y="1739981"/>
                        <a:ext cx="1547208" cy="7063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3"/>
          <p:cNvGraphicFramePr>
            <a:graphicFrameLocks noChangeAspect="1"/>
          </p:cNvGraphicFramePr>
          <p:nvPr/>
        </p:nvGraphicFramePr>
        <p:xfrm>
          <a:off x="879537" y="3103109"/>
          <a:ext cx="6551490" cy="2549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49360" imgH="914400" progId="Equation.3">
                  <p:embed/>
                </p:oleObj>
              </mc:Choice>
              <mc:Fallback>
                <p:oleObj name="Equation" r:id="rId4" imgW="2349360" imgH="914400" progId="Equation.3">
                  <p:embed/>
                  <p:pic>
                    <p:nvPicPr>
                      <p:cNvPr id="512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537" y="3103109"/>
                        <a:ext cx="6551490" cy="25495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Termelési feltételek oldaláról</a:t>
            </a:r>
          </a:p>
        </p:txBody>
      </p:sp>
      <p:graphicFrame>
        <p:nvGraphicFramePr>
          <p:cNvPr id="6146" name="Object 2"/>
          <p:cNvGraphicFramePr>
            <a:graphicFrameLocks noChangeAspect="1"/>
          </p:cNvGraphicFramePr>
          <p:nvPr/>
        </p:nvGraphicFramePr>
        <p:xfrm>
          <a:off x="290080" y="1419266"/>
          <a:ext cx="1546225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83920" imgH="266400" progId="Equation.3">
                  <p:embed/>
                </p:oleObj>
              </mc:Choice>
              <mc:Fallback>
                <p:oleObj name="Equation" r:id="rId2" imgW="583920" imgH="266400" progId="Equation.3">
                  <p:embed/>
                  <p:pic>
                    <p:nvPicPr>
                      <p:cNvPr id="614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080" y="1419266"/>
                        <a:ext cx="1546225" cy="706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ktum 4"/>
          <p:cNvGraphicFramePr>
            <a:graphicFrameLocks noChangeAspect="1"/>
          </p:cNvGraphicFramePr>
          <p:nvPr/>
        </p:nvGraphicFramePr>
        <p:xfrm>
          <a:off x="2473407" y="1993014"/>
          <a:ext cx="3576638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20480" imgH="291960" progId="Equation.3">
                  <p:embed/>
                </p:oleObj>
              </mc:Choice>
              <mc:Fallback>
                <p:oleObj name="Equation" r:id="rId4" imgW="1320480" imgH="291960" progId="Equation.3">
                  <p:embed/>
                  <p:pic>
                    <p:nvPicPr>
                      <p:cNvPr id="5" name="Objektum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3407" y="1993014"/>
                        <a:ext cx="3576638" cy="806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4"/>
          <p:cNvGraphicFramePr>
            <a:graphicFrameLocks noChangeAspect="1"/>
          </p:cNvGraphicFramePr>
          <p:nvPr/>
        </p:nvGraphicFramePr>
        <p:xfrm>
          <a:off x="6617773" y="2919310"/>
          <a:ext cx="1814513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85800" imgH="291960" progId="Equation.3">
                  <p:embed/>
                </p:oleObj>
              </mc:Choice>
              <mc:Fallback>
                <p:oleObj name="Equation" r:id="rId6" imgW="685800" imgH="291960" progId="Equation.3">
                  <p:embed/>
                  <p:pic>
                    <p:nvPicPr>
                      <p:cNvPr id="614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7773" y="2919310"/>
                        <a:ext cx="1814513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Jobbra nyíl 6"/>
          <p:cNvSpPr/>
          <p:nvPr/>
        </p:nvSpPr>
        <p:spPr>
          <a:xfrm>
            <a:off x="2185060" y="1733797"/>
            <a:ext cx="451262" cy="225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Jobbra nyíl 7"/>
          <p:cNvSpPr/>
          <p:nvPr/>
        </p:nvSpPr>
        <p:spPr>
          <a:xfrm>
            <a:off x="6339445" y="2622467"/>
            <a:ext cx="451262" cy="225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aphicFrame>
        <p:nvGraphicFramePr>
          <p:cNvPr id="9" name="Objektum 8"/>
          <p:cNvGraphicFramePr>
            <a:graphicFrameLocks noChangeAspect="1"/>
          </p:cNvGraphicFramePr>
          <p:nvPr/>
        </p:nvGraphicFramePr>
        <p:xfrm>
          <a:off x="868961" y="4161724"/>
          <a:ext cx="2123622" cy="729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50680" imgH="291960" progId="Equation.3">
                  <p:embed/>
                </p:oleObj>
              </mc:Choice>
              <mc:Fallback>
                <p:oleObj name="Equation" r:id="rId8" imgW="850680" imgH="291960" progId="Equation.3">
                  <p:embed/>
                  <p:pic>
                    <p:nvPicPr>
                      <p:cNvPr id="9" name="Objektum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961" y="4161724"/>
                        <a:ext cx="2123622" cy="72900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Szövegdoboz 9"/>
          <p:cNvSpPr txBox="1"/>
          <p:nvPr/>
        </p:nvSpPr>
        <p:spPr>
          <a:xfrm>
            <a:off x="249382" y="3621974"/>
            <a:ext cx="2066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+mj-lt"/>
              </a:rPr>
              <a:t>Felhasználva:</a:t>
            </a:r>
          </a:p>
        </p:txBody>
      </p:sp>
      <p:sp>
        <p:nvSpPr>
          <p:cNvPr id="11" name="Jobbra nyíl 10"/>
          <p:cNvSpPr/>
          <p:nvPr/>
        </p:nvSpPr>
        <p:spPr>
          <a:xfrm>
            <a:off x="3629892" y="4864924"/>
            <a:ext cx="451262" cy="225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aphicFrame>
        <p:nvGraphicFramePr>
          <p:cNvPr id="6150" name="Object 6"/>
          <p:cNvGraphicFramePr>
            <a:graphicFrameLocks noChangeAspect="1"/>
          </p:cNvGraphicFramePr>
          <p:nvPr/>
        </p:nvGraphicFramePr>
        <p:xfrm>
          <a:off x="4702175" y="4956175"/>
          <a:ext cx="3587809" cy="101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39600" imgH="266400" progId="Equation.3">
                  <p:embed/>
                </p:oleObj>
              </mc:Choice>
              <mc:Fallback>
                <p:oleObj name="Equation" r:id="rId10" imgW="939600" imgH="266400" progId="Equation.3">
                  <p:embed/>
                  <p:pic>
                    <p:nvPicPr>
                      <p:cNvPr id="615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2175" y="4956175"/>
                        <a:ext cx="3587809" cy="1017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Termelési feltételek oldaláról</a:t>
            </a:r>
          </a:p>
        </p:txBody>
      </p:sp>
      <p:graphicFrame>
        <p:nvGraphicFramePr>
          <p:cNvPr id="7170" name="Object 2"/>
          <p:cNvGraphicFramePr>
            <a:graphicFrameLocks noChangeAspect="1"/>
          </p:cNvGraphicFramePr>
          <p:nvPr/>
        </p:nvGraphicFramePr>
        <p:xfrm>
          <a:off x="903288" y="1928813"/>
          <a:ext cx="7505700" cy="392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93880" imgH="1879560" progId="Equation.3">
                  <p:embed/>
                </p:oleObj>
              </mc:Choice>
              <mc:Fallback>
                <p:oleObj name="Equation" r:id="rId2" imgW="3593880" imgH="1879560" progId="Equation.3">
                  <p:embed/>
                  <p:pic>
                    <p:nvPicPr>
                      <p:cNvPr id="717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3288" y="1928813"/>
                        <a:ext cx="7505700" cy="3924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Mérlegegyenlet felállítása</a:t>
            </a:r>
          </a:p>
        </p:txBody>
      </p:sp>
      <p:graphicFrame>
        <p:nvGraphicFramePr>
          <p:cNvPr id="4" name="Objektum 3"/>
          <p:cNvGraphicFramePr>
            <a:graphicFrameLocks noChangeAspect="1"/>
          </p:cNvGraphicFramePr>
          <p:nvPr/>
        </p:nvGraphicFramePr>
        <p:xfrm>
          <a:off x="3317750" y="1678956"/>
          <a:ext cx="1727484" cy="707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74360" imgH="317160" progId="Equation.3">
                  <p:embed/>
                </p:oleObj>
              </mc:Choice>
              <mc:Fallback>
                <p:oleObj name="Equation" r:id="rId2" imgW="774360" imgH="317160" progId="Equation.3">
                  <p:embed/>
                  <p:pic>
                    <p:nvPicPr>
                      <p:cNvPr id="4" name="Objektum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7750" y="1678956"/>
                        <a:ext cx="1727484" cy="7079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Táblázat 4"/>
          <p:cNvGraphicFramePr>
            <a:graphicFrameLocks noGrp="1"/>
          </p:cNvGraphicFramePr>
          <p:nvPr/>
        </p:nvGraphicFramePr>
        <p:xfrm>
          <a:off x="1512124" y="2418278"/>
          <a:ext cx="6095997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 gridSpan="6">
                  <a:txBody>
                    <a:bodyPr/>
                    <a:lstStyle/>
                    <a:p>
                      <a:pPr algn="ctr"/>
                      <a:r>
                        <a:rPr lang="hu-HU" dirty="0"/>
                        <a:t>M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u-H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u-H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u-H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u-H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1" dirty="0" err="1"/>
                        <a:t>q-y</a:t>
                      </a:r>
                      <a:endParaRPr lang="hu-H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b="1" dirty="0"/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170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b="1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440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b="1" dirty="0"/>
                        <a:t>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1140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b="1" dirty="0"/>
                        <a:t>1420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1520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Jobb oldali kapcsos zárójel 5"/>
          <p:cNvSpPr/>
          <p:nvPr/>
        </p:nvSpPr>
        <p:spPr>
          <a:xfrm rot="5400000">
            <a:off x="3396343" y="3265715"/>
            <a:ext cx="308757" cy="4013859"/>
          </a:xfrm>
          <a:prstGeom prst="rightBrace">
            <a:avLst>
              <a:gd name="adj1" fmla="val 62962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>
              <a:latin typeface="+mj-lt"/>
            </a:endParaRPr>
          </a:p>
        </p:txBody>
      </p:sp>
      <p:sp>
        <p:nvSpPr>
          <p:cNvPr id="7" name="Szövegdoboz 6"/>
          <p:cNvSpPr txBox="1"/>
          <p:nvPr/>
        </p:nvSpPr>
        <p:spPr>
          <a:xfrm>
            <a:off x="2137558" y="5545776"/>
            <a:ext cx="2826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latin typeface="+mj-lt"/>
              </a:rPr>
              <a:t>Ennyi épült be A1..A6-ba</a:t>
            </a:r>
          </a:p>
        </p:txBody>
      </p:sp>
      <p:sp>
        <p:nvSpPr>
          <p:cNvPr id="8" name="Szövegdoboz 7"/>
          <p:cNvSpPr txBox="1"/>
          <p:nvPr/>
        </p:nvSpPr>
        <p:spPr>
          <a:xfrm>
            <a:off x="5106390" y="6163294"/>
            <a:ext cx="1282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latin typeface="+mj-lt"/>
              </a:rPr>
              <a:t>beépült</a:t>
            </a:r>
          </a:p>
        </p:txBody>
      </p:sp>
      <p:sp>
        <p:nvSpPr>
          <p:cNvPr id="9" name="Szövegdoboz 8"/>
          <p:cNvSpPr txBox="1"/>
          <p:nvPr/>
        </p:nvSpPr>
        <p:spPr>
          <a:xfrm>
            <a:off x="6222670" y="5545777"/>
            <a:ext cx="985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+mj-lt"/>
              </a:rPr>
              <a:t>eladtuk</a:t>
            </a:r>
          </a:p>
        </p:txBody>
      </p:sp>
      <p:sp>
        <p:nvSpPr>
          <p:cNvPr id="10" name="Szövegdoboz 9"/>
          <p:cNvSpPr txBox="1"/>
          <p:nvPr/>
        </p:nvSpPr>
        <p:spPr>
          <a:xfrm>
            <a:off x="7683334" y="5890161"/>
            <a:ext cx="1460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+mj-lt"/>
              </a:rPr>
              <a:t>gyártottuk</a:t>
            </a:r>
          </a:p>
        </p:txBody>
      </p:sp>
      <p:cxnSp>
        <p:nvCxnSpPr>
          <p:cNvPr id="12" name="Egyenes összekötő nyíllal 11"/>
          <p:cNvCxnSpPr>
            <a:stCxn id="8" idx="0"/>
          </p:cNvCxnSpPr>
          <p:nvPr/>
        </p:nvCxnSpPr>
        <p:spPr>
          <a:xfrm rot="5400000" flipH="1" flipV="1">
            <a:off x="5278582" y="5599216"/>
            <a:ext cx="1033154" cy="9500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gyenes összekötő nyíllal 13"/>
          <p:cNvCxnSpPr/>
          <p:nvPr/>
        </p:nvCxnSpPr>
        <p:spPr>
          <a:xfrm rot="16200000" flipV="1">
            <a:off x="6460178" y="5237018"/>
            <a:ext cx="356259" cy="9500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gyenes összekötő nyíllal 15"/>
          <p:cNvCxnSpPr/>
          <p:nvPr/>
        </p:nvCxnSpPr>
        <p:spPr>
          <a:xfrm rot="10800000">
            <a:off x="7315201" y="5082640"/>
            <a:ext cx="866899" cy="78377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Egyéb számítások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69075" y="2063338"/>
            <a:ext cx="8229600" cy="1986148"/>
          </a:xfrm>
        </p:spPr>
        <p:txBody>
          <a:bodyPr>
            <a:normAutofit fontScale="85000" lnSpcReduction="20000"/>
          </a:bodyPr>
          <a:lstStyle/>
          <a:p>
            <a:r>
              <a:rPr lang="hu-HU" dirty="0"/>
              <a:t>Árbevétel meghatározása</a:t>
            </a:r>
          </a:p>
          <a:p>
            <a:endParaRPr lang="hu-HU" dirty="0"/>
          </a:p>
          <a:p>
            <a:r>
              <a:rPr lang="hu-HU" dirty="0"/>
              <a:t>Költségek vagy tárolókapacitás meghatározása</a:t>
            </a:r>
          </a:p>
          <a:p>
            <a:endParaRPr lang="hu-HU" dirty="0"/>
          </a:p>
          <a:p>
            <a:pPr algn="ctr">
              <a:buNone/>
            </a:pPr>
            <a:r>
              <a:rPr lang="hu-HU" i="1" dirty="0"/>
              <a:t>Szükséges: fajlagos erőforrás (ár, költség)- vektor </a:t>
            </a:r>
          </a:p>
          <a:p>
            <a:endParaRPr lang="hu-H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Árbevétel számítása</a:t>
            </a:r>
          </a:p>
        </p:txBody>
      </p:sp>
      <p:graphicFrame>
        <p:nvGraphicFramePr>
          <p:cNvPr id="4" name="Objektum 3"/>
          <p:cNvGraphicFramePr>
            <a:graphicFrameLocks noChangeAspect="1"/>
          </p:cNvGraphicFramePr>
          <p:nvPr/>
        </p:nvGraphicFramePr>
        <p:xfrm>
          <a:off x="3466935" y="1598036"/>
          <a:ext cx="2005013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85800" imgH="266400" progId="Equation.3">
                  <p:embed/>
                </p:oleObj>
              </mc:Choice>
              <mc:Fallback>
                <p:oleObj name="Equation" r:id="rId2" imgW="685800" imgH="266400" progId="Equation.3">
                  <p:embed/>
                  <p:pic>
                    <p:nvPicPr>
                      <p:cNvPr id="4" name="Objektum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6935" y="1598036"/>
                        <a:ext cx="2005013" cy="779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ktum 4"/>
          <p:cNvGraphicFramePr>
            <a:graphicFrameLocks noChangeAspect="1"/>
          </p:cNvGraphicFramePr>
          <p:nvPr/>
        </p:nvGraphicFramePr>
        <p:xfrm>
          <a:off x="1128054" y="2543979"/>
          <a:ext cx="4989512" cy="192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74560" imgH="914400" progId="Equation.3">
                  <p:embed/>
                </p:oleObj>
              </mc:Choice>
              <mc:Fallback>
                <p:oleObj name="Equation" r:id="rId4" imgW="2374560" imgH="914400" progId="Equation.3">
                  <p:embed/>
                  <p:pic>
                    <p:nvPicPr>
                      <p:cNvPr id="5" name="Objektum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8054" y="2543979"/>
                        <a:ext cx="4989512" cy="1920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zövegdoboz 5"/>
          <p:cNvSpPr txBox="1"/>
          <p:nvPr/>
        </p:nvSpPr>
        <p:spPr>
          <a:xfrm>
            <a:off x="1805049" y="4726379"/>
            <a:ext cx="18644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latin typeface="+mj-lt"/>
              </a:rPr>
              <a:t>Értékesített mennyiség (db)</a:t>
            </a:r>
          </a:p>
        </p:txBody>
      </p:sp>
      <p:sp>
        <p:nvSpPr>
          <p:cNvPr id="7" name="Szövegdoboz 6"/>
          <p:cNvSpPr txBox="1"/>
          <p:nvPr/>
        </p:nvSpPr>
        <p:spPr>
          <a:xfrm>
            <a:off x="4750130" y="5035138"/>
            <a:ext cx="22681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latin typeface="+mj-lt"/>
              </a:rPr>
              <a:t>Termékek egységárai (Ft/db)</a:t>
            </a:r>
          </a:p>
        </p:txBody>
      </p:sp>
      <p:sp>
        <p:nvSpPr>
          <p:cNvPr id="8" name="Szövegdoboz 7"/>
          <p:cNvSpPr txBox="1"/>
          <p:nvPr/>
        </p:nvSpPr>
        <p:spPr>
          <a:xfrm>
            <a:off x="7030192" y="3443844"/>
            <a:ext cx="1793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+mj-lt"/>
              </a:rPr>
              <a:t>Árbevétel (Ft)</a:t>
            </a:r>
          </a:p>
        </p:txBody>
      </p:sp>
      <p:cxnSp>
        <p:nvCxnSpPr>
          <p:cNvPr id="10" name="Egyenes összekötő nyíllal 9"/>
          <p:cNvCxnSpPr/>
          <p:nvPr/>
        </p:nvCxnSpPr>
        <p:spPr>
          <a:xfrm rot="5400000" flipH="1" flipV="1">
            <a:off x="2713511" y="4221679"/>
            <a:ext cx="498764" cy="3206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gyenes összekötő nyíllal 11"/>
          <p:cNvCxnSpPr/>
          <p:nvPr/>
        </p:nvCxnSpPr>
        <p:spPr>
          <a:xfrm rot="16200000" flipV="1">
            <a:off x="5225144" y="4275117"/>
            <a:ext cx="819397" cy="7481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gyenes összekötő nyíllal 13"/>
          <p:cNvCxnSpPr>
            <a:stCxn id="8" idx="1"/>
          </p:cNvCxnSpPr>
          <p:nvPr/>
        </p:nvCxnSpPr>
        <p:spPr>
          <a:xfrm rot="10800000" flipV="1">
            <a:off x="6282048" y="3628509"/>
            <a:ext cx="748145" cy="12409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Szállítási kapacitás számítása</a:t>
            </a:r>
          </a:p>
        </p:txBody>
      </p:sp>
      <p:graphicFrame>
        <p:nvGraphicFramePr>
          <p:cNvPr id="4" name="Objektum 3"/>
          <p:cNvGraphicFramePr>
            <a:graphicFrameLocks noChangeAspect="1"/>
          </p:cNvGraphicFramePr>
          <p:nvPr/>
        </p:nvGraphicFramePr>
        <p:xfrm>
          <a:off x="3065895" y="1419348"/>
          <a:ext cx="2329319" cy="730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50680" imgH="266400" progId="Equation.3">
                  <p:embed/>
                </p:oleObj>
              </mc:Choice>
              <mc:Fallback>
                <p:oleObj name="Equation" r:id="rId2" imgW="850680" imgH="266400" progId="Equation.3">
                  <p:embed/>
                  <p:pic>
                    <p:nvPicPr>
                      <p:cNvPr id="4" name="Objektum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5895" y="1419348"/>
                        <a:ext cx="2329319" cy="7300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ktum 4"/>
          <p:cNvGraphicFramePr>
            <a:graphicFrameLocks noChangeAspect="1"/>
          </p:cNvGraphicFramePr>
          <p:nvPr/>
        </p:nvGraphicFramePr>
        <p:xfrm>
          <a:off x="339189" y="2520537"/>
          <a:ext cx="5159086" cy="21722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71520" imgH="914400" progId="Equation.3">
                  <p:embed/>
                </p:oleObj>
              </mc:Choice>
              <mc:Fallback>
                <p:oleObj name="Equation" r:id="rId4" imgW="2171520" imgH="914400" progId="Equation.3">
                  <p:embed/>
                  <p:pic>
                    <p:nvPicPr>
                      <p:cNvPr id="5" name="Objektum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189" y="2520537"/>
                        <a:ext cx="5159086" cy="217224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zövegdoboz 5"/>
          <p:cNvSpPr txBox="1"/>
          <p:nvPr/>
        </p:nvSpPr>
        <p:spPr>
          <a:xfrm>
            <a:off x="475013" y="5189516"/>
            <a:ext cx="2375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latin typeface="+mj-lt"/>
              </a:rPr>
              <a:t>Egy termék bruttó tömege (kg/db)</a:t>
            </a:r>
          </a:p>
        </p:txBody>
      </p:sp>
      <p:sp>
        <p:nvSpPr>
          <p:cNvPr id="7" name="Szövegdoboz 6"/>
          <p:cNvSpPr txBox="1"/>
          <p:nvPr/>
        </p:nvSpPr>
        <p:spPr>
          <a:xfrm>
            <a:off x="4358244" y="5498275"/>
            <a:ext cx="19831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+mj-lt"/>
              </a:rPr>
              <a:t>Értékesített mennyiség (db)</a:t>
            </a:r>
          </a:p>
        </p:txBody>
      </p:sp>
      <p:sp>
        <p:nvSpPr>
          <p:cNvPr id="8" name="Szövegdoboz 7"/>
          <p:cNvSpPr txBox="1"/>
          <p:nvPr/>
        </p:nvSpPr>
        <p:spPr>
          <a:xfrm>
            <a:off x="6448303" y="3348842"/>
            <a:ext cx="2244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+mj-lt"/>
              </a:rPr>
              <a:t>Össztömeg (kg)</a:t>
            </a:r>
          </a:p>
        </p:txBody>
      </p:sp>
      <p:cxnSp>
        <p:nvCxnSpPr>
          <p:cNvPr id="10" name="Egyenes összekötő nyíllal 9"/>
          <p:cNvCxnSpPr/>
          <p:nvPr/>
        </p:nvCxnSpPr>
        <p:spPr>
          <a:xfrm rot="5400000" flipH="1" flipV="1">
            <a:off x="1193470" y="4269179"/>
            <a:ext cx="1163782" cy="4631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gyenes összekötő nyíllal 11"/>
          <p:cNvCxnSpPr/>
          <p:nvPr/>
        </p:nvCxnSpPr>
        <p:spPr>
          <a:xfrm rot="10800000">
            <a:off x="4203865" y="4690753"/>
            <a:ext cx="878774" cy="6768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gyenes összekötő nyíllal 13"/>
          <p:cNvCxnSpPr>
            <a:stCxn id="8" idx="1"/>
          </p:cNvCxnSpPr>
          <p:nvPr/>
        </p:nvCxnSpPr>
        <p:spPr>
          <a:xfrm rot="10800000" flipV="1">
            <a:off x="5640779" y="3533507"/>
            <a:ext cx="807524" cy="533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Excel-segítség</a:t>
            </a: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 cstate="print">
            <a:lum bright="-16000" contrast="42000"/>
          </a:blip>
          <a:srcRect/>
          <a:stretch>
            <a:fillRect/>
          </a:stretch>
        </p:blipFill>
        <p:spPr bwMode="auto">
          <a:xfrm>
            <a:off x="166750" y="1986272"/>
            <a:ext cx="8763000" cy="447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918358"/>
          </a:xfrm>
        </p:spPr>
        <p:txBody>
          <a:bodyPr/>
          <a:lstStyle/>
          <a:p>
            <a:r>
              <a:rPr lang="hu-HU" dirty="0"/>
              <a:t>Példafeladat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25334" y="1462748"/>
            <a:ext cx="8229600" cy="739239"/>
          </a:xfrm>
        </p:spPr>
        <p:txBody>
          <a:bodyPr/>
          <a:lstStyle/>
          <a:p>
            <a:r>
              <a:rPr lang="hu-HU" sz="2400" dirty="0"/>
              <a:t>Adottak összeépülési gráfok és beépülő mennyiségek:</a:t>
            </a:r>
          </a:p>
        </p:txBody>
      </p:sp>
      <p:sp>
        <p:nvSpPr>
          <p:cNvPr id="4" name="Ellipszis 3"/>
          <p:cNvSpPr/>
          <p:nvPr/>
        </p:nvSpPr>
        <p:spPr>
          <a:xfrm>
            <a:off x="1140031" y="1911927"/>
            <a:ext cx="1056904" cy="748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A1</a:t>
            </a:r>
          </a:p>
        </p:txBody>
      </p:sp>
      <p:sp>
        <p:nvSpPr>
          <p:cNvPr id="5" name="Ellipszis 4"/>
          <p:cNvSpPr/>
          <p:nvPr/>
        </p:nvSpPr>
        <p:spPr>
          <a:xfrm>
            <a:off x="4249387" y="1898072"/>
            <a:ext cx="1056904" cy="748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A2</a:t>
            </a:r>
          </a:p>
        </p:txBody>
      </p:sp>
      <p:sp>
        <p:nvSpPr>
          <p:cNvPr id="6" name="Ellipszis 5"/>
          <p:cNvSpPr/>
          <p:nvPr/>
        </p:nvSpPr>
        <p:spPr>
          <a:xfrm>
            <a:off x="7063839" y="1886197"/>
            <a:ext cx="1056904" cy="748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A3</a:t>
            </a:r>
          </a:p>
        </p:txBody>
      </p:sp>
      <p:sp>
        <p:nvSpPr>
          <p:cNvPr id="7" name="Ellipszis 6"/>
          <p:cNvSpPr/>
          <p:nvPr/>
        </p:nvSpPr>
        <p:spPr>
          <a:xfrm>
            <a:off x="318654" y="3928753"/>
            <a:ext cx="1056904" cy="748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A3</a:t>
            </a:r>
          </a:p>
        </p:txBody>
      </p:sp>
      <p:sp>
        <p:nvSpPr>
          <p:cNvPr id="8" name="Ellipszis 7"/>
          <p:cNvSpPr/>
          <p:nvPr/>
        </p:nvSpPr>
        <p:spPr>
          <a:xfrm>
            <a:off x="1907969" y="3974275"/>
            <a:ext cx="1056904" cy="748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A4</a:t>
            </a:r>
          </a:p>
        </p:txBody>
      </p:sp>
      <p:sp>
        <p:nvSpPr>
          <p:cNvPr id="9" name="Ellipszis 8"/>
          <p:cNvSpPr/>
          <p:nvPr/>
        </p:nvSpPr>
        <p:spPr>
          <a:xfrm>
            <a:off x="3532909" y="3532908"/>
            <a:ext cx="1056904" cy="748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A3</a:t>
            </a:r>
          </a:p>
        </p:txBody>
      </p:sp>
      <p:sp>
        <p:nvSpPr>
          <p:cNvPr id="10" name="Ellipszis 9"/>
          <p:cNvSpPr/>
          <p:nvPr/>
        </p:nvSpPr>
        <p:spPr>
          <a:xfrm>
            <a:off x="5064826" y="3497283"/>
            <a:ext cx="1056904" cy="748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A4</a:t>
            </a:r>
          </a:p>
        </p:txBody>
      </p:sp>
      <p:sp>
        <p:nvSpPr>
          <p:cNvPr id="11" name="Ellipszis 10"/>
          <p:cNvSpPr/>
          <p:nvPr/>
        </p:nvSpPr>
        <p:spPr>
          <a:xfrm>
            <a:off x="7095507" y="4019797"/>
            <a:ext cx="1056904" cy="748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A4</a:t>
            </a:r>
          </a:p>
        </p:txBody>
      </p:sp>
      <p:cxnSp>
        <p:nvCxnSpPr>
          <p:cNvPr id="13" name="Egyenes összekötő nyíllal 12"/>
          <p:cNvCxnSpPr>
            <a:stCxn id="7" idx="0"/>
            <a:endCxn id="4" idx="4"/>
          </p:cNvCxnSpPr>
          <p:nvPr/>
        </p:nvCxnSpPr>
        <p:spPr>
          <a:xfrm rot="5400000" flipH="1" flipV="1">
            <a:off x="623454" y="2883725"/>
            <a:ext cx="1268681" cy="8213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nyíllal 14"/>
          <p:cNvCxnSpPr>
            <a:stCxn id="8" idx="0"/>
            <a:endCxn id="4" idx="4"/>
          </p:cNvCxnSpPr>
          <p:nvPr/>
        </p:nvCxnSpPr>
        <p:spPr>
          <a:xfrm rot="16200000" flipV="1">
            <a:off x="1395351" y="2933205"/>
            <a:ext cx="1314203" cy="7679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gyenes összekötő nyíllal 16"/>
          <p:cNvCxnSpPr>
            <a:stCxn id="9" idx="0"/>
            <a:endCxn id="5" idx="4"/>
          </p:cNvCxnSpPr>
          <p:nvPr/>
        </p:nvCxnSpPr>
        <p:spPr>
          <a:xfrm rot="5400000" flipH="1" flipV="1">
            <a:off x="3976255" y="2731324"/>
            <a:ext cx="886691" cy="71647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gyenes összekötő nyíllal 18"/>
          <p:cNvCxnSpPr>
            <a:stCxn id="10" idx="0"/>
            <a:endCxn id="5" idx="4"/>
          </p:cNvCxnSpPr>
          <p:nvPr/>
        </p:nvCxnSpPr>
        <p:spPr>
          <a:xfrm rot="16200000" flipV="1">
            <a:off x="4760026" y="2664030"/>
            <a:ext cx="851066" cy="81543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gyenes összekötő nyíllal 20"/>
          <p:cNvCxnSpPr>
            <a:stCxn id="11" idx="0"/>
            <a:endCxn id="6" idx="4"/>
          </p:cNvCxnSpPr>
          <p:nvPr/>
        </p:nvCxnSpPr>
        <p:spPr>
          <a:xfrm rot="16200000" flipV="1">
            <a:off x="6915398" y="3311236"/>
            <a:ext cx="1385455" cy="316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zövegdoboz 21"/>
          <p:cNvSpPr txBox="1"/>
          <p:nvPr/>
        </p:nvSpPr>
        <p:spPr>
          <a:xfrm>
            <a:off x="617516" y="3040083"/>
            <a:ext cx="415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+mj-lt"/>
              </a:rPr>
              <a:t>2</a:t>
            </a:r>
          </a:p>
        </p:txBody>
      </p:sp>
      <p:sp>
        <p:nvSpPr>
          <p:cNvPr id="23" name="Szövegdoboz 22"/>
          <p:cNvSpPr txBox="1"/>
          <p:nvPr/>
        </p:nvSpPr>
        <p:spPr>
          <a:xfrm>
            <a:off x="2161308" y="3051958"/>
            <a:ext cx="439387" cy="380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+mj-lt"/>
              </a:rPr>
              <a:t>3</a:t>
            </a:r>
          </a:p>
        </p:txBody>
      </p:sp>
      <p:sp>
        <p:nvSpPr>
          <p:cNvPr id="24" name="Szövegdoboz 23"/>
          <p:cNvSpPr txBox="1"/>
          <p:nvPr/>
        </p:nvSpPr>
        <p:spPr>
          <a:xfrm>
            <a:off x="3966358" y="3004457"/>
            <a:ext cx="344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+mj-lt"/>
              </a:rPr>
              <a:t>1</a:t>
            </a:r>
          </a:p>
        </p:txBody>
      </p:sp>
      <p:sp>
        <p:nvSpPr>
          <p:cNvPr id="25" name="Szövegdoboz 24"/>
          <p:cNvSpPr txBox="1"/>
          <p:nvPr/>
        </p:nvSpPr>
        <p:spPr>
          <a:xfrm>
            <a:off x="5379521" y="2873828"/>
            <a:ext cx="415637" cy="380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+mj-lt"/>
              </a:rPr>
              <a:t>2</a:t>
            </a:r>
          </a:p>
        </p:txBody>
      </p:sp>
      <p:sp>
        <p:nvSpPr>
          <p:cNvPr id="26" name="Szövegdoboz 25"/>
          <p:cNvSpPr txBox="1"/>
          <p:nvPr/>
        </p:nvSpPr>
        <p:spPr>
          <a:xfrm>
            <a:off x="7220197" y="3075709"/>
            <a:ext cx="237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+mj-lt"/>
              </a:rPr>
              <a:t>2</a:t>
            </a:r>
          </a:p>
        </p:txBody>
      </p:sp>
      <p:sp>
        <p:nvSpPr>
          <p:cNvPr id="27" name="Szövegdoboz 26"/>
          <p:cNvSpPr txBox="1"/>
          <p:nvPr/>
        </p:nvSpPr>
        <p:spPr>
          <a:xfrm>
            <a:off x="463137" y="5023262"/>
            <a:ext cx="78495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+mj-lt"/>
              </a:rPr>
              <a:t>Kérdések:</a:t>
            </a:r>
          </a:p>
          <a:p>
            <a:pPr>
              <a:buFont typeface="Arial" pitchFamily="34" charset="0"/>
              <a:buChar char="•"/>
            </a:pPr>
            <a:r>
              <a:rPr lang="hu-HU" dirty="0">
                <a:latin typeface="+mj-lt"/>
              </a:rPr>
              <a:t> Melyek a végtermékek, alapanyagok, köztes termékek?</a:t>
            </a:r>
          </a:p>
          <a:p>
            <a:pPr>
              <a:buFont typeface="Arial" pitchFamily="34" charset="0"/>
              <a:buChar char="•"/>
            </a:pPr>
            <a:r>
              <a:rPr lang="hu-HU" dirty="0">
                <a:latin typeface="+mj-lt"/>
              </a:rPr>
              <a:t> Adott értékesítéshez milyen termelés tartozik (és fordítva)?</a:t>
            </a:r>
          </a:p>
          <a:p>
            <a:pPr>
              <a:buFont typeface="Arial" pitchFamily="34" charset="0"/>
              <a:buChar char="•"/>
            </a:pPr>
            <a:r>
              <a:rPr lang="hu-HU" dirty="0">
                <a:latin typeface="+mj-lt"/>
              </a:rPr>
              <a:t> Mekkora teherautó kell a termelés kiszállításához?</a:t>
            </a:r>
          </a:p>
          <a:p>
            <a:pPr>
              <a:buFont typeface="Arial" pitchFamily="34" charset="0"/>
              <a:buChar char="•"/>
            </a:pPr>
            <a:r>
              <a:rPr lang="hu-HU" dirty="0">
                <a:latin typeface="+mj-lt"/>
              </a:rPr>
              <a:t> Mennyi legyen  A2 egységára, hogy az árbevétel 2.000 </a:t>
            </a:r>
            <a:r>
              <a:rPr lang="hu-HU" dirty="0" err="1">
                <a:latin typeface="+mj-lt"/>
              </a:rPr>
              <a:t>eFt</a:t>
            </a:r>
            <a:r>
              <a:rPr lang="hu-HU" dirty="0">
                <a:latin typeface="+mj-lt"/>
              </a:rPr>
              <a:t> legyen?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Példafeladat (adatok)</a:t>
            </a:r>
          </a:p>
        </p:txBody>
      </p:sp>
      <p:graphicFrame>
        <p:nvGraphicFramePr>
          <p:cNvPr id="4" name="Objektum 3"/>
          <p:cNvGraphicFramePr>
            <a:graphicFrameLocks noChangeAspect="1"/>
          </p:cNvGraphicFramePr>
          <p:nvPr/>
        </p:nvGraphicFramePr>
        <p:xfrm>
          <a:off x="1407679" y="1713799"/>
          <a:ext cx="1579563" cy="192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49160" imgH="914400" progId="Equation.3">
                  <p:embed/>
                </p:oleObj>
              </mc:Choice>
              <mc:Fallback>
                <p:oleObj name="Equation" r:id="rId2" imgW="749160" imgH="914400" progId="Equation.3">
                  <p:embed/>
                  <p:pic>
                    <p:nvPicPr>
                      <p:cNvPr id="4" name="Objektum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7679" y="1713799"/>
                        <a:ext cx="1579563" cy="1928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5" name="Object 3"/>
          <p:cNvGraphicFramePr>
            <a:graphicFrameLocks noChangeAspect="1"/>
          </p:cNvGraphicFramePr>
          <p:nvPr/>
        </p:nvGraphicFramePr>
        <p:xfrm>
          <a:off x="6410035" y="1727386"/>
          <a:ext cx="1793875" cy="192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50680" imgH="914400" progId="Equation.3">
                  <p:embed/>
                </p:oleObj>
              </mc:Choice>
              <mc:Fallback>
                <p:oleObj name="Equation" r:id="rId4" imgW="850680" imgH="914400" progId="Equation.3">
                  <p:embed/>
                  <p:pic>
                    <p:nvPicPr>
                      <p:cNvPr id="2867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0035" y="1727386"/>
                        <a:ext cx="1793875" cy="1928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6" name="Object 4"/>
          <p:cNvGraphicFramePr>
            <a:graphicFrameLocks noChangeAspect="1"/>
          </p:cNvGraphicFramePr>
          <p:nvPr/>
        </p:nvGraphicFramePr>
        <p:xfrm>
          <a:off x="1456810" y="4319155"/>
          <a:ext cx="1419225" cy="192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40" imgH="914400" progId="Equation.3">
                  <p:embed/>
                </p:oleObj>
              </mc:Choice>
              <mc:Fallback>
                <p:oleObj name="Equation" r:id="rId6" imgW="672840" imgH="914400" progId="Equation.3">
                  <p:embed/>
                  <p:pic>
                    <p:nvPicPr>
                      <p:cNvPr id="286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6810" y="4319155"/>
                        <a:ext cx="1419225" cy="1928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5"/>
          <p:cNvGraphicFramePr>
            <a:graphicFrameLocks noChangeAspect="1"/>
          </p:cNvGraphicFramePr>
          <p:nvPr/>
        </p:nvGraphicFramePr>
        <p:xfrm>
          <a:off x="6790522" y="4320166"/>
          <a:ext cx="1446212" cy="192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85800" imgH="914400" progId="Equation.3">
                  <p:embed/>
                </p:oleObj>
              </mc:Choice>
              <mc:Fallback>
                <p:oleObj name="Equation" r:id="rId8" imgW="685800" imgH="914400" progId="Equation.3">
                  <p:embed/>
                  <p:pic>
                    <p:nvPicPr>
                      <p:cNvPr id="2867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0522" y="4320166"/>
                        <a:ext cx="1446212" cy="1928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Példafeladat (néhány eredmény)</a:t>
            </a:r>
          </a:p>
        </p:txBody>
      </p:sp>
      <p:graphicFrame>
        <p:nvGraphicFramePr>
          <p:cNvPr id="29698" name="Object 2"/>
          <p:cNvGraphicFramePr>
            <a:graphicFrameLocks noChangeAspect="1"/>
          </p:cNvGraphicFramePr>
          <p:nvPr/>
        </p:nvGraphicFramePr>
        <p:xfrm>
          <a:off x="276205" y="1677534"/>
          <a:ext cx="2439987" cy="190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68200" imgH="914400" progId="Equation.3">
                  <p:embed/>
                </p:oleObj>
              </mc:Choice>
              <mc:Fallback>
                <p:oleObj name="Equation" r:id="rId2" imgW="1168200" imgH="914400" progId="Equation.3">
                  <p:embed/>
                  <p:pic>
                    <p:nvPicPr>
                      <p:cNvPr id="2969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205" y="1677534"/>
                        <a:ext cx="2439987" cy="1909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699" name="Object 3"/>
          <p:cNvGraphicFramePr>
            <a:graphicFrameLocks noChangeAspect="1"/>
          </p:cNvGraphicFramePr>
          <p:nvPr/>
        </p:nvGraphicFramePr>
        <p:xfrm>
          <a:off x="3108944" y="1691946"/>
          <a:ext cx="2573338" cy="190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31560" imgH="914400" progId="Equation.3">
                  <p:embed/>
                </p:oleObj>
              </mc:Choice>
              <mc:Fallback>
                <p:oleObj name="Equation" r:id="rId4" imgW="1231560" imgH="914400" progId="Equation.3">
                  <p:embed/>
                  <p:pic>
                    <p:nvPicPr>
                      <p:cNvPr id="2969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8944" y="1691946"/>
                        <a:ext cx="2573338" cy="1909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0" name="Object 4"/>
          <p:cNvGraphicFramePr>
            <a:graphicFrameLocks noChangeAspect="1"/>
          </p:cNvGraphicFramePr>
          <p:nvPr/>
        </p:nvGraphicFramePr>
        <p:xfrm>
          <a:off x="6167438" y="1689100"/>
          <a:ext cx="2413000" cy="190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55600" imgH="914400" progId="Equation.3">
                  <p:embed/>
                </p:oleObj>
              </mc:Choice>
              <mc:Fallback>
                <p:oleObj name="Equation" r:id="rId6" imgW="1155600" imgH="914400" progId="Equation.3">
                  <p:embed/>
                  <p:pic>
                    <p:nvPicPr>
                      <p:cNvPr id="297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7438" y="1689100"/>
                        <a:ext cx="2413000" cy="1909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5"/>
          <p:cNvGraphicFramePr>
            <a:graphicFrameLocks noChangeAspect="1"/>
          </p:cNvGraphicFramePr>
          <p:nvPr/>
        </p:nvGraphicFramePr>
        <p:xfrm>
          <a:off x="509588" y="4243388"/>
          <a:ext cx="1712912" cy="192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12520" imgH="914400" progId="Equation.3">
                  <p:embed/>
                </p:oleObj>
              </mc:Choice>
              <mc:Fallback>
                <p:oleObj name="Equation" r:id="rId8" imgW="812520" imgH="914400" progId="Equation.3">
                  <p:embed/>
                  <p:pic>
                    <p:nvPicPr>
                      <p:cNvPr id="2970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588" y="4243388"/>
                        <a:ext cx="1712912" cy="1928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2" name="Object 6"/>
          <p:cNvGraphicFramePr>
            <a:graphicFrameLocks noChangeAspect="1"/>
          </p:cNvGraphicFramePr>
          <p:nvPr/>
        </p:nvGraphicFramePr>
        <p:xfrm>
          <a:off x="2941350" y="4210484"/>
          <a:ext cx="1604962" cy="192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61760" imgH="914400" progId="Equation.3">
                  <p:embed/>
                </p:oleObj>
              </mc:Choice>
              <mc:Fallback>
                <p:oleObj name="Equation" r:id="rId10" imgW="761760" imgH="914400" progId="Equation.3">
                  <p:embed/>
                  <p:pic>
                    <p:nvPicPr>
                      <p:cNvPr id="2970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1350" y="4210484"/>
                        <a:ext cx="1604962" cy="1928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ktum 8"/>
          <p:cNvGraphicFramePr>
            <a:graphicFrameLocks noChangeAspect="1"/>
          </p:cNvGraphicFramePr>
          <p:nvPr/>
        </p:nvGraphicFramePr>
        <p:xfrm>
          <a:off x="5717391" y="4241799"/>
          <a:ext cx="2191575" cy="59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49160" imgH="203040" progId="Equation.3">
                  <p:embed/>
                </p:oleObj>
              </mc:Choice>
              <mc:Fallback>
                <p:oleObj name="Equation" r:id="rId12" imgW="749160" imgH="203040" progId="Equation.3">
                  <p:embed/>
                  <p:pic>
                    <p:nvPicPr>
                      <p:cNvPr id="9" name="Objektum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7391" y="4241799"/>
                        <a:ext cx="2191575" cy="59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4" name="Object 8"/>
          <p:cNvGraphicFramePr>
            <a:graphicFrameLocks noChangeAspect="1"/>
          </p:cNvGraphicFramePr>
          <p:nvPr/>
        </p:nvGraphicFramePr>
        <p:xfrm>
          <a:off x="5435600" y="5253038"/>
          <a:ext cx="271145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27000" imgH="203040" progId="Equation.3">
                  <p:embed/>
                </p:oleObj>
              </mc:Choice>
              <mc:Fallback>
                <p:oleObj name="Equation" r:id="rId14" imgW="927000" imgH="203040" progId="Equation.3">
                  <p:embed/>
                  <p:pic>
                    <p:nvPicPr>
                      <p:cNvPr id="2970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5253038"/>
                        <a:ext cx="2711450" cy="593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-té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ém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é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677</TotalTime>
  <Words>367</Words>
  <Application>Microsoft Office PowerPoint</Application>
  <PresentationFormat>Diavetítés a képernyőre (4:3 oldalarány)</PresentationFormat>
  <Paragraphs>162</Paragraphs>
  <Slides>19</Slides>
  <Notes>0</Notes>
  <HiddenSlides>0</HiddenSlides>
  <MMClips>0</MMClips>
  <ScaleCrop>false</ScaleCrop>
  <HeadingPairs>
    <vt:vector size="8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Beágyazott OLE kiszolgálók</vt:lpstr>
      </vt:variant>
      <vt:variant>
        <vt:i4>1</vt:i4>
      </vt:variant>
      <vt:variant>
        <vt:lpstr>Diacímek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Wingdings</vt:lpstr>
      <vt:lpstr>Office-téma</vt:lpstr>
      <vt:lpstr>Equation</vt:lpstr>
      <vt:lpstr>PowerPoint-bemutató</vt:lpstr>
      <vt:lpstr>Alapkérdés</vt:lpstr>
      <vt:lpstr>Árbevétel-irányú megközelítés</vt:lpstr>
      <vt:lpstr>Termelési feltételek oldaláról való megközelítés</vt:lpstr>
      <vt:lpstr>Alap-összefüggés</vt:lpstr>
      <vt:lpstr>Vektorok, mátrixok tartalma</vt:lpstr>
      <vt:lpstr>Beépülési mátrix értelmezése</vt:lpstr>
      <vt:lpstr>Halmozott beépülési mátrix</vt:lpstr>
      <vt:lpstr>Árbevétel-irányú megközelítés</vt:lpstr>
      <vt:lpstr>Termelési feltételek oldaláról</vt:lpstr>
      <vt:lpstr>Termelési feltételek oldaláról</vt:lpstr>
      <vt:lpstr>Mérlegegyenlet felállítása</vt:lpstr>
      <vt:lpstr>Egyéb számítások</vt:lpstr>
      <vt:lpstr>Árbevétel számítása</vt:lpstr>
      <vt:lpstr>Szállítási kapacitás számítása</vt:lpstr>
      <vt:lpstr>Excel-segítség</vt:lpstr>
      <vt:lpstr>Példafeladat</vt:lpstr>
      <vt:lpstr>Példafeladat (adatok)</vt:lpstr>
      <vt:lpstr>Példafeladat (néhány eredmény)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bemutató</dc:title>
  <dc:creator>Dr. Berényi László</dc:creator>
  <cp:lastModifiedBy>Lászlo Dr. Berényi</cp:lastModifiedBy>
  <cp:revision>81</cp:revision>
  <dcterms:created xsi:type="dcterms:W3CDTF">2015-07-30T19:30:28Z</dcterms:created>
  <dcterms:modified xsi:type="dcterms:W3CDTF">2021-04-26T16:38:03Z</dcterms:modified>
</cp:coreProperties>
</file>