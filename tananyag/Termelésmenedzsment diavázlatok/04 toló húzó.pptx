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75" r:id="rId22"/>
    <p:sldId id="280" r:id="rId23"/>
    <p:sldId id="281" r:id="rId24"/>
    <p:sldId id="282" r:id="rId25"/>
    <p:sldId id="283" r:id="rId26"/>
    <p:sldId id="284" r:id="rId27"/>
    <p:sldId id="285" r:id="rId28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1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Toló és húzó termelésirányítás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3600" dirty="0"/>
              <a:t>Toló (</a:t>
            </a:r>
            <a:r>
              <a:rPr lang="hu-HU" sz="3600" dirty="0" err="1"/>
              <a:t>push</a:t>
            </a:r>
            <a:r>
              <a:rPr lang="hu-HU" sz="3600" dirty="0"/>
              <a:t>) termelésirányítás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Push-működés</a:t>
            </a:r>
            <a:r>
              <a:rPr lang="hu-HU" dirty="0"/>
              <a:t>: prognosztizált adatokra épít</a:t>
            </a:r>
          </a:p>
          <a:p>
            <a:pPr lvl="1"/>
            <a:r>
              <a:rPr lang="hu-HU" dirty="0"/>
              <a:t>Értékesítési terv készül</a:t>
            </a:r>
          </a:p>
          <a:p>
            <a:pPr lvl="1"/>
            <a:r>
              <a:rPr lang="hu-HU" dirty="0"/>
              <a:t>Értékesítési tervből alapanyag és alkatrész</a:t>
            </a:r>
          </a:p>
          <a:p>
            <a:endParaRPr lang="hu-HU" sz="1500" dirty="0"/>
          </a:p>
          <a:p>
            <a:r>
              <a:rPr lang="hu-HU" dirty="0"/>
              <a:t>Hatása a készletekre:</a:t>
            </a:r>
          </a:p>
          <a:p>
            <a:pPr lvl="1"/>
            <a:r>
              <a:rPr lang="hu-HU" dirty="0"/>
              <a:t>Nagy átfutási idő</a:t>
            </a:r>
          </a:p>
          <a:p>
            <a:pPr lvl="1"/>
            <a:r>
              <a:rPr lang="hu-HU" dirty="0"/>
              <a:t>Készletcsökkentés logisztikával integrált termelésütemezéssel</a:t>
            </a:r>
          </a:p>
          <a:p>
            <a:pPr lvl="1"/>
            <a:endParaRPr lang="hu-HU" dirty="0"/>
          </a:p>
        </p:txBody>
      </p:sp>
      <p:pic>
        <p:nvPicPr>
          <p:cNvPr id="169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545" y="4713840"/>
            <a:ext cx="779145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MRP 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83974"/>
          </a:xfrm>
        </p:spPr>
        <p:txBody>
          <a:bodyPr/>
          <a:lstStyle/>
          <a:p>
            <a:r>
              <a:rPr lang="hu-HU" dirty="0" err="1"/>
              <a:t>Material</a:t>
            </a:r>
            <a:r>
              <a:rPr lang="hu-HU" dirty="0"/>
              <a:t> </a:t>
            </a:r>
            <a:r>
              <a:rPr lang="hu-HU" dirty="0" err="1"/>
              <a:t>Requirement</a:t>
            </a:r>
            <a:r>
              <a:rPr lang="hu-HU" dirty="0"/>
              <a:t> </a:t>
            </a:r>
            <a:r>
              <a:rPr lang="hu-HU" dirty="0" err="1"/>
              <a:t>Plannig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3441778" y="4042860"/>
            <a:ext cx="2325756" cy="815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/>
              <a:t>MRP</a:t>
            </a:r>
          </a:p>
        </p:txBody>
      </p:sp>
      <p:sp>
        <p:nvSpPr>
          <p:cNvPr id="5" name="Téglalap 4"/>
          <p:cNvSpPr/>
          <p:nvPr/>
        </p:nvSpPr>
        <p:spPr>
          <a:xfrm>
            <a:off x="2936303" y="2393282"/>
            <a:ext cx="3174212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Termelési vezérprogram</a:t>
            </a:r>
          </a:p>
          <a:p>
            <a:pPr algn="ctr"/>
            <a:r>
              <a:rPr lang="hu-HU" b="1" dirty="0">
                <a:solidFill>
                  <a:schemeClr val="tx1"/>
                </a:solidFill>
              </a:rPr>
              <a:t>(Mit akarunk termelni?)</a:t>
            </a:r>
          </a:p>
        </p:txBody>
      </p:sp>
      <p:sp>
        <p:nvSpPr>
          <p:cNvPr id="6" name="Téglalap 5"/>
          <p:cNvSpPr/>
          <p:nvPr/>
        </p:nvSpPr>
        <p:spPr>
          <a:xfrm>
            <a:off x="1504121" y="5678556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Beszerzés</a:t>
            </a:r>
          </a:p>
        </p:txBody>
      </p:sp>
      <p:sp>
        <p:nvSpPr>
          <p:cNvPr id="7" name="Téglalap 6"/>
          <p:cNvSpPr/>
          <p:nvPr/>
        </p:nvSpPr>
        <p:spPr>
          <a:xfrm>
            <a:off x="5146260" y="5624285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Gyártás</a:t>
            </a:r>
          </a:p>
        </p:txBody>
      </p:sp>
      <p:sp>
        <p:nvSpPr>
          <p:cNvPr id="8" name="Téglalap 7"/>
          <p:cNvSpPr/>
          <p:nvPr/>
        </p:nvSpPr>
        <p:spPr>
          <a:xfrm>
            <a:off x="311426" y="4025506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BOM (Mi kell?)</a:t>
            </a:r>
          </a:p>
        </p:txBody>
      </p:sp>
      <p:sp>
        <p:nvSpPr>
          <p:cNvPr id="9" name="Téglalap 8"/>
          <p:cNvSpPr/>
          <p:nvPr/>
        </p:nvSpPr>
        <p:spPr>
          <a:xfrm>
            <a:off x="6716646" y="4030864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Készlet (Mi van?)</a:t>
            </a:r>
          </a:p>
        </p:txBody>
      </p:sp>
      <p:cxnSp>
        <p:nvCxnSpPr>
          <p:cNvPr id="11" name="Egyenes összekötő nyíllal 10"/>
          <p:cNvCxnSpPr/>
          <p:nvPr/>
        </p:nvCxnSpPr>
        <p:spPr>
          <a:xfrm rot="16200000" flipH="1">
            <a:off x="4288971" y="3548742"/>
            <a:ext cx="537028" cy="290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/>
          <p:cNvCxnSpPr/>
          <p:nvPr/>
        </p:nvCxnSpPr>
        <p:spPr>
          <a:xfrm>
            <a:off x="2743200" y="4397830"/>
            <a:ext cx="551543" cy="145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rot="10800000">
            <a:off x="5994401" y="4484914"/>
            <a:ext cx="55154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/>
          <p:cNvCxnSpPr/>
          <p:nvPr/>
        </p:nvCxnSpPr>
        <p:spPr>
          <a:xfrm rot="10800000" flipV="1">
            <a:off x="3018972" y="5007429"/>
            <a:ext cx="1451429" cy="4354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>
            <a:off x="4760686" y="4963886"/>
            <a:ext cx="1451428" cy="4644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MRP II.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Manufacturing</a:t>
            </a:r>
            <a:r>
              <a:rPr lang="hu-HU" dirty="0"/>
              <a:t> </a:t>
            </a:r>
            <a:r>
              <a:rPr lang="hu-HU" dirty="0" err="1"/>
              <a:t>Resorces</a:t>
            </a:r>
            <a:r>
              <a:rPr lang="hu-HU" dirty="0"/>
              <a:t> </a:t>
            </a:r>
            <a:r>
              <a:rPr lang="hu-HU" dirty="0" err="1"/>
              <a:t>Planning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3180521" y="3955774"/>
            <a:ext cx="2325756" cy="8150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Központi adatbázis</a:t>
            </a:r>
          </a:p>
        </p:txBody>
      </p:sp>
      <p:sp>
        <p:nvSpPr>
          <p:cNvPr id="5" name="Téglalap 4"/>
          <p:cNvSpPr/>
          <p:nvPr/>
        </p:nvSpPr>
        <p:spPr>
          <a:xfrm>
            <a:off x="6020273" y="2383498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Pénzügy</a:t>
            </a:r>
          </a:p>
        </p:txBody>
      </p:sp>
      <p:sp>
        <p:nvSpPr>
          <p:cNvPr id="6" name="Téglalap 5"/>
          <p:cNvSpPr/>
          <p:nvPr/>
        </p:nvSpPr>
        <p:spPr>
          <a:xfrm>
            <a:off x="5758069" y="5446010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Termelés</a:t>
            </a:r>
          </a:p>
        </p:txBody>
      </p:sp>
      <p:sp>
        <p:nvSpPr>
          <p:cNvPr id="7" name="Téglalap 6"/>
          <p:cNvSpPr/>
          <p:nvPr/>
        </p:nvSpPr>
        <p:spPr>
          <a:xfrm>
            <a:off x="503267" y="2486045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Marketing</a:t>
            </a:r>
          </a:p>
        </p:txBody>
      </p:sp>
      <p:sp>
        <p:nvSpPr>
          <p:cNvPr id="8" name="Téglalap 7"/>
          <p:cNvSpPr/>
          <p:nvPr/>
        </p:nvSpPr>
        <p:spPr>
          <a:xfrm>
            <a:off x="430695" y="5420139"/>
            <a:ext cx="2325756" cy="815009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</a:rPr>
              <a:t>Fejlesztés, gyártás-előkészítés</a:t>
            </a:r>
          </a:p>
        </p:txBody>
      </p:sp>
      <p:cxnSp>
        <p:nvCxnSpPr>
          <p:cNvPr id="10" name="Egyenes összekötő nyíllal 9"/>
          <p:cNvCxnSpPr/>
          <p:nvPr/>
        </p:nvCxnSpPr>
        <p:spPr>
          <a:xfrm flipV="1">
            <a:off x="4789714" y="3570514"/>
            <a:ext cx="2119086" cy="1886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/>
          <p:cNvCxnSpPr/>
          <p:nvPr/>
        </p:nvCxnSpPr>
        <p:spPr>
          <a:xfrm flipV="1">
            <a:off x="1690914" y="4985657"/>
            <a:ext cx="2119086" cy="1886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/>
          <p:cNvCxnSpPr/>
          <p:nvPr/>
        </p:nvCxnSpPr>
        <p:spPr>
          <a:xfrm>
            <a:off x="1712686" y="3483429"/>
            <a:ext cx="2075543" cy="304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/>
          <p:nvPr/>
        </p:nvCxnSpPr>
        <p:spPr>
          <a:xfrm>
            <a:off x="4840515" y="4956629"/>
            <a:ext cx="2075543" cy="304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Húzó (</a:t>
            </a:r>
            <a:r>
              <a:rPr lang="hu-HU" dirty="0" err="1"/>
              <a:t>pull</a:t>
            </a:r>
            <a:r>
              <a:rPr lang="hu-HU" dirty="0"/>
              <a:t>) termelésirányítás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Ütemezés vevői igényeknek megfelelően</a:t>
            </a:r>
          </a:p>
          <a:p>
            <a:r>
              <a:rPr lang="hu-HU" dirty="0"/>
              <a:t>Gyors termelés-indítás</a:t>
            </a:r>
          </a:p>
          <a:p>
            <a:r>
              <a:rPr lang="hu-HU" dirty="0"/>
              <a:t>Optimalizálható átfutási idő</a:t>
            </a:r>
          </a:p>
          <a:p>
            <a:endParaRPr lang="hu-HU" dirty="0"/>
          </a:p>
        </p:txBody>
      </p:sp>
      <p:pic>
        <p:nvPicPr>
          <p:cNvPr id="1710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41" y="4073180"/>
            <a:ext cx="80676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Húzó rendszer előnyei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5600" y="1701800"/>
            <a:ext cx="8229600" cy="4525963"/>
          </a:xfrm>
        </p:spPr>
        <p:txBody>
          <a:bodyPr/>
          <a:lstStyle/>
          <a:p>
            <a:pPr marL="809625" indent="-547688" algn="just"/>
            <a:r>
              <a:rPr lang="hu-HU" sz="2000" b="1" dirty="0"/>
              <a:t>Egyszerű</a:t>
            </a:r>
            <a:r>
              <a:rPr lang="hu-HU" sz="2000" dirty="0"/>
              <a:t>: viszonylag kis ráfordítással, rövid idő alatt megvalósíthatók. Még számítógép alkalmazását sem igénylik.</a:t>
            </a:r>
          </a:p>
          <a:p>
            <a:pPr marL="809625" indent="-547688" algn="just"/>
            <a:r>
              <a:rPr lang="hu-HU" sz="2000" b="1" dirty="0"/>
              <a:t>Önszabályozó</a:t>
            </a:r>
            <a:r>
              <a:rPr lang="hu-HU" sz="2000" dirty="0"/>
              <a:t>: a húzás révén nincs szükség külön szabályozásra.</a:t>
            </a:r>
          </a:p>
          <a:p>
            <a:pPr marL="809625" indent="-547688" algn="just"/>
            <a:r>
              <a:rPr lang="hu-HU" sz="2000" b="1" dirty="0"/>
              <a:t>Állandó</a:t>
            </a:r>
            <a:r>
              <a:rPr lang="hu-HU" sz="2000" dirty="0"/>
              <a:t> méretek, </a:t>
            </a:r>
            <a:r>
              <a:rPr lang="hu-HU" sz="2000" b="1" dirty="0"/>
              <a:t>tételnagyság</a:t>
            </a:r>
            <a:r>
              <a:rPr lang="hu-HU" sz="2000" dirty="0"/>
              <a:t>: A küldő számára jelent előnyt, ha állandó tételnagyságokra van igény.</a:t>
            </a:r>
          </a:p>
          <a:p>
            <a:pPr marL="809625" indent="-547688" algn="just"/>
            <a:r>
              <a:rPr lang="hu-HU" sz="2000" b="1" dirty="0"/>
              <a:t>Tetszőleges</a:t>
            </a:r>
            <a:r>
              <a:rPr lang="hu-HU" sz="2000" dirty="0"/>
              <a:t>, csökkenthető </a:t>
            </a:r>
            <a:r>
              <a:rPr lang="hu-HU" sz="2000" b="1" dirty="0"/>
              <a:t>tételnagyság</a:t>
            </a:r>
            <a:r>
              <a:rPr lang="hu-HU" sz="2000" dirty="0"/>
              <a:t>: A szállítások gyakorisága és a szállítandó tétel nagysága kapcsolatban van egymással. A kettő optimuma a megfelelő méretű szállító/tároló eszközzel beállítható.</a:t>
            </a:r>
          </a:p>
          <a:p>
            <a:pPr marL="809625" indent="-547688" algn="just"/>
            <a:r>
              <a:rPr lang="hu-HU" sz="2000" dirty="0"/>
              <a:t>A gyártásközi </a:t>
            </a:r>
            <a:r>
              <a:rPr lang="hu-HU" sz="2000" b="1" dirty="0"/>
              <a:t>készletek</a:t>
            </a:r>
            <a:r>
              <a:rPr lang="hu-HU" sz="2000" dirty="0"/>
              <a:t> </a:t>
            </a:r>
            <a:r>
              <a:rPr lang="hu-HU" sz="2000" b="1" dirty="0"/>
              <a:t>ellenőrzés</a:t>
            </a:r>
            <a:r>
              <a:rPr lang="hu-HU" sz="2000" dirty="0"/>
              <a:t> </a:t>
            </a:r>
            <a:r>
              <a:rPr lang="hu-HU" sz="2000" b="1" dirty="0"/>
              <a:t>alatt</a:t>
            </a:r>
            <a:r>
              <a:rPr lang="hu-HU" sz="2000" dirty="0"/>
              <a:t> </a:t>
            </a:r>
            <a:r>
              <a:rPr lang="hu-HU" sz="2000" b="1" dirty="0"/>
              <a:t>tartható</a:t>
            </a:r>
            <a:r>
              <a:rPr lang="hu-HU" sz="2000" dirty="0"/>
              <a:t>. Mivel mindig az igényeknek megfelelő a termelés, ezért nem alakulnak ki hatalmas gyártásközi készletek. Ennek fontos feltétele az összehangolt kapacitás.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Toyota Termelési Rendszer (TPS)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/>
              <a:t>Több lábon álló </a:t>
            </a:r>
            <a:r>
              <a:rPr lang="hu-HU" dirty="0" err="1"/>
              <a:t>keiretsu</a:t>
            </a:r>
            <a:r>
              <a:rPr lang="hu-HU" dirty="0"/>
              <a:t> (konglomerátum)</a:t>
            </a:r>
          </a:p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 err="1"/>
              <a:t>Genchi</a:t>
            </a:r>
            <a:r>
              <a:rPr lang="hu-HU" dirty="0"/>
              <a:t> </a:t>
            </a:r>
            <a:r>
              <a:rPr lang="hu-HU" dirty="0" err="1"/>
              <a:t>genbutsu</a:t>
            </a:r>
            <a:r>
              <a:rPr lang="hu-HU" dirty="0"/>
              <a:t> – személyes részvétel</a:t>
            </a:r>
          </a:p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 err="1"/>
              <a:t>Jidoka</a:t>
            </a:r>
            <a:r>
              <a:rPr lang="hu-HU" dirty="0"/>
              <a:t> – beépített minőség</a:t>
            </a:r>
          </a:p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 err="1"/>
              <a:t>Poka-yoke</a:t>
            </a:r>
            <a:r>
              <a:rPr lang="hu-HU" dirty="0"/>
              <a:t> – </a:t>
            </a:r>
            <a:r>
              <a:rPr lang="hu-HU" dirty="0" err="1"/>
              <a:t>bolondbiztos</a:t>
            </a:r>
            <a:r>
              <a:rPr lang="hu-HU" dirty="0"/>
              <a:t> működés</a:t>
            </a:r>
          </a:p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/>
              <a:t>Veszteség feltárása és felszámolása</a:t>
            </a:r>
          </a:p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 err="1"/>
              <a:t>Heijunka</a:t>
            </a:r>
            <a:r>
              <a:rPr lang="hu-HU" dirty="0"/>
              <a:t> - kiegyenlített termelés</a:t>
            </a:r>
          </a:p>
          <a:p>
            <a:pPr marL="531813" indent="-531813">
              <a:lnSpc>
                <a:spcPct val="130000"/>
              </a:lnSpc>
              <a:buFont typeface="Arial" pitchFamily="34" charset="0"/>
              <a:buChar char="•"/>
            </a:pPr>
            <a:r>
              <a:rPr lang="hu-HU" dirty="0" err="1"/>
              <a:t>Hansei</a:t>
            </a:r>
            <a:r>
              <a:rPr lang="hu-HU" dirty="0"/>
              <a:t> – folyamatos újragondolás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377370"/>
            <a:ext cx="8229600" cy="667657"/>
          </a:xfrm>
        </p:spPr>
        <p:txBody>
          <a:bodyPr>
            <a:normAutofit/>
          </a:bodyPr>
          <a:lstStyle/>
          <a:p>
            <a:r>
              <a:rPr lang="hu-HU" sz="4000" dirty="0"/>
              <a:t>TPS</a:t>
            </a:r>
            <a:endParaRPr lang="hu-HU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8954" y="6381750"/>
            <a:ext cx="7634287" cy="4762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hu-HU" sz="1800" b="1">
                <a:latin typeface="+mj-lt"/>
              </a:rPr>
              <a:t>Toyota-módszer - filozófia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08954" y="5905500"/>
            <a:ext cx="7634287" cy="4762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hu-HU" sz="1800" b="1">
                <a:latin typeface="+mj-lt"/>
              </a:rPr>
              <a:t>Vizuális menedzsment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08954" y="5445125"/>
            <a:ext cx="7634287" cy="4762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hu-HU" sz="1800" b="1">
                <a:latin typeface="+mj-lt"/>
              </a:rPr>
              <a:t>Stabil és szabványosított folyamatok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808954" y="4968875"/>
            <a:ext cx="7634287" cy="4762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hu-HU" sz="1800" b="1">
                <a:latin typeface="+mj-lt"/>
              </a:rPr>
              <a:t>Kiegyenlített termeléstervezés (heijunka)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08954" y="2060575"/>
            <a:ext cx="1873250" cy="29527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hu-HU" sz="1200" b="1">
                <a:latin typeface="+mj-lt"/>
              </a:rPr>
              <a:t>JIT:</a:t>
            </a:r>
          </a:p>
          <a:p>
            <a:pPr algn="ctr"/>
            <a:r>
              <a:rPr lang="hu-HU" sz="1200" b="1">
                <a:latin typeface="+mj-lt"/>
              </a:rPr>
              <a:t>Megfelelő termék, mennyiségben és időben</a:t>
            </a:r>
          </a:p>
          <a:p>
            <a:pPr algn="ctr">
              <a:buFontTx/>
              <a:buChar char="-"/>
            </a:pPr>
            <a:endParaRPr lang="hu-HU" sz="1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hu-HU" sz="1200">
                <a:latin typeface="+mj-lt"/>
              </a:rPr>
              <a:t>ütemidő-tervezés</a:t>
            </a:r>
          </a:p>
          <a:p>
            <a:pPr>
              <a:buFont typeface="Wingdings" pitchFamily="2" charset="2"/>
              <a:buChar char="q"/>
            </a:pPr>
            <a:r>
              <a:rPr lang="hu-HU" sz="1200">
                <a:latin typeface="+mj-lt"/>
              </a:rPr>
              <a:t>folyamatos áramlás</a:t>
            </a:r>
          </a:p>
          <a:p>
            <a:pPr>
              <a:buFont typeface="Wingdings" pitchFamily="2" charset="2"/>
              <a:buChar char="q"/>
            </a:pPr>
            <a:r>
              <a:rPr lang="hu-HU" sz="1200">
                <a:latin typeface="+mj-lt"/>
              </a:rPr>
              <a:t>húzórendszer</a:t>
            </a:r>
          </a:p>
          <a:p>
            <a:pPr>
              <a:buFont typeface="Wingdings" pitchFamily="2" charset="2"/>
              <a:buChar char="q"/>
            </a:pPr>
            <a:r>
              <a:rPr lang="hu-HU" sz="1200">
                <a:latin typeface="+mj-lt"/>
              </a:rPr>
              <a:t>gyors átállás</a:t>
            </a:r>
          </a:p>
          <a:p>
            <a:pPr>
              <a:buFont typeface="Wingdings" pitchFamily="2" charset="2"/>
              <a:buChar char="q"/>
            </a:pPr>
            <a:r>
              <a:rPr lang="hu-HU" sz="1200">
                <a:latin typeface="+mj-lt"/>
              </a:rPr>
              <a:t>integrált logisztika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6569991" y="2060575"/>
            <a:ext cx="1873250" cy="29527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hu-HU" sz="1200" b="1" dirty="0" err="1">
                <a:latin typeface="+mj-lt"/>
              </a:rPr>
              <a:t>Jidoka</a:t>
            </a:r>
            <a:r>
              <a:rPr lang="hu-HU" sz="1200" b="1" dirty="0">
                <a:latin typeface="+mj-lt"/>
              </a:rPr>
              <a:t> (beépített minőség) = problémák láthatóvá tétele</a:t>
            </a:r>
          </a:p>
          <a:p>
            <a:pPr algn="ctr"/>
            <a:endParaRPr lang="hu-HU" sz="1200" b="1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hu-HU" sz="1200" dirty="0">
                <a:latin typeface="+mj-lt"/>
              </a:rPr>
              <a:t>Automatikus leállás</a:t>
            </a:r>
          </a:p>
          <a:p>
            <a:pPr>
              <a:buFont typeface="Wingdings" pitchFamily="2" charset="2"/>
              <a:buChar char="q"/>
            </a:pPr>
            <a:r>
              <a:rPr lang="hu-HU" sz="1200" dirty="0" err="1">
                <a:latin typeface="+mj-lt"/>
              </a:rPr>
              <a:t>Andon</a:t>
            </a:r>
            <a:r>
              <a:rPr lang="hu-HU" sz="1200" dirty="0">
                <a:latin typeface="+mj-lt"/>
              </a:rPr>
              <a:t> rendszer</a:t>
            </a:r>
          </a:p>
          <a:p>
            <a:pPr>
              <a:buFont typeface="Wingdings" pitchFamily="2" charset="2"/>
              <a:buChar char="q"/>
            </a:pPr>
            <a:r>
              <a:rPr lang="hu-HU" sz="1200" dirty="0">
                <a:latin typeface="+mj-lt"/>
              </a:rPr>
              <a:t>Ember-gép szétválasztás</a:t>
            </a:r>
          </a:p>
          <a:p>
            <a:pPr>
              <a:buFont typeface="Wingdings" pitchFamily="2" charset="2"/>
              <a:buChar char="q"/>
            </a:pPr>
            <a:r>
              <a:rPr lang="hu-HU" sz="1200" dirty="0">
                <a:latin typeface="+mj-lt"/>
              </a:rPr>
              <a:t>Meghibásodás-mentesség</a:t>
            </a:r>
          </a:p>
          <a:p>
            <a:pPr>
              <a:buFont typeface="Wingdings" pitchFamily="2" charset="2"/>
              <a:buChar char="q"/>
            </a:pPr>
            <a:r>
              <a:rPr lang="hu-HU" sz="1200" dirty="0">
                <a:latin typeface="+mj-lt"/>
              </a:rPr>
              <a:t>Munkaállomásba épített minőség-ellenőrzés</a:t>
            </a:r>
          </a:p>
          <a:p>
            <a:pPr>
              <a:buFont typeface="Wingdings" pitchFamily="2" charset="2"/>
              <a:buChar char="q"/>
            </a:pPr>
            <a:r>
              <a:rPr lang="hu-HU" sz="1200" dirty="0">
                <a:latin typeface="+mj-lt"/>
              </a:rPr>
              <a:t>Problémák megoldás </a:t>
            </a:r>
            <a:r>
              <a:rPr lang="hu-HU" sz="1200" dirty="0" err="1">
                <a:latin typeface="+mj-lt"/>
              </a:rPr>
              <a:t>gyökérokoknál</a:t>
            </a:r>
            <a:r>
              <a:rPr lang="hu-HU" sz="1200" dirty="0">
                <a:latin typeface="+mj-lt"/>
              </a:rPr>
              <a:t> (5W1H)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808954" y="1341438"/>
            <a:ext cx="7634287" cy="719137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hu-HU" sz="1200" b="1" dirty="0">
                <a:latin typeface="+mj-lt"/>
              </a:rPr>
              <a:t>Legjobb minőség – legalacsonyabb ár – legrövidebb átfutási idő – </a:t>
            </a:r>
          </a:p>
          <a:p>
            <a:pPr algn="ctr"/>
            <a:r>
              <a:rPr lang="hu-HU" sz="1200" b="1" dirty="0">
                <a:latin typeface="+mj-lt"/>
              </a:rPr>
              <a:t>legmagasabb fokú biztonság – kiváló morál</a:t>
            </a:r>
          </a:p>
          <a:p>
            <a:pPr algn="ctr"/>
            <a:r>
              <a:rPr lang="hu-HU" sz="1200" dirty="0">
                <a:latin typeface="+mj-lt"/>
              </a:rPr>
              <a:t>A veszteség felszámolása segítségével lerövidített gyártási folyamat révén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042566" y="2133600"/>
            <a:ext cx="3240088" cy="1008063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273050" indent="-273050"/>
            <a:r>
              <a:rPr lang="hu-HU" sz="1300" b="1">
                <a:solidFill>
                  <a:schemeClr val="bg1"/>
                </a:solidFill>
                <a:latin typeface="+mj-lt"/>
              </a:rPr>
              <a:t>         Munkatársak és csapatmunka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Kiválsztás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Közös célok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Konszenzuson alapuló döntéshozatal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Sokoldalú képzés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42566" y="3860800"/>
            <a:ext cx="3240088" cy="1008063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273050" indent="-273050"/>
            <a:r>
              <a:rPr lang="hu-HU" sz="1300" b="1">
                <a:solidFill>
                  <a:schemeClr val="bg1"/>
                </a:solidFill>
                <a:latin typeface="+mj-lt"/>
              </a:rPr>
              <a:t>              Veszteség csökkentése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Genchi genbutsu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5W1H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Képesség a veszteségek felismerésére</a:t>
            </a:r>
          </a:p>
          <a:p>
            <a:pPr marL="273050" indent="-273050">
              <a:buFont typeface="Wingdings" pitchFamily="2" charset="2"/>
              <a:buChar char="q"/>
            </a:pPr>
            <a:r>
              <a:rPr lang="hu-HU" sz="1300">
                <a:solidFill>
                  <a:schemeClr val="bg1"/>
                </a:solidFill>
                <a:latin typeface="+mj-lt"/>
              </a:rPr>
              <a:t>problémamegoldás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690266" y="3357563"/>
            <a:ext cx="22336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1400" b="1">
                <a:latin typeface="+mj-lt"/>
              </a:rPr>
              <a:t>Folyamatos fejlesztés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808954" y="1196975"/>
            <a:ext cx="7705725" cy="144463"/>
          </a:xfrm>
          <a:prstGeom prst="triangle">
            <a:avLst>
              <a:gd name="adj" fmla="val 50000"/>
            </a:avLst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3042566" y="3646488"/>
            <a:ext cx="3240088" cy="214312"/>
          </a:xfrm>
          <a:prstGeom prst="triangle">
            <a:avLst>
              <a:gd name="adj" fmla="val 50000"/>
            </a:avLst>
          </a:prstGeom>
          <a:solidFill>
            <a:srgbClr val="8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 rot="10800000">
            <a:off x="3042566" y="3141663"/>
            <a:ext cx="3240088" cy="214312"/>
          </a:xfrm>
          <a:prstGeom prst="triangle">
            <a:avLst>
              <a:gd name="adj" fmla="val 50000"/>
            </a:avLst>
          </a:prstGeom>
          <a:solidFill>
            <a:srgbClr val="80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hu-HU">
              <a:latin typeface="+mj-lt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953416" y="6381750"/>
            <a:ext cx="7345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953416" y="5876925"/>
            <a:ext cx="7345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953416" y="5445125"/>
            <a:ext cx="7345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953416" y="4941888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6785891" y="4941888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>
            <a:off x="953416" y="2133600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  <p:sp>
        <p:nvSpPr>
          <p:cNvPr id="23" name="Line 23"/>
          <p:cNvSpPr>
            <a:spLocks noChangeShapeType="1"/>
          </p:cNvSpPr>
          <p:nvPr/>
        </p:nvSpPr>
        <p:spPr bwMode="auto">
          <a:xfrm>
            <a:off x="6785891" y="2133600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hu-HU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3M - veszteségforrások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1694996" y="1620611"/>
            <a:ext cx="3313113" cy="2881313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hu-HU" sz="3200"/>
              <a:t>Muda</a:t>
            </a:r>
          </a:p>
          <a:p>
            <a:pPr algn="ctr">
              <a:defRPr/>
            </a:pPr>
            <a:r>
              <a:rPr lang="hu-HU" sz="1800"/>
              <a:t>Veszteség</a:t>
            </a:r>
          </a:p>
          <a:p>
            <a:pPr algn="ctr">
              <a:defRPr/>
            </a:pPr>
            <a:r>
              <a:rPr lang="hu-HU" sz="1800"/>
              <a:t>(nem érték teremtése)</a:t>
            </a: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4574721" y="1620611"/>
            <a:ext cx="3313113" cy="2881313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hu-HU" sz="3200"/>
              <a:t>Muri</a:t>
            </a:r>
          </a:p>
          <a:p>
            <a:pPr algn="ctr">
              <a:defRPr/>
            </a:pPr>
            <a:r>
              <a:rPr lang="hu-HU" sz="1800"/>
              <a:t>Túlterhelés</a:t>
            </a:r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3134859" y="3565299"/>
            <a:ext cx="3313112" cy="2881312"/>
          </a:xfrm>
          <a:prstGeom prst="ellipse">
            <a:avLst/>
          </a:prstGeom>
          <a:blipFill>
            <a:blip r:embed="rId2" cstate="print"/>
            <a:tile tx="0" ty="0" sx="100000" sy="100000" flip="none" algn="tl"/>
          </a:blipFill>
          <a:ln w="9525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hu-HU" sz="3200"/>
              <a:t>Mura</a:t>
            </a:r>
          </a:p>
          <a:p>
            <a:pPr algn="ctr">
              <a:defRPr/>
            </a:pPr>
            <a:r>
              <a:rPr lang="hu-HU" sz="1800"/>
              <a:t>Egyenletlenség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sz="4000" dirty="0"/>
              <a:t>Veszteségforrások - részletesebben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Túltermelés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Várakozás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Felesleges szállítás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 err="1"/>
              <a:t>Túlfeldolgozás</a:t>
            </a:r>
            <a:r>
              <a:rPr lang="hu-HU" sz="2400" dirty="0"/>
              <a:t> vagy nem megfelelő feldolgozás (túl jó minőség is!)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Túl sok készlet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Felesleges mozgás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Selejt</a:t>
            </a:r>
          </a:p>
          <a:p>
            <a:pPr marL="627063" indent="-627063">
              <a:lnSpc>
                <a:spcPct val="120000"/>
              </a:lnSpc>
              <a:buFont typeface="Arial" pitchFamily="34" charset="0"/>
              <a:buChar char="•"/>
            </a:pPr>
            <a:r>
              <a:rPr lang="hu-HU" sz="2400" dirty="0"/>
              <a:t>Munkatársak kihasználatlan kreativitása</a:t>
            </a:r>
          </a:p>
          <a:p>
            <a:endParaRPr lang="hu-HU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29855" y="240145"/>
            <a:ext cx="8229600" cy="957943"/>
          </a:xfrm>
        </p:spPr>
        <p:txBody>
          <a:bodyPr/>
          <a:lstStyle/>
          <a:p>
            <a:r>
              <a:rPr lang="hu-HU" dirty="0" err="1"/>
              <a:t>Just</a:t>
            </a:r>
            <a:r>
              <a:rPr lang="hu-HU" dirty="0"/>
              <a:t> </a:t>
            </a:r>
            <a:r>
              <a:rPr lang="hu-HU" dirty="0" err="1"/>
              <a:t>in</a:t>
            </a:r>
            <a:r>
              <a:rPr lang="hu-HU" dirty="0"/>
              <a:t> </a:t>
            </a:r>
            <a:r>
              <a:rPr lang="hu-HU" dirty="0" err="1"/>
              <a:t>time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96918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hu-HU" sz="2400" dirty="0"/>
              <a:t>Működési filozófia, ami csökkenti a készleteket, a veszteséget és költségeket, bevonja az alkalmazottakat. Célja a minőség és kiszolgálás javítása.</a:t>
            </a:r>
          </a:p>
          <a:p>
            <a:endParaRPr lang="hu-HU" dirty="0"/>
          </a:p>
          <a:p>
            <a:r>
              <a:rPr lang="hu-HU" dirty="0"/>
              <a:t>Legfontosabb jellemzői :</a:t>
            </a:r>
          </a:p>
          <a:p>
            <a:pPr lvl="1"/>
            <a:r>
              <a:rPr lang="hu-HU" dirty="0"/>
              <a:t>folyamatos gyártás esetén alkalmazható,</a:t>
            </a:r>
          </a:p>
          <a:p>
            <a:pPr lvl="1"/>
            <a:r>
              <a:rPr lang="hu-HU" dirty="0"/>
              <a:t>a szállítások kis tételekben és sűrűn valósulnak meg,</a:t>
            </a:r>
          </a:p>
          <a:p>
            <a:pPr lvl="1"/>
            <a:r>
              <a:rPr lang="hu-HU" dirty="0"/>
              <a:t>a beszállításoknál a pontos darabszám csomagolást alkalmazzák,</a:t>
            </a:r>
          </a:p>
          <a:p>
            <a:pPr lvl="1"/>
            <a:r>
              <a:rPr lang="hu-HU" dirty="0"/>
              <a:t>kis szériákat gyártanak,</a:t>
            </a:r>
          </a:p>
          <a:p>
            <a:pPr lvl="1"/>
            <a:r>
              <a:rPr lang="hu-HU" dirty="0"/>
              <a:t>a folyamatközi ellenőrzést szorgalmazzák a hagyományos végellenőrzés helyett,</a:t>
            </a:r>
          </a:p>
          <a:p>
            <a:pPr lvl="1"/>
            <a:r>
              <a:rPr lang="hu-HU" dirty="0"/>
              <a:t>segítik a beszállítót a megfelelő minőségi szint elérésében.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JIT megvalósításának eszközei</a:t>
            </a:r>
          </a:p>
        </p:txBody>
      </p:sp>
      <p:sp>
        <p:nvSpPr>
          <p:cNvPr id="4" name="Lekerekített téglalap 3"/>
          <p:cNvSpPr/>
          <p:nvPr/>
        </p:nvSpPr>
        <p:spPr>
          <a:xfrm>
            <a:off x="588735" y="1744435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kanban</a:t>
            </a:r>
          </a:p>
        </p:txBody>
      </p:sp>
      <p:sp>
        <p:nvSpPr>
          <p:cNvPr id="5" name="Lekerekített téglalap 4"/>
          <p:cNvSpPr/>
          <p:nvPr/>
        </p:nvSpPr>
        <p:spPr>
          <a:xfrm>
            <a:off x="5981700" y="1562100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SMED</a:t>
            </a:r>
          </a:p>
        </p:txBody>
      </p:sp>
      <p:sp>
        <p:nvSpPr>
          <p:cNvPr id="6" name="Lekerekített téglalap 5"/>
          <p:cNvSpPr/>
          <p:nvPr/>
        </p:nvSpPr>
        <p:spPr>
          <a:xfrm>
            <a:off x="319314" y="3450771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 err="1"/>
              <a:t>Poka-Yoke</a:t>
            </a:r>
            <a:endParaRPr lang="hu-HU" sz="2800" dirty="0"/>
          </a:p>
        </p:txBody>
      </p:sp>
      <p:sp>
        <p:nvSpPr>
          <p:cNvPr id="7" name="Lekerekített téglalap 6"/>
          <p:cNvSpPr/>
          <p:nvPr/>
        </p:nvSpPr>
        <p:spPr>
          <a:xfrm>
            <a:off x="3556907" y="4246336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Vizuális irányítás</a:t>
            </a:r>
          </a:p>
        </p:txBody>
      </p:sp>
      <p:sp>
        <p:nvSpPr>
          <p:cNvPr id="8" name="Lekerekített téglalap 7"/>
          <p:cNvSpPr/>
          <p:nvPr/>
        </p:nvSpPr>
        <p:spPr>
          <a:xfrm>
            <a:off x="1466850" y="5410200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TPM</a:t>
            </a:r>
          </a:p>
        </p:txBody>
      </p:sp>
      <p:sp>
        <p:nvSpPr>
          <p:cNvPr id="9" name="Lekerekített téglalap 8"/>
          <p:cNvSpPr/>
          <p:nvPr/>
        </p:nvSpPr>
        <p:spPr>
          <a:xfrm>
            <a:off x="6375400" y="3382735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KAIZEN</a:t>
            </a:r>
          </a:p>
        </p:txBody>
      </p:sp>
      <p:sp>
        <p:nvSpPr>
          <p:cNvPr id="10" name="Lekerekített téglalap 9"/>
          <p:cNvSpPr/>
          <p:nvPr/>
        </p:nvSpPr>
        <p:spPr>
          <a:xfrm>
            <a:off x="3275693" y="2304143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5S</a:t>
            </a:r>
          </a:p>
        </p:txBody>
      </p:sp>
      <p:sp>
        <p:nvSpPr>
          <p:cNvPr id="11" name="Lekerekített téglalap 10"/>
          <p:cNvSpPr/>
          <p:nvPr/>
        </p:nvSpPr>
        <p:spPr>
          <a:xfrm>
            <a:off x="6314622" y="5335814"/>
            <a:ext cx="2457450" cy="10287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dirty="0"/>
              <a:t>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Hagyományos és JIT termelés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/>
        </p:nvGraphicFramePr>
        <p:xfrm>
          <a:off x="895350" y="1854200"/>
          <a:ext cx="7372350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Szempont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Hagyományos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dirty="0"/>
                        <a:t>JIT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Készlet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= érték, a folyamatos működés feltétele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= veszteségforrás,</a:t>
                      </a:r>
                      <a:r>
                        <a:rPr lang="hu-HU" baseline="0" dirty="0"/>
                        <a:t> ami elrejti a problémákat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Tételnagyság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Optimalizálás eredménye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Lehetőleg minél kisebb legyen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Átállás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Szükséges, termelési tényező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Gyors, olcsó legyen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Szállító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 szállító „ellenfél”, költségtényező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 szállító partner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Minőség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Selejt elfogadott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Zéró-hiba törekvés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Karbantartás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Szükség szerint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Megelőző, TPM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Dolgozók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Termelés</a:t>
                      </a:r>
                      <a:r>
                        <a:rPr lang="hu-HU" baseline="0" dirty="0"/>
                        <a:t> végrehajtói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 folyamatos tökéletesítés kulcsai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Just</a:t>
            </a:r>
            <a:r>
              <a:rPr lang="hu-HU" dirty="0"/>
              <a:t> </a:t>
            </a:r>
            <a:r>
              <a:rPr lang="hu-HU" dirty="0" err="1"/>
              <a:t>in</a:t>
            </a:r>
            <a:r>
              <a:rPr lang="hu-HU" dirty="0"/>
              <a:t> </a:t>
            </a:r>
            <a:r>
              <a:rPr lang="hu-HU" dirty="0" err="1"/>
              <a:t>Sequence</a:t>
            </a:r>
            <a:r>
              <a:rPr lang="hu-HU" dirty="0"/>
              <a:t> - JIS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hu-HU" dirty="0"/>
              <a:t>Autógyáraknál  alkalmazott „újabb” megoldás. Lényege, hogy az alkatrész a beépítés időpontjában a szerelés helyén, minimális költséggel álljanak rendelkezésre.</a:t>
            </a:r>
          </a:p>
          <a:p>
            <a:endParaRPr lang="hu-HU" dirty="0"/>
          </a:p>
          <a:p>
            <a:r>
              <a:rPr lang="hu-HU" dirty="0"/>
              <a:t>Feltétel: beszállító közel legyen (és partner!)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JIT és JIS összevetése</a:t>
            </a:r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Szempont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JIT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JIS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Alkatrész gyártása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Beszállító üzemi</a:t>
                      </a:r>
                      <a:r>
                        <a:rPr lang="hu-HU" baseline="0" dirty="0"/>
                        <a:t> területén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Autógyár üzemi</a:t>
                      </a:r>
                      <a:r>
                        <a:rPr lang="hu-HU" baseline="0" dirty="0"/>
                        <a:t> területén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Szállítás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Nincs (helyben van)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Tárolás a vevőnél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Szükséges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Nem szükséges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Komplex gyártási folyamat összehangolása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Szükséges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Nem szükséges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Vállalatközi teamek alakítása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Részben szükséges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Fontos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Kommunikációs</a:t>
                      </a:r>
                      <a:r>
                        <a:rPr lang="hu-HU" b="1" baseline="0" dirty="0"/>
                        <a:t> utak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Hosszabbak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Rövidebbek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Környezetvédelem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Közúti szállítás terheli a környezetet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Kevésbé jelentős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b="1" dirty="0"/>
                        <a:t>Szállítási és tárolási költségek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Nagyobbak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Kisebbek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94509" y="114300"/>
            <a:ext cx="8229600" cy="1143000"/>
          </a:xfrm>
        </p:spPr>
        <p:txBody>
          <a:bodyPr/>
          <a:lstStyle/>
          <a:p>
            <a:r>
              <a:rPr lang="hu-HU" dirty="0"/>
              <a:t>Kanban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60400" y="17653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hu-HU" sz="2400" dirty="0" err="1"/>
              <a:t>Taiichi</a:t>
            </a:r>
            <a:r>
              <a:rPr lang="hu-HU" sz="2400" dirty="0"/>
              <a:t> </a:t>
            </a:r>
            <a:r>
              <a:rPr lang="hu-HU" sz="2400" dirty="0" err="1"/>
              <a:t>Ohno</a:t>
            </a:r>
            <a:r>
              <a:rPr lang="hu-HU" sz="2400" dirty="0"/>
              <a:t>, Toyota,  1947</a:t>
            </a:r>
          </a:p>
          <a:p>
            <a:r>
              <a:rPr lang="hu-HU" sz="2400" dirty="0"/>
              <a:t>kan: kártya, </a:t>
            </a:r>
            <a:r>
              <a:rPr lang="hu-HU" sz="2400" dirty="0" err="1"/>
              <a:t>ban</a:t>
            </a:r>
            <a:r>
              <a:rPr lang="hu-HU" sz="2400" dirty="0"/>
              <a:t>: jel</a:t>
            </a:r>
          </a:p>
          <a:p>
            <a:endParaRPr lang="hu-HU" sz="100" dirty="0"/>
          </a:p>
          <a:p>
            <a:r>
              <a:rPr lang="hu-HU" sz="2400" dirty="0"/>
              <a:t>A kanban lényegében utasítás valamilyen művelet, folyamat elvégzésére!</a:t>
            </a:r>
          </a:p>
          <a:p>
            <a:r>
              <a:rPr lang="hu-HU" dirty="0"/>
              <a:t>Előnyei:</a:t>
            </a:r>
          </a:p>
          <a:p>
            <a:pPr lvl="1"/>
            <a:r>
              <a:rPr lang="hu-HU" dirty="0"/>
              <a:t>Jelentősen csökkenti a készleteket</a:t>
            </a:r>
          </a:p>
          <a:p>
            <a:pPr lvl="1"/>
            <a:r>
              <a:rPr lang="hu-HU" dirty="0"/>
              <a:t>Rugalmas (gyors reakció változásokra)</a:t>
            </a:r>
          </a:p>
          <a:p>
            <a:pPr lvl="1"/>
            <a:r>
              <a:rPr lang="hu-HU" dirty="0"/>
              <a:t>Csökkenti az átfutási időt</a:t>
            </a:r>
          </a:p>
          <a:p>
            <a:pPr lvl="1"/>
            <a:r>
              <a:rPr lang="hu-HU" dirty="0"/>
              <a:t>Megelőzi a túltermelést</a:t>
            </a:r>
          </a:p>
          <a:p>
            <a:pPr lvl="1"/>
            <a:r>
              <a:rPr lang="hu-HU" dirty="0"/>
              <a:t>Csökkenti a hulladékot</a:t>
            </a:r>
          </a:p>
          <a:p>
            <a:pPr lvl="1"/>
            <a:r>
              <a:rPr lang="hu-HU" dirty="0"/>
              <a:t>Egyértelművé, átláthatóvá teszi a termelést</a:t>
            </a:r>
          </a:p>
          <a:p>
            <a:pPr lvl="1"/>
            <a:r>
              <a:rPr lang="hu-HU" dirty="0"/>
              <a:t>Felelősséget ruház a dolgozókra</a:t>
            </a:r>
          </a:p>
          <a:p>
            <a:pPr lvl="1"/>
            <a:r>
              <a:rPr lang="hu-HU" dirty="0"/>
              <a:t>Csökkenti az adminisztrációt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Kanban szabályai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504950"/>
            <a:ext cx="8229600" cy="4525963"/>
          </a:xfrm>
        </p:spPr>
        <p:txBody>
          <a:bodyPr>
            <a:normAutofit fontScale="92500"/>
          </a:bodyPr>
          <a:lstStyle/>
          <a:p>
            <a:pPr marL="723900" indent="-552450"/>
            <a:r>
              <a:rPr lang="hu-HU" dirty="0"/>
              <a:t>Standard konténerek, egységcsomagok alkalmazása</a:t>
            </a:r>
          </a:p>
          <a:p>
            <a:pPr marL="723900" indent="-552450"/>
            <a:r>
              <a:rPr lang="hu-HU" dirty="0"/>
              <a:t>Konténer csak kártyával mozoghat</a:t>
            </a:r>
          </a:p>
          <a:p>
            <a:pPr marL="723900" indent="-552450"/>
            <a:r>
              <a:rPr lang="hu-HU" dirty="0"/>
              <a:t>Termelés nem kezdhető meg kártya nélkül</a:t>
            </a:r>
          </a:p>
          <a:p>
            <a:pPr marL="723900" indent="-552450"/>
            <a:r>
              <a:rPr lang="hu-HU" dirty="0"/>
              <a:t>Törekedni kell a kártyák számának csökkentésére (ezzel készletek csökkentésére)</a:t>
            </a:r>
          </a:p>
          <a:p>
            <a:pPr marL="723900" indent="-552450"/>
            <a:endParaRPr lang="hu-HU" dirty="0"/>
          </a:p>
          <a:p>
            <a:pPr marL="723900" indent="-552450"/>
            <a:r>
              <a:rPr lang="hu-HU" dirty="0"/>
              <a:t>Figyelem!</a:t>
            </a:r>
          </a:p>
          <a:p>
            <a:pPr marL="1281113" lvl="1" indent="-552450"/>
            <a:r>
              <a:rPr lang="hu-HU" dirty="0"/>
              <a:t>Szabványos megoldásokat igényel a kanban</a:t>
            </a:r>
          </a:p>
          <a:p>
            <a:pPr marL="1281113" lvl="1" indent="-552450"/>
            <a:r>
              <a:rPr lang="hu-HU" dirty="0"/>
              <a:t>Szigorú munkafegyelem szükséges</a:t>
            </a:r>
          </a:p>
          <a:p>
            <a:pPr marL="1281113" lvl="1" indent="-552450"/>
            <a:r>
              <a:rPr lang="hu-HU" dirty="0"/>
              <a:t>Lokális optimumot 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Kanban kártyák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C-kártya (szállítási, </a:t>
            </a:r>
            <a:r>
              <a:rPr lang="hu-HU" dirty="0" err="1"/>
              <a:t>move</a:t>
            </a:r>
            <a:r>
              <a:rPr lang="hu-HU" dirty="0"/>
              <a:t>)</a:t>
            </a:r>
          </a:p>
          <a:p>
            <a:pPr>
              <a:buNone/>
            </a:pPr>
            <a:endParaRPr lang="hu-HU" dirty="0"/>
          </a:p>
          <a:p>
            <a:r>
              <a:rPr lang="hu-HU" dirty="0" err="1"/>
              <a:t>P-kártya</a:t>
            </a:r>
            <a:r>
              <a:rPr lang="hu-HU" dirty="0"/>
              <a:t> (termelési)</a:t>
            </a:r>
          </a:p>
          <a:p>
            <a:pPr>
              <a:buNone/>
            </a:pPr>
            <a:endParaRPr lang="hu-HU" dirty="0"/>
          </a:p>
          <a:p>
            <a:r>
              <a:rPr lang="hu-HU" dirty="0"/>
              <a:t>Beszállítói kártya</a:t>
            </a:r>
          </a:p>
        </p:txBody>
      </p:sp>
      <p:pic>
        <p:nvPicPr>
          <p:cNvPr id="175106" name="Picture 2" descr="http://image.thefabricator.com/a/lean-tool-and-die-solutions-kanban-car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9465" y="3867151"/>
            <a:ext cx="4611960" cy="26749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Kanban működése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506538"/>
            <a:ext cx="7705725" cy="488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300788" y="1649413"/>
            <a:ext cx="1296987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1200" b="1">
                <a:solidFill>
                  <a:srgbClr val="FF0000"/>
                </a:solidFill>
              </a:rPr>
              <a:t>Minimum-maximum készletszint1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5795963" y="1866900"/>
            <a:ext cx="504825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300788" y="3738563"/>
            <a:ext cx="1296987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u-HU" sz="1200" b="1">
                <a:solidFill>
                  <a:srgbClr val="FF0000"/>
                </a:solidFill>
              </a:rPr>
              <a:t>Minimum-maximum készletszint2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5795963" y="3956050"/>
            <a:ext cx="504825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3852863" y="1866900"/>
            <a:ext cx="2447925" cy="22320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2195513" y="3954463"/>
            <a:ext cx="4105275" cy="14398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>
            <a:off x="2871788" y="2487613"/>
            <a:ext cx="614362" cy="1779587"/>
          </a:xfrm>
          <a:custGeom>
            <a:avLst/>
            <a:gdLst/>
            <a:ahLst/>
            <a:cxnLst>
              <a:cxn ang="0">
                <a:pos x="0" y="9"/>
              </a:cxn>
              <a:cxn ang="0">
                <a:pos x="32" y="103"/>
              </a:cxn>
              <a:cxn ang="0">
                <a:pos x="63" y="151"/>
              </a:cxn>
              <a:cxn ang="0">
                <a:pos x="111" y="356"/>
              </a:cxn>
              <a:cxn ang="0">
                <a:pos x="119" y="506"/>
              </a:cxn>
              <a:cxn ang="0">
                <a:pos x="103" y="553"/>
              </a:cxn>
              <a:cxn ang="0">
                <a:pos x="95" y="577"/>
              </a:cxn>
              <a:cxn ang="0">
                <a:pos x="142" y="964"/>
              </a:cxn>
              <a:cxn ang="0">
                <a:pos x="190" y="1011"/>
              </a:cxn>
              <a:cxn ang="0">
                <a:pos x="213" y="1035"/>
              </a:cxn>
              <a:cxn ang="0">
                <a:pos x="300" y="1050"/>
              </a:cxn>
              <a:cxn ang="0">
                <a:pos x="371" y="1098"/>
              </a:cxn>
              <a:cxn ang="0">
                <a:pos x="387" y="1121"/>
              </a:cxn>
            </a:cxnLst>
            <a:rect l="0" t="0" r="r" b="b"/>
            <a:pathLst>
              <a:path w="387" h="1121">
                <a:moveTo>
                  <a:pt x="0" y="9"/>
                </a:moveTo>
                <a:cubicBezTo>
                  <a:pt x="54" y="45"/>
                  <a:pt x="0" y="0"/>
                  <a:pt x="32" y="103"/>
                </a:cubicBezTo>
                <a:cubicBezTo>
                  <a:pt x="38" y="121"/>
                  <a:pt x="63" y="151"/>
                  <a:pt x="63" y="151"/>
                </a:cubicBezTo>
                <a:cubicBezTo>
                  <a:pt x="71" y="221"/>
                  <a:pt x="71" y="296"/>
                  <a:pt x="111" y="356"/>
                </a:cubicBezTo>
                <a:cubicBezTo>
                  <a:pt x="126" y="417"/>
                  <a:pt x="131" y="429"/>
                  <a:pt x="119" y="506"/>
                </a:cubicBezTo>
                <a:cubicBezTo>
                  <a:pt x="116" y="522"/>
                  <a:pt x="108" y="537"/>
                  <a:pt x="103" y="553"/>
                </a:cubicBezTo>
                <a:cubicBezTo>
                  <a:pt x="100" y="561"/>
                  <a:pt x="95" y="577"/>
                  <a:pt x="95" y="577"/>
                </a:cubicBezTo>
                <a:cubicBezTo>
                  <a:pt x="89" y="699"/>
                  <a:pt x="49" y="861"/>
                  <a:pt x="142" y="964"/>
                </a:cubicBezTo>
                <a:cubicBezTo>
                  <a:pt x="157" y="981"/>
                  <a:pt x="174" y="995"/>
                  <a:pt x="190" y="1011"/>
                </a:cubicBezTo>
                <a:cubicBezTo>
                  <a:pt x="198" y="1019"/>
                  <a:pt x="202" y="1032"/>
                  <a:pt x="213" y="1035"/>
                </a:cubicBezTo>
                <a:cubicBezTo>
                  <a:pt x="257" y="1048"/>
                  <a:pt x="229" y="1041"/>
                  <a:pt x="300" y="1050"/>
                </a:cubicBezTo>
                <a:cubicBezTo>
                  <a:pt x="330" y="1060"/>
                  <a:pt x="345" y="1081"/>
                  <a:pt x="371" y="1098"/>
                </a:cubicBezTo>
                <a:cubicBezTo>
                  <a:pt x="376" y="1106"/>
                  <a:pt x="387" y="1121"/>
                  <a:pt x="387" y="1121"/>
                </a:cubicBez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2" name="Freeform 13"/>
          <p:cNvSpPr>
            <a:spLocks/>
          </p:cNvSpPr>
          <p:nvPr/>
        </p:nvSpPr>
        <p:spPr bwMode="auto">
          <a:xfrm>
            <a:off x="3398838" y="4543425"/>
            <a:ext cx="200025" cy="200025"/>
          </a:xfrm>
          <a:custGeom>
            <a:avLst/>
            <a:gdLst/>
            <a:ahLst/>
            <a:cxnLst>
              <a:cxn ang="0">
                <a:pos x="126" y="0"/>
              </a:cxn>
              <a:cxn ang="0">
                <a:pos x="55" y="24"/>
              </a:cxn>
              <a:cxn ang="0">
                <a:pos x="23" y="71"/>
              </a:cxn>
              <a:cxn ang="0">
                <a:pos x="0" y="126"/>
              </a:cxn>
            </a:cxnLst>
            <a:rect l="0" t="0" r="r" b="b"/>
            <a:pathLst>
              <a:path w="126" h="126">
                <a:moveTo>
                  <a:pt x="126" y="0"/>
                </a:moveTo>
                <a:cubicBezTo>
                  <a:pt x="102" y="8"/>
                  <a:pt x="79" y="16"/>
                  <a:pt x="55" y="24"/>
                </a:cubicBezTo>
                <a:cubicBezTo>
                  <a:pt x="37" y="30"/>
                  <a:pt x="23" y="71"/>
                  <a:pt x="23" y="71"/>
                </a:cubicBezTo>
                <a:cubicBezTo>
                  <a:pt x="14" y="117"/>
                  <a:pt x="24" y="100"/>
                  <a:pt x="0" y="126"/>
                </a:cubicBez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3" name="Freeform 14"/>
          <p:cNvSpPr>
            <a:spLocks/>
          </p:cNvSpPr>
          <p:nvPr/>
        </p:nvSpPr>
        <p:spPr bwMode="auto">
          <a:xfrm>
            <a:off x="1695450" y="4929188"/>
            <a:ext cx="1327150" cy="615950"/>
          </a:xfrm>
          <a:custGeom>
            <a:avLst/>
            <a:gdLst/>
            <a:ahLst/>
            <a:cxnLst>
              <a:cxn ang="0">
                <a:pos x="836" y="25"/>
              </a:cxn>
              <a:cxn ang="0">
                <a:pos x="465" y="25"/>
              </a:cxn>
              <a:cxn ang="0">
                <a:pos x="418" y="57"/>
              </a:cxn>
              <a:cxn ang="0">
                <a:pos x="331" y="65"/>
              </a:cxn>
              <a:cxn ang="0">
                <a:pos x="268" y="120"/>
              </a:cxn>
              <a:cxn ang="0">
                <a:pos x="213" y="136"/>
              </a:cxn>
              <a:cxn ang="0">
                <a:pos x="189" y="159"/>
              </a:cxn>
              <a:cxn ang="0">
                <a:pos x="142" y="191"/>
              </a:cxn>
              <a:cxn ang="0">
                <a:pos x="47" y="301"/>
              </a:cxn>
              <a:cxn ang="0">
                <a:pos x="31" y="357"/>
              </a:cxn>
              <a:cxn ang="0">
                <a:pos x="7" y="372"/>
              </a:cxn>
              <a:cxn ang="0">
                <a:pos x="0" y="388"/>
              </a:cxn>
            </a:cxnLst>
            <a:rect l="0" t="0" r="r" b="b"/>
            <a:pathLst>
              <a:path w="836" h="388">
                <a:moveTo>
                  <a:pt x="836" y="25"/>
                </a:moveTo>
                <a:cubicBezTo>
                  <a:pt x="696" y="5"/>
                  <a:pt x="688" y="0"/>
                  <a:pt x="465" y="25"/>
                </a:cubicBezTo>
                <a:cubicBezTo>
                  <a:pt x="446" y="27"/>
                  <a:pt x="434" y="46"/>
                  <a:pt x="418" y="57"/>
                </a:cubicBezTo>
                <a:cubicBezTo>
                  <a:pt x="394" y="73"/>
                  <a:pt x="360" y="62"/>
                  <a:pt x="331" y="65"/>
                </a:cubicBezTo>
                <a:cubicBezTo>
                  <a:pt x="290" y="79"/>
                  <a:pt x="301" y="98"/>
                  <a:pt x="268" y="120"/>
                </a:cubicBezTo>
                <a:cubicBezTo>
                  <a:pt x="262" y="124"/>
                  <a:pt x="217" y="135"/>
                  <a:pt x="213" y="136"/>
                </a:cubicBezTo>
                <a:cubicBezTo>
                  <a:pt x="205" y="144"/>
                  <a:pt x="198" y="152"/>
                  <a:pt x="189" y="159"/>
                </a:cubicBezTo>
                <a:cubicBezTo>
                  <a:pt x="174" y="171"/>
                  <a:pt x="142" y="191"/>
                  <a:pt x="142" y="191"/>
                </a:cubicBezTo>
                <a:cubicBezTo>
                  <a:pt x="100" y="252"/>
                  <a:pt x="96" y="254"/>
                  <a:pt x="47" y="301"/>
                </a:cubicBezTo>
                <a:cubicBezTo>
                  <a:pt x="41" y="319"/>
                  <a:pt x="42" y="341"/>
                  <a:pt x="31" y="357"/>
                </a:cubicBezTo>
                <a:cubicBezTo>
                  <a:pt x="26" y="365"/>
                  <a:pt x="14" y="365"/>
                  <a:pt x="7" y="372"/>
                </a:cubicBezTo>
                <a:cubicBezTo>
                  <a:pt x="3" y="376"/>
                  <a:pt x="2" y="383"/>
                  <a:pt x="0" y="388"/>
                </a:cubicBezTo>
              </a:path>
            </a:pathLst>
          </a:custGeom>
          <a:noFill/>
          <a:ln w="57150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Kanban-rendszerek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  <a:p>
            <a:r>
              <a:rPr lang="hu-HU" dirty="0"/>
              <a:t>Látvány-kanban</a:t>
            </a:r>
          </a:p>
          <a:p>
            <a:endParaRPr lang="hu-HU" dirty="0"/>
          </a:p>
          <a:p>
            <a:r>
              <a:rPr lang="hu-HU" dirty="0"/>
              <a:t>Egykártyás kanban</a:t>
            </a:r>
          </a:p>
          <a:p>
            <a:endParaRPr lang="hu-HU" dirty="0"/>
          </a:p>
          <a:p>
            <a:r>
              <a:rPr lang="hu-HU" dirty="0"/>
              <a:t>Kétkártyás kanban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Látvány-kanban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650" y="1717675"/>
            <a:ext cx="7300913" cy="422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Egykártás</a:t>
            </a:r>
            <a:r>
              <a:rPr lang="hu-HU" dirty="0"/>
              <a:t> kanban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7400" y="1706563"/>
            <a:ext cx="7488238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Kétkártyás kanban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6888" y="1635125"/>
            <a:ext cx="7416800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Kétkártyás kanban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0713" y="1857375"/>
            <a:ext cx="7848600" cy="431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Kanban alkalmazásának feltétele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90600" indent="-628650"/>
            <a:endParaRPr lang="hu-HU" dirty="0"/>
          </a:p>
          <a:p>
            <a:pPr marL="990600" indent="-628650"/>
            <a:r>
              <a:rPr lang="hu-HU" dirty="0"/>
              <a:t>végső termékek időben stabil és folyamatos kereslete</a:t>
            </a:r>
          </a:p>
          <a:p>
            <a:pPr marL="990600" indent="-628650"/>
            <a:r>
              <a:rPr lang="hu-HU"/>
              <a:t>folyamatrendszerű gyártás</a:t>
            </a:r>
            <a:endParaRPr lang="hu-HU" dirty="0"/>
          </a:p>
          <a:p>
            <a:pPr marL="990600" indent="-628650"/>
            <a:r>
              <a:rPr lang="hu-HU" dirty="0"/>
              <a:t>sorozatok képzésének lehetősége (tömeggyártási szint alatt)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66800" y="109537"/>
            <a:ext cx="8229600" cy="1143000"/>
          </a:xfrm>
        </p:spPr>
        <p:txBody>
          <a:bodyPr>
            <a:noAutofit/>
          </a:bodyPr>
          <a:lstStyle/>
          <a:p>
            <a:r>
              <a:rPr lang="hu-HU" sz="2800" dirty="0"/>
              <a:t>Optimalizált Termelési Technológia (OPT)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Eliyaho</a:t>
            </a:r>
            <a:r>
              <a:rPr lang="hu-HU" dirty="0"/>
              <a:t> </a:t>
            </a:r>
            <a:r>
              <a:rPr lang="hu-HU" dirty="0" err="1"/>
              <a:t>Goldratt</a:t>
            </a:r>
            <a:r>
              <a:rPr lang="hu-HU" dirty="0"/>
              <a:t> fejlesztése (1980-as évek)</a:t>
            </a:r>
          </a:p>
          <a:p>
            <a:r>
              <a:rPr lang="hu-HU" dirty="0"/>
              <a:t>Cél a kibocsátás növelése úgy, hogy a készletek és a költségek ne emelkedjenek.</a:t>
            </a:r>
          </a:p>
          <a:p>
            <a:r>
              <a:rPr lang="hu-HU" dirty="0"/>
              <a:t>Kapacitásokat kereslethez igazítva növeli csak!</a:t>
            </a:r>
          </a:p>
          <a:p>
            <a:r>
              <a:rPr lang="hu-HU" dirty="0"/>
              <a:t>Szűk keresztmetszeteknél:</a:t>
            </a:r>
          </a:p>
          <a:p>
            <a:pPr lvl="1"/>
            <a:r>
              <a:rPr lang="hu-HU" dirty="0"/>
              <a:t>Csak a feltétlenül szükséges feladatokat végezzük el  a munkahelyeken (ami máshol nem gazdaságos)</a:t>
            </a:r>
          </a:p>
          <a:p>
            <a:pPr lvl="1"/>
            <a:r>
              <a:rPr lang="hu-HU" dirty="0"/>
              <a:t>Minimális legyen az állásidő (kritikus út jelenség)</a:t>
            </a:r>
          </a:p>
          <a:p>
            <a:pPr lvl="1"/>
            <a:r>
              <a:rPr lang="hu-HU" dirty="0"/>
              <a:t>Törekedni kell a jó minőségre</a:t>
            </a:r>
          </a:p>
          <a:p>
            <a:pPr lvl="1"/>
            <a:r>
              <a:rPr lang="hu-HU" dirty="0"/>
              <a:t>Nem végez olyan tevékenységeket, amire nincs igény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57563" y="268506"/>
            <a:ext cx="8229600" cy="754743"/>
          </a:xfrm>
        </p:spPr>
        <p:txBody>
          <a:bodyPr>
            <a:noAutofit/>
          </a:bodyPr>
          <a:lstStyle/>
          <a:p>
            <a:r>
              <a:rPr lang="hu-HU" sz="2400" dirty="0"/>
              <a:t>Termelési-logisztikai filozófiák összehasonlítása</a:t>
            </a:r>
          </a:p>
        </p:txBody>
      </p:sp>
      <p:graphicFrame>
        <p:nvGraphicFramePr>
          <p:cNvPr id="5" name="Tartalom helye 4"/>
          <p:cNvGraphicFramePr>
            <a:graphicFrameLocks noGrp="1"/>
          </p:cNvGraphicFramePr>
          <p:nvPr>
            <p:ph idx="1"/>
          </p:nvPr>
        </p:nvGraphicFramePr>
        <p:xfrm>
          <a:off x="101600" y="1179294"/>
          <a:ext cx="8955316" cy="541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Szempont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MRP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JIT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OPT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Termék jellege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Heterogén,</a:t>
                      </a:r>
                      <a:r>
                        <a:rPr lang="hu-HU" sz="1600" baseline="0" dirty="0"/>
                        <a:t> sokféle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Homogén, kevés fajta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Inkább homogén, sokfajta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Gyártási rendszer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Műhelyrendszerű (</a:t>
                      </a:r>
                      <a:r>
                        <a:rPr lang="hu-HU" sz="1600" dirty="0" err="1"/>
                        <a:t>job-shop</a:t>
                      </a:r>
                      <a:r>
                        <a:rPr lang="hu-HU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Folyamatos (flow-shop)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Műhelyrendszerű</a:t>
                      </a:r>
                      <a:r>
                        <a:rPr lang="hu-HU" sz="1600" baseline="0" dirty="0"/>
                        <a:t> vagy zárt ciklusú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Alapelv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Ütemezett beszerzés és gyártás nettó szükséglet alapján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Pazarlás kiküszöbölése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Szűk keresztmetszet maximális kihasználása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Készletek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Munkahelyek előtt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Minimális (i/o</a:t>
                      </a:r>
                      <a:r>
                        <a:rPr lang="hu-HU" sz="1600" baseline="0" dirty="0"/>
                        <a:t> tárolókban)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Szűk keresztmetszetek előtt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Átfutási idő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Rögzített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Csökkentendő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Ingadozhat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Gyártási típus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Egyedi és kis-sorozat gyártás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Sorozattól</a:t>
                      </a:r>
                      <a:r>
                        <a:rPr lang="hu-HU" sz="1600" baseline="0" dirty="0"/>
                        <a:t> t</a:t>
                      </a:r>
                      <a:r>
                        <a:rPr lang="hu-HU" sz="1600" dirty="0"/>
                        <a:t>ömeggyártásig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Kis és közepes sorozatgyártás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Termelésirányítás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Toló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Húzó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Vegyes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Számítógépes támogatás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Feltétlenül szükséges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Nem feltétlenül szükséges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Nagymértékben használja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600" b="1" dirty="0"/>
                        <a:t>Előnye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Megbízható, rugalmas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Alacsony költség,</a:t>
                      </a:r>
                      <a:r>
                        <a:rPr lang="hu-HU" sz="1600" baseline="0" dirty="0"/>
                        <a:t> gyorsaság</a:t>
                      </a:r>
                      <a:endParaRPr lang="hu-H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1600" dirty="0"/>
                        <a:t>Alacsony költség,</a:t>
                      </a:r>
                      <a:r>
                        <a:rPr lang="hu-HU" sz="1600" baseline="0" dirty="0"/>
                        <a:t> megbízhatóság</a:t>
                      </a:r>
                      <a:endParaRPr lang="hu-H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</TotalTime>
  <Words>962</Words>
  <Application>Microsoft Office PowerPoint</Application>
  <PresentationFormat>Diavetítés a képernyőre (4:3 oldalarány)</PresentationFormat>
  <Paragraphs>275</Paragraphs>
  <Slides>27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Office-téma</vt:lpstr>
      <vt:lpstr>PowerPoint-bemutató</vt:lpstr>
      <vt:lpstr>Toló (push) termelésirányítás</vt:lpstr>
      <vt:lpstr>MRP </vt:lpstr>
      <vt:lpstr>MRP II.</vt:lpstr>
      <vt:lpstr>Húzó (pull) termelésirányítás</vt:lpstr>
      <vt:lpstr>Húzó rendszer előnyei</vt:lpstr>
      <vt:lpstr>Toyota Termelési Rendszer (TPS)</vt:lpstr>
      <vt:lpstr>TPS</vt:lpstr>
      <vt:lpstr>3M - veszteségforrások</vt:lpstr>
      <vt:lpstr>Veszteségforrások - részletesebben</vt:lpstr>
      <vt:lpstr>Just in time</vt:lpstr>
      <vt:lpstr>JIT megvalósításának eszközei</vt:lpstr>
      <vt:lpstr>Hagyományos és JIT termelés</vt:lpstr>
      <vt:lpstr>Just in Sequence - JIS</vt:lpstr>
      <vt:lpstr>JIT és JIS összevetése</vt:lpstr>
      <vt:lpstr>Kanban</vt:lpstr>
      <vt:lpstr>Kanban szabályai</vt:lpstr>
      <vt:lpstr>Kanban kártyák</vt:lpstr>
      <vt:lpstr>Kanban működése</vt:lpstr>
      <vt:lpstr>Kanban-rendszerek</vt:lpstr>
      <vt:lpstr>Látvány-kanban</vt:lpstr>
      <vt:lpstr>Egykártás kanban</vt:lpstr>
      <vt:lpstr>Kétkártyás kanban</vt:lpstr>
      <vt:lpstr>Kétkártyás kanban</vt:lpstr>
      <vt:lpstr>Kanban alkalmazásának feltétele</vt:lpstr>
      <vt:lpstr>Optimalizált Termelési Technológia (OPT)</vt:lpstr>
      <vt:lpstr>Termelési-logisztikai filozófiák összehasonlítása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80</cp:revision>
  <dcterms:created xsi:type="dcterms:W3CDTF">2015-07-30T19:30:28Z</dcterms:created>
  <dcterms:modified xsi:type="dcterms:W3CDTF">2021-04-26T16:16:35Z</dcterms:modified>
</cp:coreProperties>
</file>