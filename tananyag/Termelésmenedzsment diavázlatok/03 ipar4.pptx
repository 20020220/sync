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9" r:id="rId2"/>
    <p:sldId id="258" r:id="rId3"/>
    <p:sldId id="260" r:id="rId4"/>
    <p:sldId id="261" r:id="rId5"/>
    <p:sldId id="266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249" autoAdjust="0"/>
  </p:normalViewPr>
  <p:slideViewPr>
    <p:cSldViewPr snapToGrid="0">
      <p:cViewPr varScale="1">
        <p:scale>
          <a:sx n="54" d="100"/>
          <a:sy n="54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B1FE6-2C46-4E21-8F97-2C7463EAA1E3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1619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Az Ipar 4.0-ról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Ipari </a:t>
            </a:r>
            <a:r>
              <a:rPr lang="hu-HU" dirty="0" err="1"/>
              <a:t>forradalmk</a:t>
            </a:r>
            <a:endParaRPr lang="hu-HU" dirty="0"/>
          </a:p>
        </p:txBody>
      </p:sp>
      <p:pic>
        <p:nvPicPr>
          <p:cNvPr id="4" name="Tartalom helye 3" descr="A negyedik ipari forradalom - EPLM">
            <a:extLst>
              <a:ext uri="{FF2B5EF4-FFF2-40B4-BE49-F238E27FC236}">
                <a16:creationId xmlns:a16="http://schemas.microsoft.com/office/drawing/2014/main" id="{815C53E3-55D0-4048-81D7-17BF2F0F65D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799" y="1825625"/>
            <a:ext cx="660440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431336-D7A3-404F-BD68-0E4001B65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1.0</a:t>
            </a:r>
          </a:p>
        </p:txBody>
      </p:sp>
      <p:pic>
        <p:nvPicPr>
          <p:cNvPr id="2050" name="Picture 2" descr="Történelem - 19.hét - Az ipari forradalom és következményei">
            <a:extLst>
              <a:ext uri="{FF2B5EF4-FFF2-40B4-BE49-F238E27FC236}">
                <a16:creationId xmlns:a16="http://schemas.microsoft.com/office/drawing/2014/main" id="{CB3CDB17-1CD9-4874-8DDF-AD9EF6DBB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57" y="1939699"/>
            <a:ext cx="23622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örténelem 6. - IV. A FORRADALMAK ÉS A POLGÁROSODÁS KORA EURÓPÁBAN - 32. Az ipari  forradalom találmányai és hatásai">
            <a:extLst>
              <a:ext uri="{FF2B5EF4-FFF2-40B4-BE49-F238E27FC236}">
                <a16:creationId xmlns:a16="http://schemas.microsoft.com/office/drawing/2014/main" id="{8C863E36-FA92-4953-A0AF-AD02FFD84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457" y="4311648"/>
            <a:ext cx="20955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ata blogja (történelem): Ipari forradalom">
            <a:extLst>
              <a:ext uri="{FF2B5EF4-FFF2-40B4-BE49-F238E27FC236}">
                <a16:creationId xmlns:a16="http://schemas.microsoft.com/office/drawing/2014/main" id="{DAA5BAD7-34F3-4C36-AB22-835F672F8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3" t="23941" r="4857" b="4475"/>
          <a:stretch/>
        </p:blipFill>
        <p:spPr bwMode="auto">
          <a:xfrm>
            <a:off x="5421085" y="4676574"/>
            <a:ext cx="3439886" cy="2098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8548830-982E-43DD-A609-42C4EA295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982" y="3311432"/>
            <a:ext cx="2984046" cy="204818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FF4BE12-DBB8-4852-BA5C-F6BAD1D59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575" y="1520371"/>
            <a:ext cx="4244068" cy="164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6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0F67A576-2D95-467D-9F5E-8947C033B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967" y="4149723"/>
            <a:ext cx="1828800" cy="21717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002182B-373E-4EFF-A078-223567F5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2.0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72F51B5-75A1-4978-BFCF-041D29A3E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767" y="4149723"/>
            <a:ext cx="2676525" cy="2343150"/>
          </a:xfrm>
          <a:prstGeom prst="rect">
            <a:avLst/>
          </a:prstGeom>
        </p:spPr>
      </p:pic>
      <p:pic>
        <p:nvPicPr>
          <p:cNvPr id="3074" name="Picture 2" descr="Henry Ford legendás futószalagja, ami elindította a tömegtermelést">
            <a:extLst>
              <a:ext uri="{FF2B5EF4-FFF2-40B4-BE49-F238E27FC236}">
                <a16:creationId xmlns:a16="http://schemas.microsoft.com/office/drawing/2014/main" id="{BAA8E016-96D7-4273-AD8D-C6DCEB4D1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41" y="1685925"/>
            <a:ext cx="3702429" cy="246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Új üzem épül a tiszaújvárosi TVK-ban - autopro.hu">
            <a:extLst>
              <a:ext uri="{FF2B5EF4-FFF2-40B4-BE49-F238E27FC236}">
                <a16:creationId xmlns:a16="http://schemas.microsoft.com/office/drawing/2014/main" id="{FFC042FF-5DDE-4947-8CCE-6BEA8AA5A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767" y="1489004"/>
            <a:ext cx="3255583" cy="243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2D92322-D17F-402E-9C76-61F68D589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708" y="5119687"/>
            <a:ext cx="39909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1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CE3E7C-BAB9-4353-AEAE-8CEE2910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3.0</a:t>
            </a:r>
          </a:p>
        </p:txBody>
      </p:sp>
      <p:pic>
        <p:nvPicPr>
          <p:cNvPr id="4098" name="Picture 2" descr="IoT Zóna - gyártás - Kiberkockázatok: mennyire sebezhetők az ipari robotok?">
            <a:extLst>
              <a:ext uri="{FF2B5EF4-FFF2-40B4-BE49-F238E27FC236}">
                <a16:creationId xmlns:a16="http://schemas.microsoft.com/office/drawing/2014/main" id="{66F4B3C2-F2BA-4C24-BCB6-6997401FE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06" y="2085975"/>
            <a:ext cx="340042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lhunyt az IBM PC atyja - PC Fórum">
            <a:extLst>
              <a:ext uri="{FF2B5EF4-FFF2-40B4-BE49-F238E27FC236}">
                <a16:creationId xmlns:a16="http://schemas.microsoft.com/office/drawing/2014/main" id="{0DA00631-6778-4D77-88AE-7CAA0216F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682" y="474979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utomatizált raktárak - SR-LOGISTIC">
            <a:extLst>
              <a:ext uri="{FF2B5EF4-FFF2-40B4-BE49-F238E27FC236}">
                <a16:creationId xmlns:a16="http://schemas.microsoft.com/office/drawing/2014/main" id="{7A0EE703-B244-409E-8508-A5D937ED4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752" y="4232022"/>
            <a:ext cx="22955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ELMAG S800 CNC marógép - ELMAGGÉP Kft. Ipari szerszámgépek és kiegészítők  magyarországi kereskedelme és szakszervize">
            <a:extLst>
              <a:ext uri="{FF2B5EF4-FFF2-40B4-BE49-F238E27FC236}">
                <a16:creationId xmlns:a16="http://schemas.microsoft.com/office/drawing/2014/main" id="{31A436D3-837E-4869-A191-4E5EDC9E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244" y="168592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83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EFF27C-BE4C-4D1C-A5D2-22FCC322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Ipar 4.0 alappillérei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1B0ED0-4648-4A0D-B5E8-090FB2ED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A belső és külső </a:t>
            </a:r>
            <a:r>
              <a:rPr lang="hu-HU" b="1" dirty="0"/>
              <a:t>értéklánc</a:t>
            </a:r>
            <a:r>
              <a:rPr lang="hu-HU" dirty="0"/>
              <a:t> </a:t>
            </a:r>
            <a:r>
              <a:rPr lang="hu-HU" b="1" dirty="0"/>
              <a:t>digitalizációja</a:t>
            </a:r>
            <a:r>
              <a:rPr lang="hu-HU" dirty="0"/>
              <a:t> és integrációja: mobil eszközök, felhő-alapú szolgáltatások, </a:t>
            </a:r>
            <a:r>
              <a:rPr lang="hu-HU" dirty="0" err="1"/>
              <a:t>IoT</a:t>
            </a:r>
            <a:r>
              <a:rPr lang="hu-HU" dirty="0"/>
              <a:t> platformok.</a:t>
            </a:r>
          </a:p>
          <a:p>
            <a:r>
              <a:rPr lang="hu-HU" dirty="0"/>
              <a:t>A </a:t>
            </a:r>
            <a:r>
              <a:rPr lang="hu-HU" b="1" dirty="0"/>
              <a:t>termék</a:t>
            </a:r>
            <a:r>
              <a:rPr lang="hu-HU" dirty="0"/>
              <a:t> és </a:t>
            </a:r>
            <a:r>
              <a:rPr lang="hu-HU" b="1" dirty="0"/>
              <a:t>szolgáltatás</a:t>
            </a:r>
            <a:r>
              <a:rPr lang="hu-HU" dirty="0"/>
              <a:t> portfólió </a:t>
            </a:r>
            <a:r>
              <a:rPr lang="hu-HU" b="1" dirty="0"/>
              <a:t>digitalizálása</a:t>
            </a:r>
            <a:r>
              <a:rPr lang="hu-HU" dirty="0"/>
              <a:t>: kiterjesztett valóság, többszintű vevői interakciók és vevői profil alkotás, </a:t>
            </a:r>
            <a:r>
              <a:rPr lang="hu-HU" dirty="0" err="1"/>
              <a:t>big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elemzések és fejlett algoritmusok, okos szenzorok.</a:t>
            </a:r>
          </a:p>
          <a:p>
            <a:r>
              <a:rPr lang="hu-HU" dirty="0"/>
              <a:t>Az </a:t>
            </a:r>
            <a:r>
              <a:rPr lang="hu-HU" b="1" dirty="0"/>
              <a:t>üzleti modell </a:t>
            </a:r>
            <a:r>
              <a:rPr lang="hu-HU" dirty="0"/>
              <a:t>és a vevő elérés digitalizációja: 3D nyomtatás, azonosítás és visszaélések feltárása, magas szintű ember-gép interfészek, helymeghatározó technológia.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956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CB01D5-84CD-4A51-B613-468B7557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Ipar 4.0 kihívásai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1B0303-61D8-40D5-BAF4-55BB7765E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79975"/>
          </a:xfrm>
        </p:spPr>
        <p:txBody>
          <a:bodyPr>
            <a:normAutofit/>
          </a:bodyPr>
          <a:lstStyle/>
          <a:p>
            <a:r>
              <a:rPr lang="hu-HU" dirty="0"/>
              <a:t>Menedzsment képességek</a:t>
            </a:r>
          </a:p>
          <a:p>
            <a:pPr lvl="1"/>
            <a:r>
              <a:rPr lang="hu-HU" dirty="0" err="1"/>
              <a:t>lean</a:t>
            </a:r>
            <a:r>
              <a:rPr lang="hu-HU" dirty="0"/>
              <a:t> ismerete, szakemberek elérhetősége, illetve a folyamatos képzések és továbbképzések biztosítása a gyorsan változó világ kihívásaihoz</a:t>
            </a:r>
          </a:p>
          <a:p>
            <a:r>
              <a:rPr lang="hu-HU" dirty="0"/>
              <a:t>Információáramlás</a:t>
            </a:r>
          </a:p>
          <a:p>
            <a:pPr lvl="1"/>
            <a:r>
              <a:rPr lang="hu-HU" dirty="0"/>
              <a:t>a termelés- és vállalatirányítási rendszerek fejlesztése és összekapcsolása</a:t>
            </a:r>
          </a:p>
          <a:p>
            <a:r>
              <a:rPr lang="hu-HU" dirty="0"/>
              <a:t>Anyagáramlás</a:t>
            </a:r>
          </a:p>
          <a:p>
            <a:pPr lvl="1"/>
            <a:r>
              <a:rPr lang="hu-HU" dirty="0"/>
              <a:t>az Ipar 3.0 vívmányainak (robotizálás, automatizálás) fenntartsa, fejlesztése és a rendszerelemek összekapcsolásának képessége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04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038A9A-2FDF-4080-993D-4E38284C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latin typeface="+mj-lt"/>
                <a:ea typeface="+mj-ea"/>
                <a:cs typeface="+mj-cs"/>
              </a:rPr>
              <a:t>Ipar 4.0 rendszer komponensei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34C3A26-C506-4581-87C7-DDAC733B25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2095" y="2334380"/>
            <a:ext cx="8178799" cy="372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9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546CD3-E2F6-4280-9542-F7FC73C1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Ipar 4.0: érettség</a:t>
            </a:r>
          </a:p>
        </p:txBody>
      </p:sp>
      <p:pic>
        <p:nvPicPr>
          <p:cNvPr id="1026" name="Picture 2" descr="Ipar 4.0 - Ipar 4.0 Technológiai Központ">
            <a:extLst>
              <a:ext uri="{FF2B5EF4-FFF2-40B4-BE49-F238E27FC236}">
                <a16:creationId xmlns:a16="http://schemas.microsoft.com/office/drawing/2014/main" id="{5A46FE5A-E574-4EE2-A6E8-D43883D5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07" y="2424792"/>
            <a:ext cx="6972386" cy="343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6432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149</Words>
  <Application>Microsoft Office PowerPoint</Application>
  <PresentationFormat>Diavetítés a képernyőre (4:3 oldalarány)</PresentationFormat>
  <Paragraphs>24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Office-téma</vt:lpstr>
      <vt:lpstr>PowerPoint-bemutató</vt:lpstr>
      <vt:lpstr>Ipari forradalmk</vt:lpstr>
      <vt:lpstr>1.0</vt:lpstr>
      <vt:lpstr>2.0</vt:lpstr>
      <vt:lpstr>3.0</vt:lpstr>
      <vt:lpstr>Ipar 4.0 alappillérei</vt:lpstr>
      <vt:lpstr>Ipar 4.0 kihívásai</vt:lpstr>
      <vt:lpstr>Ipar 4.0 rendszer komponensei</vt:lpstr>
      <vt:lpstr>Ipar 4.0: érettség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85</cp:revision>
  <dcterms:created xsi:type="dcterms:W3CDTF">2015-07-30T19:30:28Z</dcterms:created>
  <dcterms:modified xsi:type="dcterms:W3CDTF">2021-04-26T20:01:25Z</dcterms:modified>
</cp:coreProperties>
</file>