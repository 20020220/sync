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59" r:id="rId2"/>
    <p:sldId id="270" r:id="rId3"/>
    <p:sldId id="272" r:id="rId4"/>
    <p:sldId id="273" r:id="rId5"/>
    <p:sldId id="274" r:id="rId6"/>
    <p:sldId id="271" r:id="rId7"/>
    <p:sldId id="275" r:id="rId8"/>
    <p:sldId id="277" r:id="rId9"/>
    <p:sldId id="260" r:id="rId10"/>
    <p:sldId id="261" r:id="rId11"/>
    <p:sldId id="262" r:id="rId12"/>
    <p:sldId id="278" r:id="rId13"/>
  </p:sldIdLst>
  <p:sldSz cx="9144000" cy="6858000" type="screen4x3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5" autoAdjust="0"/>
    <p:restoredTop sz="94249" autoAdjust="0"/>
  </p:normalViewPr>
  <p:slideViewPr>
    <p:cSldViewPr snapToGrid="0">
      <p:cViewPr varScale="1">
        <p:scale>
          <a:sx n="58" d="100"/>
          <a:sy n="58" d="100"/>
        </p:scale>
        <p:origin x="101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60AF14-04B3-4F12-BDAB-056B885BFB88}" type="datetimeFigureOut">
              <a:rPr lang="hu-HU" smtClean="0"/>
              <a:t>2021. 04. 25.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DB1FE6-2C46-4E21-8F97-2C7463EAA1E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57594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Alcím mintájának szerkesztése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E6249-B6F5-480E-9F9C-1860EA85840D}" type="datetimeFigureOut">
              <a:rPr lang="hu-HU" smtClean="0"/>
              <a:t>2021. 04. 25.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3E09E-42F6-4978-B364-E4A79396A57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5915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2114" y="365127"/>
            <a:ext cx="7383236" cy="766988"/>
          </a:xfrm>
        </p:spPr>
        <p:txBody>
          <a:bodyPr>
            <a:normAutofit/>
          </a:bodyPr>
          <a:lstStyle>
            <a:lvl1pPr>
              <a:defRPr sz="2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hu-HU" dirty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Clr>
                <a:srgbClr val="899FB2"/>
              </a:buClr>
              <a:buFont typeface="Wingdings" panose="05000000000000000000" pitchFamily="2" charset="2"/>
              <a:buChar char="§"/>
              <a:defRPr/>
            </a:lvl1pPr>
            <a:lvl2pPr marL="685800" indent="-228600">
              <a:buClr>
                <a:srgbClr val="899FB2"/>
              </a:buClr>
              <a:buFont typeface="Wingdings" panose="05000000000000000000" pitchFamily="2" charset="2"/>
              <a:buChar char="§"/>
              <a:defRPr/>
            </a:lvl2pPr>
            <a:lvl3pPr marL="1143000" indent="-228600">
              <a:buClr>
                <a:srgbClr val="899FB2"/>
              </a:buClr>
              <a:buFont typeface="Wingdings" panose="05000000000000000000" pitchFamily="2" charset="2"/>
              <a:buChar char="§"/>
              <a:defRPr/>
            </a:lvl3pPr>
            <a:lvl4pPr marL="1600200" indent="-228600">
              <a:buClr>
                <a:srgbClr val="899FB2"/>
              </a:buClr>
              <a:buFont typeface="Wingdings" panose="05000000000000000000" pitchFamily="2" charset="2"/>
              <a:buChar char="§"/>
              <a:defRPr/>
            </a:lvl4pPr>
            <a:lvl5pPr marL="2057400" indent="-228600">
              <a:buClr>
                <a:srgbClr val="899FB2"/>
              </a:buClr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hu-HU" dirty="0"/>
              <a:t>Mintaszöveg szerkesztése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  <a:p>
            <a:pPr lvl="3"/>
            <a:r>
              <a:rPr lang="hu-HU" dirty="0"/>
              <a:t>Negyedik szint</a:t>
            </a:r>
          </a:p>
          <a:p>
            <a:pPr lvl="4"/>
            <a:r>
              <a:rPr lang="hu-HU" dirty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E6249-B6F5-480E-9F9C-1860EA85840D}" type="datetimeFigureOut">
              <a:rPr lang="hu-HU" smtClean="0"/>
              <a:t>2021. 04. 25.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3E09E-42F6-4978-B364-E4A79396A57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8179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E6249-B6F5-480E-9F9C-1860EA85840D}" type="datetimeFigureOut">
              <a:rPr lang="hu-HU" smtClean="0"/>
              <a:t>2021. 04. 25.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3E09E-42F6-4978-B364-E4A79396A57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184845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E6249-B6F5-480E-9F9C-1860EA85840D}" type="datetimeFigureOut">
              <a:rPr lang="hu-HU" smtClean="0"/>
              <a:t>2021. 04. 25.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3E09E-42F6-4978-B364-E4A79396A57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174867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E6249-B6F5-480E-9F9C-1860EA85840D}" type="datetimeFigureOut">
              <a:rPr lang="hu-HU" smtClean="0"/>
              <a:t>2021. 04. 25.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3E09E-42F6-4978-B364-E4A79396A57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908814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E6249-B6F5-480E-9F9C-1860EA85840D}" type="datetimeFigureOut">
              <a:rPr lang="hu-HU" smtClean="0"/>
              <a:t>2021. 04. 25.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3E09E-42F6-4978-B364-E4A79396A57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21332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E6249-B6F5-480E-9F9C-1860EA85840D}" type="datetimeFigureOut">
              <a:rPr lang="hu-HU" smtClean="0"/>
              <a:t>2021. 04. 25.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3E09E-42F6-4978-B364-E4A79396A57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788076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E6249-B6F5-480E-9F9C-1860EA85840D}" type="datetimeFigureOut">
              <a:rPr lang="hu-HU" smtClean="0"/>
              <a:t>2021. 04. 25.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3E09E-42F6-4978-B364-E4A79396A57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782108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E6249-B6F5-480E-9F9C-1860EA85840D}" type="datetimeFigureOut">
              <a:rPr lang="hu-HU" smtClean="0"/>
              <a:t>2021. 04. 25.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3E09E-42F6-4978-B364-E4A79396A57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264350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E6249-B6F5-480E-9F9C-1860EA85840D}" type="datetimeFigureOut">
              <a:rPr lang="hu-HU" smtClean="0"/>
              <a:t>2021. 04. 25.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3E09E-42F6-4978-B364-E4A79396A57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661114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E6249-B6F5-480E-9F9C-1860EA85840D}" type="datetimeFigureOut">
              <a:rPr lang="hu-HU" smtClean="0"/>
              <a:t>2021. 04. 25.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3E09E-42F6-4978-B364-E4A79396A57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64534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8E6249-B6F5-480E-9F9C-1860EA85840D}" type="datetimeFigureOut">
              <a:rPr lang="hu-HU" smtClean="0"/>
              <a:t>2021. 04. 25.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33E09E-42F6-4978-B364-E4A79396A57F}" type="slidenum">
              <a:rPr lang="hu-HU" smtClean="0"/>
              <a:t>‹#›</a:t>
            </a:fld>
            <a:endParaRPr lang="hu-HU"/>
          </a:p>
        </p:txBody>
      </p:sp>
      <p:sp>
        <p:nvSpPr>
          <p:cNvPr id="10" name="Rectangle 6"/>
          <p:cNvSpPr/>
          <p:nvPr userDrawn="1"/>
        </p:nvSpPr>
        <p:spPr>
          <a:xfrm>
            <a:off x="0" y="-1"/>
            <a:ext cx="9144000" cy="1422000"/>
          </a:xfrm>
          <a:prstGeom prst="rect">
            <a:avLst/>
          </a:prstGeom>
          <a:solidFill>
            <a:srgbClr val="133F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2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1395168"/>
            <a:ext cx="9144000" cy="57150"/>
          </a:xfrm>
          <a:prstGeom prst="rect">
            <a:avLst/>
          </a:prstGeom>
        </p:spPr>
      </p:pic>
      <p:pic>
        <p:nvPicPr>
          <p:cNvPr id="7" name="Kép 6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351258" y="426153"/>
            <a:ext cx="554784" cy="524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11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wmf"/><Relationship Id="rId4" Type="http://schemas.openxmlformats.org/officeDocument/2006/relationships/oleObject" Target="../embeddings/oleObject3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10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w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/>
          <p:nvPr/>
        </p:nvSpPr>
        <p:spPr>
          <a:xfrm>
            <a:off x="0" y="0"/>
            <a:ext cx="9144000" cy="4561344"/>
          </a:xfrm>
          <a:prstGeom prst="rect">
            <a:avLst/>
          </a:prstGeom>
          <a:solidFill>
            <a:srgbClr val="133F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61344"/>
            <a:ext cx="9144000" cy="57150"/>
          </a:xfrm>
          <a:prstGeom prst="rect">
            <a:avLst/>
          </a:prstGeom>
        </p:spPr>
      </p:pic>
      <p:pic>
        <p:nvPicPr>
          <p:cNvPr id="6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255" y="541288"/>
            <a:ext cx="3553211" cy="931285"/>
          </a:xfrm>
          <a:prstGeom prst="rect">
            <a:avLst/>
          </a:prstGeom>
        </p:spPr>
      </p:pic>
      <p:sp>
        <p:nvSpPr>
          <p:cNvPr id="2" name="Szövegdoboz 1"/>
          <p:cNvSpPr txBox="1"/>
          <p:nvPr/>
        </p:nvSpPr>
        <p:spPr>
          <a:xfrm>
            <a:off x="2218038" y="5102632"/>
            <a:ext cx="47079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2400" b="1" dirty="0"/>
              <a:t>Dr. Berényi László</a:t>
            </a:r>
          </a:p>
          <a:p>
            <a:pPr algn="ctr"/>
            <a:endParaRPr lang="hu-HU" sz="2400" dirty="0"/>
          </a:p>
          <a:p>
            <a:pPr algn="ctr"/>
            <a:r>
              <a:rPr lang="hu-HU" sz="2400" dirty="0"/>
              <a:t>Vezetéstudományi Intézet</a:t>
            </a:r>
          </a:p>
        </p:txBody>
      </p:sp>
      <p:sp>
        <p:nvSpPr>
          <p:cNvPr id="7" name="Cím 1"/>
          <p:cNvSpPr txBox="1">
            <a:spLocks/>
          </p:cNvSpPr>
          <p:nvPr/>
        </p:nvSpPr>
        <p:spPr>
          <a:xfrm>
            <a:off x="1073499" y="3168793"/>
            <a:ext cx="7383236" cy="76698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u-HU" sz="4400" b="1" dirty="0">
                <a:solidFill>
                  <a:schemeClr val="bg1"/>
                </a:solidFill>
              </a:rPr>
              <a:t>Termelésmenedzsment alapjai</a:t>
            </a:r>
          </a:p>
          <a:p>
            <a:endParaRPr lang="hu-HU" sz="3600" dirty="0">
              <a:solidFill>
                <a:schemeClr val="bg1"/>
              </a:solidFill>
            </a:endParaRPr>
          </a:p>
          <a:p>
            <a:r>
              <a:rPr lang="hu-HU" sz="3600" dirty="0">
                <a:solidFill>
                  <a:schemeClr val="bg1"/>
                </a:solidFill>
              </a:rPr>
              <a:t>Termelési rendszer jellemzői</a:t>
            </a:r>
          </a:p>
        </p:txBody>
      </p:sp>
    </p:spTree>
    <p:extLst>
      <p:ext uri="{BB962C8B-B14F-4D97-AF65-F5344CB8AC3E}">
        <p14:creationId xmlns:p14="http://schemas.microsoft.com/office/powerpoint/2010/main" val="20758846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Termelés tömegszerűsége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Egyedi gyártás</a:t>
            </a:r>
          </a:p>
          <a:p>
            <a:pPr lvl="1"/>
            <a:r>
              <a:rPr lang="hu-HU" dirty="0"/>
              <a:t>P: input periódus</a:t>
            </a:r>
          </a:p>
          <a:p>
            <a:pPr lvl="1"/>
            <a:r>
              <a:rPr lang="hu-HU" dirty="0"/>
              <a:t>T: egy termék elkészítési ideje</a:t>
            </a:r>
          </a:p>
        </p:txBody>
      </p:sp>
      <p:graphicFrame>
        <p:nvGraphicFramePr>
          <p:cNvPr id="4" name="Objektum 3"/>
          <p:cNvGraphicFramePr>
            <a:graphicFrameLocks noChangeAspect="1"/>
          </p:cNvGraphicFramePr>
          <p:nvPr/>
        </p:nvGraphicFramePr>
        <p:xfrm>
          <a:off x="6044565" y="1776547"/>
          <a:ext cx="1250950" cy="13006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68280" imgH="393480" progId="Equation.3">
                  <p:embed/>
                </p:oleObj>
              </mc:Choice>
              <mc:Fallback>
                <p:oleObj name="Equation" r:id="rId2" imgW="368280" imgH="393480" progId="Equation.3">
                  <p:embed/>
                  <p:pic>
                    <p:nvPicPr>
                      <p:cNvPr id="4" name="Objektum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44565" y="1776547"/>
                        <a:ext cx="1250950" cy="130061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7219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171031" y="3965529"/>
            <a:ext cx="6305550" cy="2009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Termelés tömegszerűsége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457200" y="1600200"/>
            <a:ext cx="4807131" cy="4525963"/>
          </a:xfrm>
        </p:spPr>
        <p:txBody>
          <a:bodyPr/>
          <a:lstStyle/>
          <a:p>
            <a:r>
              <a:rPr lang="hu-HU" dirty="0"/>
              <a:t>Kis-és közép sorozatgyártás</a:t>
            </a:r>
          </a:p>
          <a:p>
            <a:pPr lvl="1"/>
            <a:r>
              <a:rPr lang="hu-HU" dirty="0" err="1"/>
              <a:t>t</a:t>
            </a:r>
            <a:r>
              <a:rPr lang="hu-HU" sz="2000" dirty="0" err="1"/>
              <a:t>max</a:t>
            </a:r>
            <a:r>
              <a:rPr lang="hu-HU" dirty="0"/>
              <a:t>: leghosszabb tevékenység művelei ideje</a:t>
            </a:r>
          </a:p>
        </p:txBody>
      </p:sp>
      <p:graphicFrame>
        <p:nvGraphicFramePr>
          <p:cNvPr id="138242" name="Object 2"/>
          <p:cNvGraphicFramePr>
            <a:graphicFrameLocks noChangeAspect="1"/>
          </p:cNvGraphicFramePr>
          <p:nvPr/>
        </p:nvGraphicFramePr>
        <p:xfrm>
          <a:off x="5621338" y="1646238"/>
          <a:ext cx="949325" cy="1300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79360" imgH="393480" progId="Equation.3">
                  <p:embed/>
                </p:oleObj>
              </mc:Choice>
              <mc:Fallback>
                <p:oleObj name="Equation" r:id="rId2" imgW="279360" imgH="393480" progId="Equation.3">
                  <p:embed/>
                  <p:pic>
                    <p:nvPicPr>
                      <p:cNvPr id="13824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21338" y="1646238"/>
                        <a:ext cx="949325" cy="13001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243" name="Object 3"/>
          <p:cNvGraphicFramePr>
            <a:graphicFrameLocks noChangeAspect="1"/>
          </p:cNvGraphicFramePr>
          <p:nvPr/>
        </p:nvGraphicFramePr>
        <p:xfrm>
          <a:off x="7051675" y="1633673"/>
          <a:ext cx="1381125" cy="1300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06080" imgH="393480" progId="Equation.3">
                  <p:embed/>
                </p:oleObj>
              </mc:Choice>
              <mc:Fallback>
                <p:oleObj name="Equation" r:id="rId4" imgW="406080" imgH="393480" progId="Equation.3">
                  <p:embed/>
                  <p:pic>
                    <p:nvPicPr>
                      <p:cNvPr id="13824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51675" y="1633673"/>
                        <a:ext cx="1381125" cy="13001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8244" name="Picture 4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266008" y="4030708"/>
            <a:ext cx="632460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Termelés tömegszerűsége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Nagysorozat gyártás</a:t>
            </a:r>
          </a:p>
          <a:p>
            <a:pPr lvl="1"/>
            <a:r>
              <a:rPr lang="hu-HU" dirty="0" err="1"/>
              <a:t>t</a:t>
            </a:r>
            <a:r>
              <a:rPr lang="hu-HU" sz="2000" dirty="0" err="1"/>
              <a:t>több</a:t>
            </a:r>
            <a:r>
              <a:rPr lang="hu-HU" dirty="0"/>
              <a:t>: műveleti idők többsége</a:t>
            </a:r>
          </a:p>
        </p:txBody>
      </p:sp>
      <p:pic>
        <p:nvPicPr>
          <p:cNvPr id="1392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14722" y="4179298"/>
            <a:ext cx="6305550" cy="2000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39267" name="Object 3"/>
          <p:cNvGraphicFramePr>
            <a:graphicFrameLocks noChangeAspect="1"/>
          </p:cNvGraphicFramePr>
          <p:nvPr/>
        </p:nvGraphicFramePr>
        <p:xfrm>
          <a:off x="1480412" y="2782707"/>
          <a:ext cx="949325" cy="1300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79360" imgH="393480" progId="Equation.3">
                  <p:embed/>
                </p:oleObj>
              </mc:Choice>
              <mc:Fallback>
                <p:oleObj name="Equation" r:id="rId3" imgW="279360" imgH="393480" progId="Equation.3">
                  <p:embed/>
                  <p:pic>
                    <p:nvPicPr>
                      <p:cNvPr id="13926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0412" y="2782707"/>
                        <a:ext cx="949325" cy="13001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9268" name="Object 4"/>
          <p:cNvGraphicFramePr>
            <a:graphicFrameLocks noChangeAspect="1"/>
          </p:cNvGraphicFramePr>
          <p:nvPr/>
        </p:nvGraphicFramePr>
        <p:xfrm>
          <a:off x="3696563" y="2730818"/>
          <a:ext cx="1639887" cy="1300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82400" imgH="393480" progId="Equation.3">
                  <p:embed/>
                </p:oleObj>
              </mc:Choice>
              <mc:Fallback>
                <p:oleObj name="Equation" r:id="rId5" imgW="482400" imgH="393480" progId="Equation.3">
                  <p:embed/>
                  <p:pic>
                    <p:nvPicPr>
                      <p:cNvPr id="13926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96563" y="2730818"/>
                        <a:ext cx="1639887" cy="13001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9269" name="Object 5"/>
          <p:cNvGraphicFramePr>
            <a:graphicFrameLocks noChangeAspect="1"/>
          </p:cNvGraphicFramePr>
          <p:nvPr/>
        </p:nvGraphicFramePr>
        <p:xfrm>
          <a:off x="5944870" y="2757398"/>
          <a:ext cx="1639888" cy="1300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482400" imgH="393480" progId="Equation.3">
                  <p:embed/>
                </p:oleObj>
              </mc:Choice>
              <mc:Fallback>
                <p:oleObj name="Equation" r:id="rId7" imgW="482400" imgH="393480" progId="Equation.3">
                  <p:embed/>
                  <p:pic>
                    <p:nvPicPr>
                      <p:cNvPr id="13926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4870" y="2757398"/>
                        <a:ext cx="1639888" cy="13001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Termelés tömegszerűsége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Tömeggyártás</a:t>
            </a:r>
          </a:p>
        </p:txBody>
      </p:sp>
      <p:pic>
        <p:nvPicPr>
          <p:cNvPr id="14029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96897" y="4502331"/>
            <a:ext cx="6315075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40293" name="Object 5"/>
          <p:cNvGraphicFramePr>
            <a:graphicFrameLocks noChangeAspect="1"/>
          </p:cNvGraphicFramePr>
          <p:nvPr/>
        </p:nvGraphicFramePr>
        <p:xfrm>
          <a:off x="3332616" y="2626860"/>
          <a:ext cx="1639887" cy="1300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82400" imgH="393480" progId="Equation.3">
                  <p:embed/>
                </p:oleObj>
              </mc:Choice>
              <mc:Fallback>
                <p:oleObj name="Equation" r:id="rId3" imgW="482400" imgH="393480" progId="Equation.3">
                  <p:embed/>
                  <p:pic>
                    <p:nvPicPr>
                      <p:cNvPr id="14029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32616" y="2626860"/>
                        <a:ext cx="1639887" cy="13001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Gyártási típusok jellemzői</a:t>
            </a:r>
          </a:p>
        </p:txBody>
      </p:sp>
      <p:graphicFrame>
        <p:nvGraphicFramePr>
          <p:cNvPr id="4" name="Táblázat 3"/>
          <p:cNvGraphicFramePr>
            <a:graphicFrameLocks noGrp="1"/>
          </p:cNvGraphicFramePr>
          <p:nvPr/>
        </p:nvGraphicFramePr>
        <p:xfrm>
          <a:off x="134914" y="1749697"/>
          <a:ext cx="8844196" cy="4668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10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10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110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110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dirty="0"/>
                        <a:t>Jellemző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/>
                        <a:t>Egyedi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/>
                        <a:t>Sorozat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/>
                        <a:t>Tömeg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b="1" dirty="0"/>
                        <a:t>Termékféleség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Egyszer</a:t>
                      </a:r>
                      <a:r>
                        <a:rPr lang="hu-HU" baseline="0" dirty="0"/>
                        <a:t> vagy ritkán fordul elő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Korlátozott</a:t>
                      </a:r>
                      <a:r>
                        <a:rPr lang="hu-HU" baseline="0" dirty="0"/>
                        <a:t> számú terméktípus meghatározott időszakonként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Néhány termék nagy</a:t>
                      </a:r>
                      <a:r>
                        <a:rPr lang="hu-HU" baseline="0" dirty="0"/>
                        <a:t> sorozatban, folyamatosan</a:t>
                      </a:r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b="1" dirty="0"/>
                        <a:t>Gyártás technológiai előkészítése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Nagyvonalú tervrajzok, általános utasítások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Részletes tervrajz és technológia a műveletek</a:t>
                      </a:r>
                      <a:r>
                        <a:rPr lang="hu-HU" baseline="0" dirty="0"/>
                        <a:t> többségére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Részletes tervek</a:t>
                      </a:r>
                      <a:r>
                        <a:rPr lang="hu-HU" baseline="0" dirty="0"/>
                        <a:t> és utasítások mindenre</a:t>
                      </a:r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b="1" dirty="0"/>
                        <a:t>Anyagok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Standard, kereskedelmi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Standard + speciális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Speciális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b="1" dirty="0"/>
                        <a:t>Gyártási műveletek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Állandóan változó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Periodikusság jellemző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Állandó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b="1" dirty="0"/>
                        <a:t>Gépek, berendezések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Univerzális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Általános gépek, speciális szerszámok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Célgépek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Gyártási típusok jellemzői</a:t>
            </a:r>
          </a:p>
        </p:txBody>
      </p:sp>
      <p:graphicFrame>
        <p:nvGraphicFramePr>
          <p:cNvPr id="4" name="Táblázat 3"/>
          <p:cNvGraphicFramePr>
            <a:graphicFrameLocks noGrp="1"/>
          </p:cNvGraphicFramePr>
          <p:nvPr/>
        </p:nvGraphicFramePr>
        <p:xfrm>
          <a:off x="365760" y="1902098"/>
          <a:ext cx="8294916" cy="3479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37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737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737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737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b="1" dirty="0"/>
                        <a:t>Jellemző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1" dirty="0"/>
                        <a:t>Egyedi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1" dirty="0"/>
                        <a:t>Sorozat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1" dirty="0"/>
                        <a:t>Tömeg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b="1" dirty="0"/>
                        <a:t>Üzem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Gépek funkció szerint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Gépek műveletek szerint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Sorok, szalagok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b="1" dirty="0"/>
                        <a:t>Munkaerő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Magas tudás és tapasztalat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Kvalifikált + betanított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Munkások gépkezelésre betanítva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b="1" dirty="0"/>
                        <a:t>Menedzsment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Folyamatspecialista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Termékspecialista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Speciális, gépre vonatkozó tudás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b="1" dirty="0"/>
                        <a:t>Költségek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Alacsony fix költség, magas változó költség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Magasabb fix, alacsonyabb változó</a:t>
                      </a:r>
                      <a:r>
                        <a:rPr lang="hu-HU" baseline="0" dirty="0"/>
                        <a:t> költség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Nagyon</a:t>
                      </a:r>
                      <a:r>
                        <a:rPr lang="hu-HU" baseline="0" dirty="0"/>
                        <a:t> magas fix és alacsony változó költség</a:t>
                      </a:r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044315"/>
          </a:xfrm>
        </p:spPr>
        <p:txBody>
          <a:bodyPr/>
          <a:lstStyle/>
          <a:p>
            <a:r>
              <a:rPr lang="hu-HU" dirty="0"/>
              <a:t>Termelőüzem elrendezése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0" y="1441555"/>
            <a:ext cx="8229600" cy="4144963"/>
          </a:xfrm>
        </p:spPr>
        <p:txBody>
          <a:bodyPr/>
          <a:lstStyle/>
          <a:p>
            <a:r>
              <a:rPr lang="hu-HU" sz="2000" dirty="0"/>
              <a:t>Projekt-rendszerű</a:t>
            </a:r>
          </a:p>
          <a:p>
            <a:r>
              <a:rPr lang="hu-HU" sz="2000" dirty="0"/>
              <a:t>Műhely-rendszerű</a:t>
            </a:r>
          </a:p>
          <a:p>
            <a:r>
              <a:rPr lang="hu-HU" sz="2000" dirty="0"/>
              <a:t>Zárt ciklusú</a:t>
            </a:r>
          </a:p>
          <a:p>
            <a:r>
              <a:rPr lang="hu-HU" sz="2000" dirty="0"/>
              <a:t>Folyamat-rendszerű</a:t>
            </a:r>
          </a:p>
          <a:p>
            <a:endParaRPr lang="hu-HU" sz="2000" dirty="0"/>
          </a:p>
        </p:txBody>
      </p:sp>
      <p:pic>
        <p:nvPicPr>
          <p:cNvPr id="150530" name="Picture 2"/>
          <p:cNvPicPr>
            <a:picLocks noChangeAspect="1" noChangeArrowheads="1"/>
          </p:cNvPicPr>
          <p:nvPr/>
        </p:nvPicPr>
        <p:blipFill>
          <a:blip r:embed="rId2" cstate="print">
            <a:lum bright="-38000" contrast="7000"/>
          </a:blip>
          <a:srcRect/>
          <a:stretch>
            <a:fillRect/>
          </a:stretch>
        </p:blipFill>
        <p:spPr bwMode="auto">
          <a:xfrm>
            <a:off x="2563319" y="2191352"/>
            <a:ext cx="6580682" cy="43506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Feladatvezérelt elv</a:t>
            </a:r>
          </a:p>
        </p:txBody>
      </p:sp>
      <p:sp>
        <p:nvSpPr>
          <p:cNvPr id="4" name="Text Box 19"/>
          <p:cNvSpPr txBox="1">
            <a:spLocks noChangeArrowheads="1"/>
          </p:cNvSpPr>
          <p:nvPr/>
        </p:nvSpPr>
        <p:spPr bwMode="auto">
          <a:xfrm>
            <a:off x="1497403" y="2060575"/>
            <a:ext cx="1728788" cy="431800"/>
          </a:xfrm>
          <a:prstGeom prst="rect">
            <a:avLst/>
          </a:prstGeom>
          <a:blipFill>
            <a:blip r:embed="rId2" cstate="print"/>
            <a:tile tx="0" ty="0" sx="100000" sy="100000" flip="none" algn="tl"/>
          </a:blipFill>
          <a:ln w="9525">
            <a:noFill/>
            <a:miter lim="800000"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pPr algn="ctr"/>
            <a:r>
              <a:rPr lang="hu-HU" b="1">
                <a:latin typeface="+mj-lt"/>
              </a:rPr>
              <a:t>Vállalkozás</a:t>
            </a:r>
            <a:endParaRPr lang="hu-HU" sz="2800" b="1">
              <a:latin typeface="+mj-lt"/>
            </a:endParaRPr>
          </a:p>
        </p:txBody>
      </p:sp>
      <p:sp>
        <p:nvSpPr>
          <p:cNvPr id="6" name="Text Box 20"/>
          <p:cNvSpPr txBox="1">
            <a:spLocks noChangeArrowheads="1"/>
          </p:cNvSpPr>
          <p:nvPr/>
        </p:nvSpPr>
        <p:spPr bwMode="auto">
          <a:xfrm>
            <a:off x="1692275" y="2997200"/>
            <a:ext cx="1484313" cy="576263"/>
          </a:xfrm>
          <a:prstGeom prst="rect">
            <a:avLst/>
          </a:prstGeom>
          <a:blipFill>
            <a:blip r:embed="rId2" cstate="print"/>
            <a:tile tx="0" ty="0" sx="100000" sy="100000" flip="none" algn="tl"/>
          </a:blipFill>
          <a:ln w="9525">
            <a:noFill/>
            <a:miter lim="800000"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pPr algn="ctr"/>
            <a:r>
              <a:rPr lang="hu-HU" b="1">
                <a:latin typeface="+mj-lt"/>
              </a:rPr>
              <a:t>Feladat</a:t>
            </a:r>
            <a:endParaRPr lang="hu-HU" sz="2800" b="1">
              <a:latin typeface="+mj-lt"/>
            </a:endParaRPr>
          </a:p>
        </p:txBody>
      </p:sp>
      <p:sp>
        <p:nvSpPr>
          <p:cNvPr id="7" name="Line 25"/>
          <p:cNvSpPr>
            <a:spLocks noChangeShapeType="1"/>
          </p:cNvSpPr>
          <p:nvPr/>
        </p:nvSpPr>
        <p:spPr bwMode="auto">
          <a:xfrm>
            <a:off x="2364518" y="2492375"/>
            <a:ext cx="0" cy="504825"/>
          </a:xfrm>
          <a:prstGeom prst="line">
            <a:avLst/>
          </a:prstGeom>
          <a:noFill/>
          <a:ln w="76200" cmpd="sng">
            <a:solidFill>
              <a:schemeClr val="accent1">
                <a:lumMod val="50000"/>
              </a:schemeClr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hu-HU"/>
          </a:p>
        </p:txBody>
      </p:sp>
      <p:sp>
        <p:nvSpPr>
          <p:cNvPr id="9" name="Text Box 21"/>
          <p:cNvSpPr txBox="1">
            <a:spLocks noChangeArrowheads="1"/>
          </p:cNvSpPr>
          <p:nvPr/>
        </p:nvSpPr>
        <p:spPr bwMode="auto">
          <a:xfrm>
            <a:off x="3421063" y="3860800"/>
            <a:ext cx="2087562" cy="720725"/>
          </a:xfrm>
          <a:prstGeom prst="rect">
            <a:avLst/>
          </a:prstGeom>
          <a:blipFill>
            <a:blip r:embed="rId2" cstate="print"/>
            <a:tile tx="0" ty="0" sx="100000" sy="100000" flip="none" algn="tl"/>
          </a:blipFill>
          <a:ln w="9525">
            <a:noFill/>
            <a:miter lim="800000"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pPr algn="ctr"/>
            <a:r>
              <a:rPr lang="hu-HU" b="1" dirty="0">
                <a:latin typeface="+mj-lt"/>
              </a:rPr>
              <a:t>Szükséglet meghatározás</a:t>
            </a:r>
            <a:endParaRPr lang="hu-HU" sz="2800" b="1" dirty="0">
              <a:latin typeface="+mj-lt"/>
            </a:endParaRPr>
          </a:p>
        </p:txBody>
      </p:sp>
      <p:sp>
        <p:nvSpPr>
          <p:cNvPr id="10" name="Line 27"/>
          <p:cNvSpPr>
            <a:spLocks noChangeShapeType="1"/>
          </p:cNvSpPr>
          <p:nvPr/>
        </p:nvSpPr>
        <p:spPr bwMode="auto">
          <a:xfrm>
            <a:off x="2700338" y="3644900"/>
            <a:ext cx="0" cy="576263"/>
          </a:xfrm>
          <a:prstGeom prst="line">
            <a:avLst/>
          </a:prstGeom>
          <a:noFill/>
          <a:ln w="76200" cmpd="sng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/>
          <a:lstStyle/>
          <a:p>
            <a:endParaRPr lang="hu-HU"/>
          </a:p>
        </p:txBody>
      </p:sp>
      <p:sp>
        <p:nvSpPr>
          <p:cNvPr id="11" name="Line 28"/>
          <p:cNvSpPr>
            <a:spLocks noChangeShapeType="1"/>
          </p:cNvSpPr>
          <p:nvPr/>
        </p:nvSpPr>
        <p:spPr bwMode="auto">
          <a:xfrm>
            <a:off x="2700338" y="4221163"/>
            <a:ext cx="647700" cy="0"/>
          </a:xfrm>
          <a:prstGeom prst="line">
            <a:avLst/>
          </a:prstGeom>
          <a:noFill/>
          <a:ln w="76200" cmpd="sng">
            <a:solidFill>
              <a:schemeClr val="accent1">
                <a:lumMod val="50000"/>
              </a:schemeClr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hu-HU"/>
          </a:p>
        </p:txBody>
      </p:sp>
      <p:sp>
        <p:nvSpPr>
          <p:cNvPr id="13" name="Text Box 22"/>
          <p:cNvSpPr txBox="1">
            <a:spLocks noChangeArrowheads="1"/>
          </p:cNvSpPr>
          <p:nvPr/>
        </p:nvSpPr>
        <p:spPr bwMode="auto">
          <a:xfrm>
            <a:off x="6443663" y="3932238"/>
            <a:ext cx="1368425" cy="504825"/>
          </a:xfrm>
          <a:prstGeom prst="rect">
            <a:avLst/>
          </a:prstGeom>
          <a:blipFill>
            <a:blip r:embed="rId2" cstate="print"/>
            <a:tile tx="0" ty="0" sx="100000" sy="100000" flip="none" algn="tl"/>
          </a:blipFill>
          <a:ln w="9525">
            <a:noFill/>
            <a:miter lim="800000"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pPr algn="ctr"/>
            <a:r>
              <a:rPr lang="hu-HU" b="1">
                <a:latin typeface="+mj-lt"/>
              </a:rPr>
              <a:t>Beszerzés</a:t>
            </a:r>
            <a:endParaRPr lang="hu-HU" sz="2800" b="1">
              <a:latin typeface="+mj-lt"/>
            </a:endParaRPr>
          </a:p>
        </p:txBody>
      </p:sp>
      <p:sp>
        <p:nvSpPr>
          <p:cNvPr id="14" name="Text Box 23"/>
          <p:cNvSpPr txBox="1">
            <a:spLocks noChangeArrowheads="1"/>
          </p:cNvSpPr>
          <p:nvPr/>
        </p:nvSpPr>
        <p:spPr bwMode="auto">
          <a:xfrm>
            <a:off x="6156325" y="5157788"/>
            <a:ext cx="1716088" cy="431800"/>
          </a:xfrm>
          <a:prstGeom prst="rect">
            <a:avLst/>
          </a:prstGeom>
          <a:blipFill>
            <a:blip r:embed="rId2" cstate="print"/>
            <a:tile tx="0" ty="0" sx="100000" sy="100000" flip="none" algn="tl"/>
          </a:blipFill>
          <a:ln w="9525">
            <a:noFill/>
            <a:miter lim="800000"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pPr algn="ctr"/>
            <a:r>
              <a:rPr lang="hu-HU" b="1">
                <a:latin typeface="+mj-lt"/>
              </a:rPr>
              <a:t>Raktározás</a:t>
            </a:r>
            <a:endParaRPr lang="hu-HU" sz="2800" b="1">
              <a:latin typeface="+mj-lt"/>
            </a:endParaRPr>
          </a:p>
        </p:txBody>
      </p:sp>
      <p:sp>
        <p:nvSpPr>
          <p:cNvPr id="15" name="Line 29"/>
          <p:cNvSpPr>
            <a:spLocks noChangeShapeType="1"/>
          </p:cNvSpPr>
          <p:nvPr/>
        </p:nvSpPr>
        <p:spPr bwMode="auto">
          <a:xfrm>
            <a:off x="5508625" y="4149726"/>
            <a:ext cx="935038" cy="0"/>
          </a:xfrm>
          <a:prstGeom prst="line">
            <a:avLst/>
          </a:prstGeom>
          <a:noFill/>
          <a:ln w="76200" cmpd="sng">
            <a:solidFill>
              <a:schemeClr val="accent1">
                <a:lumMod val="50000"/>
              </a:schemeClr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hu-HU"/>
          </a:p>
        </p:txBody>
      </p:sp>
      <p:sp>
        <p:nvSpPr>
          <p:cNvPr id="16" name="Line 30"/>
          <p:cNvSpPr>
            <a:spLocks noChangeShapeType="1"/>
          </p:cNvSpPr>
          <p:nvPr/>
        </p:nvSpPr>
        <p:spPr bwMode="auto">
          <a:xfrm>
            <a:off x="7092950" y="4437063"/>
            <a:ext cx="0" cy="720725"/>
          </a:xfrm>
          <a:prstGeom prst="line">
            <a:avLst/>
          </a:prstGeom>
          <a:noFill/>
          <a:ln w="76200" cmpd="sng">
            <a:solidFill>
              <a:schemeClr val="accent1">
                <a:lumMod val="50000"/>
              </a:schemeClr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hu-HU"/>
          </a:p>
        </p:txBody>
      </p:sp>
      <p:sp>
        <p:nvSpPr>
          <p:cNvPr id="18" name="Text Box 24"/>
          <p:cNvSpPr txBox="1">
            <a:spLocks noChangeArrowheads="1"/>
          </p:cNvSpPr>
          <p:nvPr/>
        </p:nvSpPr>
        <p:spPr bwMode="auto">
          <a:xfrm>
            <a:off x="1476375" y="5732463"/>
            <a:ext cx="1439863" cy="490538"/>
          </a:xfrm>
          <a:prstGeom prst="rect">
            <a:avLst/>
          </a:prstGeom>
          <a:blipFill>
            <a:blip r:embed="rId2" cstate="print"/>
            <a:tile tx="0" ty="0" sx="100000" sy="100000" flip="none" algn="tl"/>
          </a:blipFill>
          <a:ln w="9525">
            <a:noFill/>
            <a:miter lim="800000"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pPr algn="ctr"/>
            <a:r>
              <a:rPr lang="hu-HU" b="1">
                <a:latin typeface="+mj-lt"/>
              </a:rPr>
              <a:t>Termelés</a:t>
            </a:r>
            <a:endParaRPr lang="hu-HU" sz="2800" b="1">
              <a:latin typeface="+mj-lt"/>
            </a:endParaRPr>
          </a:p>
        </p:txBody>
      </p:sp>
      <p:sp>
        <p:nvSpPr>
          <p:cNvPr id="19" name="Line 26"/>
          <p:cNvSpPr>
            <a:spLocks noChangeShapeType="1"/>
          </p:cNvSpPr>
          <p:nvPr/>
        </p:nvSpPr>
        <p:spPr bwMode="auto">
          <a:xfrm>
            <a:off x="2051050" y="3644900"/>
            <a:ext cx="0" cy="2087563"/>
          </a:xfrm>
          <a:prstGeom prst="line">
            <a:avLst/>
          </a:prstGeom>
          <a:noFill/>
          <a:ln w="76200" cmpd="sng">
            <a:solidFill>
              <a:schemeClr val="accent1">
                <a:lumMod val="50000"/>
              </a:schemeClr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hu-HU"/>
          </a:p>
        </p:txBody>
      </p:sp>
      <p:sp>
        <p:nvSpPr>
          <p:cNvPr id="20" name="Line 31"/>
          <p:cNvSpPr>
            <a:spLocks noChangeShapeType="1"/>
          </p:cNvSpPr>
          <p:nvPr/>
        </p:nvSpPr>
        <p:spPr bwMode="auto">
          <a:xfrm flipH="1">
            <a:off x="2411413" y="5373688"/>
            <a:ext cx="3744913" cy="0"/>
          </a:xfrm>
          <a:prstGeom prst="line">
            <a:avLst/>
          </a:prstGeom>
          <a:noFill/>
          <a:ln w="76200" cmpd="sng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/>
          <a:lstStyle/>
          <a:p>
            <a:endParaRPr lang="hu-HU"/>
          </a:p>
        </p:txBody>
      </p:sp>
      <p:sp>
        <p:nvSpPr>
          <p:cNvPr id="21" name="Line 33"/>
          <p:cNvSpPr>
            <a:spLocks noChangeShapeType="1"/>
          </p:cNvSpPr>
          <p:nvPr/>
        </p:nvSpPr>
        <p:spPr bwMode="auto">
          <a:xfrm>
            <a:off x="2411413" y="5373688"/>
            <a:ext cx="0" cy="358775"/>
          </a:xfrm>
          <a:prstGeom prst="line">
            <a:avLst/>
          </a:prstGeom>
          <a:noFill/>
          <a:ln w="76200" cmpd="sng">
            <a:solidFill>
              <a:schemeClr val="accent1">
                <a:lumMod val="50000"/>
              </a:schemeClr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hu-H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Feltételvezérelt elv</a:t>
            </a:r>
          </a:p>
        </p:txBody>
      </p:sp>
      <p:sp>
        <p:nvSpPr>
          <p:cNvPr id="22" name="Text Box 6"/>
          <p:cNvSpPr txBox="1">
            <a:spLocks noChangeArrowheads="1"/>
          </p:cNvSpPr>
          <p:nvPr/>
        </p:nvSpPr>
        <p:spPr bwMode="auto">
          <a:xfrm>
            <a:off x="1187450" y="4005263"/>
            <a:ext cx="1944688" cy="439737"/>
          </a:xfrm>
          <a:prstGeom prst="rect">
            <a:avLst/>
          </a:prstGeom>
          <a:blipFill>
            <a:blip r:embed="rId2" cstate="print"/>
            <a:tile tx="0" ty="0" sx="100000" sy="100000" flip="none" algn="tl"/>
          </a:blipFill>
          <a:ln w="9525">
            <a:noFill/>
            <a:miter lim="800000"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pPr algn="ctr"/>
            <a:r>
              <a:rPr lang="hu-HU" sz="1600" b="1">
                <a:latin typeface="+mj-lt"/>
              </a:rPr>
              <a:t>Feladat</a:t>
            </a:r>
            <a:endParaRPr lang="hu-HU" sz="2400" b="1">
              <a:latin typeface="+mj-lt"/>
            </a:endParaRPr>
          </a:p>
        </p:txBody>
      </p:sp>
      <p:sp>
        <p:nvSpPr>
          <p:cNvPr id="23" name="Line 7"/>
          <p:cNvSpPr>
            <a:spLocks noChangeShapeType="1"/>
          </p:cNvSpPr>
          <p:nvPr/>
        </p:nvSpPr>
        <p:spPr bwMode="auto">
          <a:xfrm>
            <a:off x="2305050" y="3719513"/>
            <a:ext cx="0" cy="338137"/>
          </a:xfrm>
          <a:prstGeom prst="line">
            <a:avLst/>
          </a:prstGeom>
          <a:noFill/>
          <a:ln w="76200" cmpd="sng">
            <a:solidFill>
              <a:schemeClr val="accent1">
                <a:lumMod val="50000"/>
              </a:schemeClr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hu-HU"/>
          </a:p>
        </p:txBody>
      </p:sp>
      <p:sp>
        <p:nvSpPr>
          <p:cNvPr id="24" name="Text Box 9"/>
          <p:cNvSpPr txBox="1">
            <a:spLocks noChangeArrowheads="1"/>
          </p:cNvSpPr>
          <p:nvPr/>
        </p:nvSpPr>
        <p:spPr bwMode="auto">
          <a:xfrm>
            <a:off x="3184525" y="4470400"/>
            <a:ext cx="1819275" cy="595313"/>
          </a:xfrm>
          <a:prstGeom prst="rect">
            <a:avLst/>
          </a:prstGeom>
          <a:blipFill>
            <a:blip r:embed="rId2" cstate="print"/>
            <a:tile tx="0" ty="0" sx="100000" sy="100000" flip="none" algn="tl"/>
          </a:blipFill>
          <a:ln w="9525">
            <a:noFill/>
            <a:miter lim="800000"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pPr algn="ctr">
              <a:spcAft>
                <a:spcPct val="300000"/>
              </a:spcAft>
            </a:pPr>
            <a:r>
              <a:rPr lang="hu-HU" sz="1600" b="1">
                <a:latin typeface="+mj-lt"/>
              </a:rPr>
              <a:t>Szükséglet meghatározás</a:t>
            </a:r>
            <a:endParaRPr lang="hu-HU" sz="2400" b="1">
              <a:latin typeface="+mj-lt"/>
            </a:endParaRPr>
          </a:p>
        </p:txBody>
      </p:sp>
      <p:sp>
        <p:nvSpPr>
          <p:cNvPr id="25" name="Line 10"/>
          <p:cNvSpPr>
            <a:spLocks noChangeShapeType="1"/>
          </p:cNvSpPr>
          <p:nvPr/>
        </p:nvSpPr>
        <p:spPr bwMode="auto">
          <a:xfrm>
            <a:off x="2555875" y="4508500"/>
            <a:ext cx="0" cy="260350"/>
          </a:xfrm>
          <a:prstGeom prst="line">
            <a:avLst/>
          </a:prstGeom>
          <a:noFill/>
          <a:ln w="76200" cmpd="sng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/>
          <a:lstStyle/>
          <a:p>
            <a:endParaRPr lang="hu-HU"/>
          </a:p>
        </p:txBody>
      </p:sp>
      <p:sp>
        <p:nvSpPr>
          <p:cNvPr id="26" name="Line 11"/>
          <p:cNvSpPr>
            <a:spLocks noChangeShapeType="1"/>
          </p:cNvSpPr>
          <p:nvPr/>
        </p:nvSpPr>
        <p:spPr bwMode="auto">
          <a:xfrm>
            <a:off x="2555875" y="4768850"/>
            <a:ext cx="565150" cy="0"/>
          </a:xfrm>
          <a:prstGeom prst="line">
            <a:avLst/>
          </a:prstGeom>
          <a:noFill/>
          <a:ln w="76200" cmpd="sng">
            <a:solidFill>
              <a:schemeClr val="accent1">
                <a:lumMod val="50000"/>
              </a:schemeClr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hu-HU"/>
          </a:p>
        </p:txBody>
      </p:sp>
      <p:sp>
        <p:nvSpPr>
          <p:cNvPr id="27" name="Text Box 13"/>
          <p:cNvSpPr txBox="1">
            <a:spLocks noChangeArrowheads="1"/>
          </p:cNvSpPr>
          <p:nvPr/>
        </p:nvSpPr>
        <p:spPr bwMode="auto">
          <a:xfrm>
            <a:off x="5888038" y="4652963"/>
            <a:ext cx="1292225" cy="360362"/>
          </a:xfrm>
          <a:prstGeom prst="rect">
            <a:avLst/>
          </a:prstGeom>
          <a:blipFill>
            <a:blip r:embed="rId2" cstate="print"/>
            <a:tile tx="0" ty="0" sx="100000" sy="100000" flip="none" algn="tl"/>
          </a:blipFill>
          <a:ln w="9525">
            <a:noFill/>
            <a:miter lim="800000"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pPr algn="ctr">
              <a:spcAft>
                <a:spcPct val="300000"/>
              </a:spcAft>
            </a:pPr>
            <a:r>
              <a:rPr lang="hu-HU" sz="1600" b="1">
                <a:latin typeface="+mj-lt"/>
              </a:rPr>
              <a:t>Beszerzés</a:t>
            </a:r>
            <a:endParaRPr lang="hu-HU" sz="2400" b="1">
              <a:latin typeface="+mj-lt"/>
            </a:endParaRPr>
          </a:p>
        </p:txBody>
      </p:sp>
      <p:sp>
        <p:nvSpPr>
          <p:cNvPr id="28" name="Text Box 14"/>
          <p:cNvSpPr txBox="1">
            <a:spLocks noChangeArrowheads="1"/>
          </p:cNvSpPr>
          <p:nvPr/>
        </p:nvSpPr>
        <p:spPr bwMode="auto">
          <a:xfrm>
            <a:off x="5616575" y="5529263"/>
            <a:ext cx="1763713" cy="347662"/>
          </a:xfrm>
          <a:prstGeom prst="rect">
            <a:avLst/>
          </a:prstGeom>
          <a:blipFill>
            <a:blip r:embed="rId2" cstate="print"/>
            <a:tile tx="0" ty="0" sx="100000" sy="100000" flip="none" algn="tl"/>
          </a:blipFill>
          <a:ln w="9525">
            <a:noFill/>
            <a:miter lim="800000"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pPr algn="ctr">
              <a:spcAft>
                <a:spcPct val="300000"/>
              </a:spcAft>
            </a:pPr>
            <a:r>
              <a:rPr lang="hu-HU" sz="1600" b="1">
                <a:latin typeface="+mj-lt"/>
              </a:rPr>
              <a:t>Raktározás</a:t>
            </a:r>
            <a:endParaRPr lang="hu-HU" sz="2400" b="1">
              <a:latin typeface="+mj-lt"/>
            </a:endParaRPr>
          </a:p>
        </p:txBody>
      </p:sp>
      <p:sp>
        <p:nvSpPr>
          <p:cNvPr id="29" name="Line 15"/>
          <p:cNvSpPr>
            <a:spLocks noChangeShapeType="1"/>
          </p:cNvSpPr>
          <p:nvPr/>
        </p:nvSpPr>
        <p:spPr bwMode="auto">
          <a:xfrm>
            <a:off x="5003800" y="4808538"/>
            <a:ext cx="884238" cy="0"/>
          </a:xfrm>
          <a:prstGeom prst="line">
            <a:avLst/>
          </a:prstGeom>
          <a:noFill/>
          <a:ln w="76200" cmpd="sng">
            <a:solidFill>
              <a:schemeClr val="accent1">
                <a:lumMod val="50000"/>
              </a:schemeClr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hu-HU"/>
          </a:p>
        </p:txBody>
      </p:sp>
      <p:sp>
        <p:nvSpPr>
          <p:cNvPr id="30" name="Line 16"/>
          <p:cNvSpPr>
            <a:spLocks noChangeShapeType="1"/>
          </p:cNvSpPr>
          <p:nvPr/>
        </p:nvSpPr>
        <p:spPr bwMode="auto">
          <a:xfrm>
            <a:off x="6500813" y="5013325"/>
            <a:ext cx="0" cy="515938"/>
          </a:xfrm>
          <a:prstGeom prst="line">
            <a:avLst/>
          </a:prstGeom>
          <a:noFill/>
          <a:ln w="76200" cmpd="sng">
            <a:solidFill>
              <a:schemeClr val="accent1">
                <a:lumMod val="50000"/>
              </a:schemeClr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hu-HU"/>
          </a:p>
        </p:txBody>
      </p:sp>
      <p:sp>
        <p:nvSpPr>
          <p:cNvPr id="31" name="Text Box 18"/>
          <p:cNvSpPr txBox="1">
            <a:spLocks noChangeArrowheads="1"/>
          </p:cNvSpPr>
          <p:nvPr/>
        </p:nvSpPr>
        <p:spPr bwMode="auto">
          <a:xfrm>
            <a:off x="1476375" y="5894388"/>
            <a:ext cx="1182688" cy="328612"/>
          </a:xfrm>
          <a:prstGeom prst="rect">
            <a:avLst/>
          </a:prstGeom>
          <a:blipFill>
            <a:blip r:embed="rId2" cstate="print"/>
            <a:tile tx="0" ty="0" sx="100000" sy="100000" flip="none" algn="tl"/>
          </a:blipFill>
          <a:ln w="9525">
            <a:noFill/>
            <a:miter lim="800000"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pPr algn="ctr"/>
            <a:r>
              <a:rPr lang="hu-HU" sz="1600" b="1">
                <a:latin typeface="+mj-lt"/>
              </a:rPr>
              <a:t>Termelés</a:t>
            </a:r>
            <a:endParaRPr lang="hu-HU" sz="2400" b="1">
              <a:latin typeface="+mj-lt"/>
            </a:endParaRPr>
          </a:p>
        </p:txBody>
      </p:sp>
      <p:sp>
        <p:nvSpPr>
          <p:cNvPr id="32" name="Line 19"/>
          <p:cNvSpPr>
            <a:spLocks noChangeShapeType="1"/>
          </p:cNvSpPr>
          <p:nvPr/>
        </p:nvSpPr>
        <p:spPr bwMode="auto">
          <a:xfrm>
            <a:off x="1949450" y="4492625"/>
            <a:ext cx="0" cy="1401763"/>
          </a:xfrm>
          <a:prstGeom prst="line">
            <a:avLst/>
          </a:prstGeom>
          <a:noFill/>
          <a:ln w="76200" cmpd="sng">
            <a:solidFill>
              <a:schemeClr val="accent1">
                <a:lumMod val="50000"/>
              </a:schemeClr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hu-HU"/>
          </a:p>
        </p:txBody>
      </p:sp>
      <p:sp>
        <p:nvSpPr>
          <p:cNvPr id="33" name="Line 20"/>
          <p:cNvSpPr>
            <a:spLocks noChangeShapeType="1"/>
          </p:cNvSpPr>
          <p:nvPr/>
        </p:nvSpPr>
        <p:spPr bwMode="auto">
          <a:xfrm flipH="1">
            <a:off x="2265363" y="5661025"/>
            <a:ext cx="3314700" cy="0"/>
          </a:xfrm>
          <a:prstGeom prst="line">
            <a:avLst/>
          </a:prstGeom>
          <a:noFill/>
          <a:ln w="76200" cmpd="sng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/>
          <a:lstStyle/>
          <a:p>
            <a:endParaRPr lang="hu-HU"/>
          </a:p>
        </p:txBody>
      </p:sp>
      <p:sp>
        <p:nvSpPr>
          <p:cNvPr id="34" name="Line 21"/>
          <p:cNvSpPr>
            <a:spLocks noChangeShapeType="1"/>
          </p:cNvSpPr>
          <p:nvPr/>
        </p:nvSpPr>
        <p:spPr bwMode="auto">
          <a:xfrm>
            <a:off x="2244725" y="5653088"/>
            <a:ext cx="0" cy="241300"/>
          </a:xfrm>
          <a:prstGeom prst="line">
            <a:avLst/>
          </a:prstGeom>
          <a:noFill/>
          <a:ln w="76200" cmpd="sng">
            <a:solidFill>
              <a:schemeClr val="accent1">
                <a:lumMod val="50000"/>
              </a:schemeClr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hu-HU"/>
          </a:p>
        </p:txBody>
      </p:sp>
      <p:sp>
        <p:nvSpPr>
          <p:cNvPr id="35" name="Text Box 23"/>
          <p:cNvSpPr txBox="1">
            <a:spLocks noChangeArrowheads="1"/>
          </p:cNvSpPr>
          <p:nvPr/>
        </p:nvSpPr>
        <p:spPr bwMode="auto">
          <a:xfrm>
            <a:off x="1547813" y="1916113"/>
            <a:ext cx="1512887" cy="647700"/>
          </a:xfrm>
          <a:prstGeom prst="rect">
            <a:avLst/>
          </a:prstGeom>
          <a:blipFill>
            <a:blip r:embed="rId2" cstate="print"/>
            <a:tile tx="0" ty="0" sx="100000" sy="100000" flip="none" algn="tl"/>
          </a:blipFill>
          <a:ln w="9525">
            <a:noFill/>
            <a:miter lim="800000"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pPr algn="ctr"/>
            <a:r>
              <a:rPr lang="hu-HU" sz="1600" b="1">
                <a:latin typeface="+mj-lt"/>
              </a:rPr>
              <a:t>Igény begyűjtés</a:t>
            </a:r>
            <a:endParaRPr lang="hu-HU" sz="2400" b="1">
              <a:latin typeface="+mj-lt"/>
            </a:endParaRPr>
          </a:p>
        </p:txBody>
      </p:sp>
      <p:sp>
        <p:nvSpPr>
          <p:cNvPr id="36" name="Text Box 24"/>
          <p:cNvSpPr txBox="1">
            <a:spLocks noChangeArrowheads="1"/>
          </p:cNvSpPr>
          <p:nvPr/>
        </p:nvSpPr>
        <p:spPr bwMode="auto">
          <a:xfrm>
            <a:off x="3600450" y="1916113"/>
            <a:ext cx="1941513" cy="720725"/>
          </a:xfrm>
          <a:prstGeom prst="rect">
            <a:avLst/>
          </a:prstGeom>
          <a:blipFill>
            <a:blip r:embed="rId2" cstate="print"/>
            <a:tile tx="0" ty="0" sx="100000" sy="100000" flip="none" algn="tl"/>
          </a:blipFill>
          <a:ln w="9525">
            <a:noFill/>
            <a:miter lim="800000"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pPr algn="ctr"/>
            <a:r>
              <a:rPr lang="hu-HU" sz="1600" b="1">
                <a:latin typeface="+mj-lt"/>
              </a:rPr>
              <a:t>Szükséglet meghatározás</a:t>
            </a:r>
          </a:p>
        </p:txBody>
      </p:sp>
      <p:sp>
        <p:nvSpPr>
          <p:cNvPr id="37" name="Text Box 25"/>
          <p:cNvSpPr txBox="1">
            <a:spLocks noChangeArrowheads="1"/>
          </p:cNvSpPr>
          <p:nvPr/>
        </p:nvSpPr>
        <p:spPr bwMode="auto">
          <a:xfrm>
            <a:off x="5940425" y="1916113"/>
            <a:ext cx="2376488" cy="649287"/>
          </a:xfrm>
          <a:prstGeom prst="rect">
            <a:avLst/>
          </a:prstGeom>
          <a:blipFill>
            <a:blip r:embed="rId2" cstate="print"/>
            <a:tile tx="0" ty="0" sx="100000" sy="100000" flip="none" algn="tl"/>
          </a:blipFill>
          <a:ln w="9525">
            <a:noFill/>
            <a:miter lim="800000"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pPr algn="ctr"/>
            <a:r>
              <a:rPr lang="hu-HU" sz="1600" b="1">
                <a:latin typeface="+mj-lt"/>
              </a:rPr>
              <a:t>Biztosítási lehetőség meghatározása</a:t>
            </a:r>
            <a:endParaRPr lang="hu-HU" sz="2400" b="1">
              <a:latin typeface="+mj-lt"/>
            </a:endParaRPr>
          </a:p>
        </p:txBody>
      </p:sp>
      <p:sp>
        <p:nvSpPr>
          <p:cNvPr id="38" name="Line 29"/>
          <p:cNvSpPr>
            <a:spLocks noChangeShapeType="1"/>
          </p:cNvSpPr>
          <p:nvPr/>
        </p:nvSpPr>
        <p:spPr bwMode="auto">
          <a:xfrm>
            <a:off x="3059113" y="2205038"/>
            <a:ext cx="504825" cy="0"/>
          </a:xfrm>
          <a:prstGeom prst="line">
            <a:avLst/>
          </a:prstGeom>
          <a:noFill/>
          <a:ln w="76200" cmpd="sng">
            <a:solidFill>
              <a:schemeClr val="accent1">
                <a:lumMod val="50000"/>
              </a:schemeClr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hu-HU"/>
          </a:p>
        </p:txBody>
      </p:sp>
      <p:sp>
        <p:nvSpPr>
          <p:cNvPr id="39" name="Line 30"/>
          <p:cNvSpPr>
            <a:spLocks noChangeShapeType="1"/>
          </p:cNvSpPr>
          <p:nvPr/>
        </p:nvSpPr>
        <p:spPr bwMode="auto">
          <a:xfrm>
            <a:off x="5580063" y="2205038"/>
            <a:ext cx="360362" cy="0"/>
          </a:xfrm>
          <a:prstGeom prst="line">
            <a:avLst/>
          </a:prstGeom>
          <a:noFill/>
          <a:ln w="76200" cmpd="sng">
            <a:solidFill>
              <a:schemeClr val="accent1">
                <a:lumMod val="50000"/>
              </a:schemeClr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hu-HU"/>
          </a:p>
        </p:txBody>
      </p:sp>
      <p:sp>
        <p:nvSpPr>
          <p:cNvPr id="41" name="Text Box 4"/>
          <p:cNvSpPr txBox="1">
            <a:spLocks noChangeArrowheads="1"/>
          </p:cNvSpPr>
          <p:nvPr/>
        </p:nvSpPr>
        <p:spPr bwMode="auto">
          <a:xfrm>
            <a:off x="1476375" y="3141663"/>
            <a:ext cx="1655763" cy="574675"/>
          </a:xfrm>
          <a:prstGeom prst="rect">
            <a:avLst/>
          </a:prstGeom>
          <a:blipFill>
            <a:blip r:embed="rId2" cstate="print"/>
            <a:tile tx="0" ty="0" sx="100000" sy="100000" flip="none" algn="tl"/>
          </a:blipFill>
          <a:ln w="9525">
            <a:noFill/>
            <a:miter lim="800000"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pPr algn="ctr">
              <a:spcAft>
                <a:spcPts val="300"/>
              </a:spcAft>
            </a:pPr>
            <a:r>
              <a:rPr lang="hu-HU" sz="1600" b="1">
                <a:latin typeface="+mj-lt"/>
              </a:rPr>
              <a:t>Vállalkozás</a:t>
            </a:r>
          </a:p>
          <a:p>
            <a:pPr algn="ctr">
              <a:spcAft>
                <a:spcPts val="300"/>
              </a:spcAft>
            </a:pPr>
            <a:endParaRPr lang="hu-HU" sz="2400" b="1">
              <a:latin typeface="+mj-lt"/>
            </a:endParaRPr>
          </a:p>
        </p:txBody>
      </p:sp>
      <p:sp>
        <p:nvSpPr>
          <p:cNvPr id="42" name="Text Box 26"/>
          <p:cNvSpPr txBox="1">
            <a:spLocks noChangeArrowheads="1"/>
          </p:cNvSpPr>
          <p:nvPr/>
        </p:nvSpPr>
        <p:spPr bwMode="auto">
          <a:xfrm>
            <a:off x="3814763" y="3105150"/>
            <a:ext cx="1512888" cy="647700"/>
          </a:xfrm>
          <a:prstGeom prst="rect">
            <a:avLst/>
          </a:prstGeom>
          <a:blipFill>
            <a:blip r:embed="rId2" cstate="print"/>
            <a:tile tx="0" ty="0" sx="100000" sy="100000" flip="none" algn="tl"/>
          </a:blipFill>
          <a:ln w="9525">
            <a:noFill/>
            <a:miter lim="800000"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pPr algn="ctr"/>
            <a:r>
              <a:rPr lang="hu-HU" sz="1600" b="1">
                <a:latin typeface="+mj-lt"/>
              </a:rPr>
              <a:t>Igény módosítás</a:t>
            </a:r>
            <a:endParaRPr lang="hu-HU" sz="2400" b="1">
              <a:latin typeface="+mj-lt"/>
            </a:endParaRPr>
          </a:p>
        </p:txBody>
      </p:sp>
      <p:sp>
        <p:nvSpPr>
          <p:cNvPr id="43" name="Line 27"/>
          <p:cNvSpPr>
            <a:spLocks noChangeShapeType="1"/>
          </p:cNvSpPr>
          <p:nvPr/>
        </p:nvSpPr>
        <p:spPr bwMode="auto">
          <a:xfrm flipH="1">
            <a:off x="3132138" y="3429000"/>
            <a:ext cx="647700" cy="0"/>
          </a:xfrm>
          <a:prstGeom prst="line">
            <a:avLst/>
          </a:prstGeom>
          <a:noFill/>
          <a:ln w="76200" cmpd="sng">
            <a:solidFill>
              <a:schemeClr val="accent1">
                <a:lumMod val="50000"/>
              </a:schemeClr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hu-HU"/>
          </a:p>
        </p:txBody>
      </p:sp>
      <p:sp>
        <p:nvSpPr>
          <p:cNvPr id="44" name="Line 28"/>
          <p:cNvSpPr>
            <a:spLocks noChangeShapeType="1"/>
          </p:cNvSpPr>
          <p:nvPr/>
        </p:nvSpPr>
        <p:spPr bwMode="auto">
          <a:xfrm flipH="1">
            <a:off x="5292725" y="3429000"/>
            <a:ext cx="1655763" cy="0"/>
          </a:xfrm>
          <a:prstGeom prst="line">
            <a:avLst/>
          </a:prstGeom>
          <a:noFill/>
          <a:ln w="76200" cmpd="sng">
            <a:solidFill>
              <a:schemeClr val="accent1">
                <a:lumMod val="50000"/>
              </a:schemeClr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hu-HU"/>
          </a:p>
        </p:txBody>
      </p:sp>
      <p:sp>
        <p:nvSpPr>
          <p:cNvPr id="45" name="Line 31"/>
          <p:cNvSpPr>
            <a:spLocks noChangeShapeType="1"/>
          </p:cNvSpPr>
          <p:nvPr/>
        </p:nvSpPr>
        <p:spPr bwMode="auto">
          <a:xfrm flipV="1">
            <a:off x="6948488" y="2565400"/>
            <a:ext cx="0" cy="863600"/>
          </a:xfrm>
          <a:prstGeom prst="line">
            <a:avLst/>
          </a:prstGeom>
          <a:noFill/>
          <a:ln w="76200" cmpd="sng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/>
          <a:lstStyle/>
          <a:p>
            <a:endParaRPr lang="hu-H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70" decel="100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" dur="770" decel="100000"/>
                                        <p:tgtEl>
                                          <p:spTgt spid="35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9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10" dur="77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11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2" dur="77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13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70" decel="100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770" decel="100000"/>
                                        <p:tgtEl>
                                          <p:spTgt spid="36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20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21" dur="77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22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23" dur="77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24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5" presetID="5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70" decel="100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8" dur="770" decel="100000"/>
                                        <p:tgtEl>
                                          <p:spTgt spid="38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29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30" dur="77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31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32" dur="77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33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770" decel="100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9" dur="770" decel="100000"/>
                                        <p:tgtEl>
                                          <p:spTgt spid="37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40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41" dur="77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42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43" dur="77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44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45" presetID="5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70" decel="100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8" dur="770" decel="100000"/>
                                        <p:tgtEl>
                                          <p:spTgt spid="39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49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50" dur="77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51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52" dur="77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53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5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770" decel="100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9" dur="770" decel="100000"/>
                                        <p:tgtEl>
                                          <p:spTgt spid="22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60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61" dur="77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62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63" dur="77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64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65" presetID="5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770" decel="100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8" dur="770" decel="100000"/>
                                        <p:tgtEl>
                                          <p:spTgt spid="24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69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70" dur="77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71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72" dur="77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73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74" presetID="5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770" decel="100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7" dur="770" decel="100000"/>
                                        <p:tgtEl>
                                          <p:spTgt spid="25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78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79" dur="77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80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81" dur="77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82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83" presetID="5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770" decel="100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6" dur="770" decel="100000"/>
                                        <p:tgtEl>
                                          <p:spTgt spid="26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87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88" dur="77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89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90" dur="77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91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92" presetID="5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770" decel="100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5" dur="770" decel="100000"/>
                                        <p:tgtEl>
                                          <p:spTgt spid="27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96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97" dur="77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98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99" dur="77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100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01" presetID="5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770" decel="100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4" dur="770" decel="100000"/>
                                        <p:tgtEl>
                                          <p:spTgt spid="28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105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106" dur="77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107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08" dur="77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109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10" presetID="5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770" decel="100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3" dur="770" decel="100000"/>
                                        <p:tgtEl>
                                          <p:spTgt spid="29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114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115" dur="77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116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17" dur="77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118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19" presetID="5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770" decel="100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2" dur="770" decel="100000"/>
                                        <p:tgtEl>
                                          <p:spTgt spid="30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123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124" dur="77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125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26" dur="77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127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28" presetID="5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770" decel="100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1" dur="770" decel="100000"/>
                                        <p:tgtEl>
                                          <p:spTgt spid="31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132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133" dur="77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134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35" dur="77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136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37" presetID="5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770" decel="100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0" dur="770" decel="100000"/>
                                        <p:tgtEl>
                                          <p:spTgt spid="32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141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142" dur="77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143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44" dur="77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145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46" presetID="5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770" decel="100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9" dur="770" decel="100000"/>
                                        <p:tgtEl>
                                          <p:spTgt spid="33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150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151" dur="77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152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53" dur="77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154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55" presetID="5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770" decel="100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8" dur="770" decel="100000"/>
                                        <p:tgtEl>
                                          <p:spTgt spid="34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159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160" dur="77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161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62" dur="77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163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64" presetID="5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770" decel="100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7" dur="770" decel="100000"/>
                                        <p:tgtEl>
                                          <p:spTgt spid="23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168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169" dur="77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170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71" dur="77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172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Felhasználásvezérelt</a:t>
            </a:r>
            <a:r>
              <a:rPr lang="hu-HU" dirty="0"/>
              <a:t> elv</a:t>
            </a:r>
          </a:p>
        </p:txBody>
      </p:sp>
      <p:sp>
        <p:nvSpPr>
          <p:cNvPr id="22" name="Text Box 4"/>
          <p:cNvSpPr txBox="1">
            <a:spLocks noChangeArrowheads="1"/>
          </p:cNvSpPr>
          <p:nvPr/>
        </p:nvSpPr>
        <p:spPr bwMode="auto">
          <a:xfrm>
            <a:off x="5292725" y="1989138"/>
            <a:ext cx="2305050" cy="576262"/>
          </a:xfrm>
          <a:prstGeom prst="rect">
            <a:avLst/>
          </a:prstGeom>
          <a:blipFill>
            <a:blip r:embed="rId2" cstate="print"/>
            <a:tile tx="0" ty="0" sx="100000" sy="100000" flip="none" algn="tl"/>
          </a:blipFill>
          <a:ln w="9525">
            <a:noFill/>
            <a:miter lim="800000"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pPr algn="ctr"/>
            <a:r>
              <a:rPr lang="hu-HU" sz="1600" b="1" dirty="0">
                <a:latin typeface="+mj-lt"/>
              </a:rPr>
              <a:t>Múlt felhasználás elemzése</a:t>
            </a:r>
            <a:endParaRPr lang="hu-HU" sz="2400" b="1" dirty="0">
              <a:latin typeface="+mj-lt"/>
            </a:endParaRPr>
          </a:p>
        </p:txBody>
      </p:sp>
      <p:sp>
        <p:nvSpPr>
          <p:cNvPr id="23" name="Text Box 20"/>
          <p:cNvSpPr txBox="1">
            <a:spLocks noChangeArrowheads="1"/>
          </p:cNvSpPr>
          <p:nvPr/>
        </p:nvSpPr>
        <p:spPr bwMode="auto">
          <a:xfrm>
            <a:off x="2339975" y="1989138"/>
            <a:ext cx="2232025" cy="584200"/>
          </a:xfrm>
          <a:prstGeom prst="rect">
            <a:avLst/>
          </a:prstGeom>
          <a:blipFill>
            <a:blip r:embed="rId2" cstate="print"/>
            <a:tile tx="0" ty="0" sx="100000" sy="100000" flip="none" algn="tl"/>
          </a:blipFill>
          <a:ln w="3175">
            <a:noFill/>
            <a:miter lim="800000"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hu-HU" sz="1600" b="1" dirty="0">
                <a:latin typeface="+mj-lt"/>
              </a:rPr>
              <a:t>Várható kereslet becslése</a:t>
            </a:r>
          </a:p>
        </p:txBody>
      </p:sp>
      <p:sp>
        <p:nvSpPr>
          <p:cNvPr id="25" name="Text Box 6"/>
          <p:cNvSpPr txBox="1">
            <a:spLocks noChangeArrowheads="1"/>
          </p:cNvSpPr>
          <p:nvPr/>
        </p:nvSpPr>
        <p:spPr bwMode="auto">
          <a:xfrm>
            <a:off x="1476375" y="3141663"/>
            <a:ext cx="1655763" cy="574675"/>
          </a:xfrm>
          <a:prstGeom prst="rect">
            <a:avLst/>
          </a:prstGeom>
          <a:blipFill>
            <a:blip r:embed="rId2" cstate="print"/>
            <a:tile tx="0" ty="0" sx="100000" sy="100000" flip="none" algn="tl"/>
          </a:blipFill>
          <a:ln w="9525">
            <a:noFill/>
            <a:miter lim="800000"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pPr algn="ctr">
              <a:spcAft>
                <a:spcPts val="300"/>
              </a:spcAft>
            </a:pPr>
            <a:r>
              <a:rPr lang="hu-HU" sz="1600" b="1" dirty="0">
                <a:latin typeface="+mj-lt"/>
              </a:rPr>
              <a:t>Vállalkozás</a:t>
            </a:r>
          </a:p>
          <a:p>
            <a:pPr algn="ctr">
              <a:spcAft>
                <a:spcPts val="300"/>
              </a:spcAft>
            </a:pPr>
            <a:endParaRPr lang="hu-HU" sz="2400" b="1" dirty="0">
              <a:latin typeface="+mj-lt"/>
            </a:endParaRPr>
          </a:p>
        </p:txBody>
      </p:sp>
      <p:sp>
        <p:nvSpPr>
          <p:cNvPr id="26" name="Text Box 7"/>
          <p:cNvSpPr txBox="1">
            <a:spLocks noChangeArrowheads="1"/>
          </p:cNvSpPr>
          <p:nvPr/>
        </p:nvSpPr>
        <p:spPr bwMode="auto">
          <a:xfrm>
            <a:off x="1187450" y="4005263"/>
            <a:ext cx="1944688" cy="439737"/>
          </a:xfrm>
          <a:prstGeom prst="rect">
            <a:avLst/>
          </a:prstGeom>
          <a:blipFill>
            <a:blip r:embed="rId2" cstate="print"/>
            <a:tile tx="0" ty="0" sx="100000" sy="100000" flip="none" algn="tl"/>
          </a:blipFill>
          <a:ln w="9525">
            <a:noFill/>
            <a:miter lim="800000"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pPr algn="ctr"/>
            <a:r>
              <a:rPr lang="hu-HU" sz="1600" b="1">
                <a:latin typeface="+mj-lt"/>
              </a:rPr>
              <a:t>Feladat</a:t>
            </a:r>
            <a:endParaRPr lang="hu-HU" sz="2400" b="1">
              <a:latin typeface="+mj-lt"/>
            </a:endParaRPr>
          </a:p>
        </p:txBody>
      </p:sp>
      <p:sp>
        <p:nvSpPr>
          <p:cNvPr id="27" name="Line 8"/>
          <p:cNvSpPr>
            <a:spLocks noChangeShapeType="1"/>
          </p:cNvSpPr>
          <p:nvPr/>
        </p:nvSpPr>
        <p:spPr bwMode="auto">
          <a:xfrm>
            <a:off x="2305050" y="3719513"/>
            <a:ext cx="0" cy="338137"/>
          </a:xfrm>
          <a:prstGeom prst="line">
            <a:avLst/>
          </a:prstGeom>
          <a:noFill/>
          <a:ln w="76200" cmpd="sng">
            <a:solidFill>
              <a:schemeClr val="accent1">
                <a:lumMod val="50000"/>
              </a:schemeClr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hu-HU">
              <a:latin typeface="+mj-lt"/>
            </a:endParaRPr>
          </a:p>
        </p:txBody>
      </p:sp>
      <p:sp>
        <p:nvSpPr>
          <p:cNvPr id="28" name="Text Box 9"/>
          <p:cNvSpPr txBox="1">
            <a:spLocks noChangeArrowheads="1"/>
          </p:cNvSpPr>
          <p:nvPr/>
        </p:nvSpPr>
        <p:spPr bwMode="auto">
          <a:xfrm>
            <a:off x="3184525" y="4470400"/>
            <a:ext cx="1819275" cy="595312"/>
          </a:xfrm>
          <a:prstGeom prst="rect">
            <a:avLst/>
          </a:prstGeom>
          <a:blipFill>
            <a:blip r:embed="rId2" cstate="print"/>
            <a:tile tx="0" ty="0" sx="100000" sy="100000" flip="none" algn="tl"/>
          </a:blipFill>
          <a:ln w="9525">
            <a:noFill/>
            <a:miter lim="800000"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pPr algn="ctr">
              <a:spcAft>
                <a:spcPct val="300000"/>
              </a:spcAft>
            </a:pPr>
            <a:r>
              <a:rPr lang="hu-HU" sz="1600" b="1">
                <a:latin typeface="+mj-lt"/>
              </a:rPr>
              <a:t>Szükséglet meghatározás</a:t>
            </a:r>
            <a:endParaRPr lang="hu-HU" sz="2400" b="1">
              <a:latin typeface="+mj-lt"/>
            </a:endParaRPr>
          </a:p>
        </p:txBody>
      </p:sp>
      <p:sp>
        <p:nvSpPr>
          <p:cNvPr id="29" name="Line 10"/>
          <p:cNvSpPr>
            <a:spLocks noChangeShapeType="1"/>
          </p:cNvSpPr>
          <p:nvPr/>
        </p:nvSpPr>
        <p:spPr bwMode="auto">
          <a:xfrm>
            <a:off x="2555875" y="4508500"/>
            <a:ext cx="0" cy="260350"/>
          </a:xfrm>
          <a:prstGeom prst="line">
            <a:avLst/>
          </a:prstGeom>
          <a:noFill/>
          <a:ln w="76200" cmpd="sng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/>
          <a:lstStyle/>
          <a:p>
            <a:endParaRPr lang="hu-HU">
              <a:latin typeface="+mj-lt"/>
            </a:endParaRPr>
          </a:p>
        </p:txBody>
      </p:sp>
      <p:sp>
        <p:nvSpPr>
          <p:cNvPr id="30" name="Line 11"/>
          <p:cNvSpPr>
            <a:spLocks noChangeShapeType="1"/>
          </p:cNvSpPr>
          <p:nvPr/>
        </p:nvSpPr>
        <p:spPr bwMode="auto">
          <a:xfrm>
            <a:off x="2555875" y="4768850"/>
            <a:ext cx="565150" cy="0"/>
          </a:xfrm>
          <a:prstGeom prst="line">
            <a:avLst/>
          </a:prstGeom>
          <a:noFill/>
          <a:ln w="76200" cmpd="sng">
            <a:solidFill>
              <a:schemeClr val="accent1">
                <a:lumMod val="50000"/>
              </a:schemeClr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hu-HU">
              <a:latin typeface="+mj-lt"/>
            </a:endParaRPr>
          </a:p>
        </p:txBody>
      </p:sp>
      <p:sp>
        <p:nvSpPr>
          <p:cNvPr id="31" name="Text Box 12"/>
          <p:cNvSpPr txBox="1">
            <a:spLocks noChangeArrowheads="1"/>
          </p:cNvSpPr>
          <p:nvPr/>
        </p:nvSpPr>
        <p:spPr bwMode="auto">
          <a:xfrm>
            <a:off x="5888038" y="4652963"/>
            <a:ext cx="1292225" cy="360362"/>
          </a:xfrm>
          <a:prstGeom prst="rect">
            <a:avLst/>
          </a:prstGeom>
          <a:blipFill>
            <a:blip r:embed="rId2" cstate="print"/>
            <a:tile tx="0" ty="0" sx="100000" sy="100000" flip="none" algn="tl"/>
          </a:blipFill>
          <a:ln w="9525">
            <a:noFill/>
            <a:miter lim="800000"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pPr algn="ctr">
              <a:spcAft>
                <a:spcPct val="300000"/>
              </a:spcAft>
            </a:pPr>
            <a:r>
              <a:rPr lang="hu-HU" sz="1600" b="1">
                <a:latin typeface="+mj-lt"/>
              </a:rPr>
              <a:t>Beszerzés</a:t>
            </a:r>
            <a:endParaRPr lang="hu-HU" sz="2400" b="1">
              <a:latin typeface="+mj-lt"/>
            </a:endParaRPr>
          </a:p>
        </p:txBody>
      </p:sp>
      <p:sp>
        <p:nvSpPr>
          <p:cNvPr id="32" name="Text Box 13"/>
          <p:cNvSpPr txBox="1">
            <a:spLocks noChangeArrowheads="1"/>
          </p:cNvSpPr>
          <p:nvPr/>
        </p:nvSpPr>
        <p:spPr bwMode="auto">
          <a:xfrm>
            <a:off x="6443663" y="5516563"/>
            <a:ext cx="1763713" cy="347662"/>
          </a:xfrm>
          <a:prstGeom prst="rect">
            <a:avLst/>
          </a:prstGeom>
          <a:blipFill>
            <a:blip r:embed="rId2" cstate="print"/>
            <a:tile tx="0" ty="0" sx="100000" sy="100000" flip="none" algn="tl"/>
          </a:blipFill>
          <a:ln w="9525">
            <a:noFill/>
            <a:miter lim="800000"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pPr algn="ctr">
              <a:spcAft>
                <a:spcPct val="300000"/>
              </a:spcAft>
            </a:pPr>
            <a:r>
              <a:rPr lang="hu-HU" sz="1600" b="1">
                <a:latin typeface="+mj-lt"/>
              </a:rPr>
              <a:t>Raktározás</a:t>
            </a:r>
            <a:endParaRPr lang="hu-HU" sz="2400" b="1">
              <a:latin typeface="+mj-lt"/>
            </a:endParaRPr>
          </a:p>
        </p:txBody>
      </p:sp>
      <p:sp>
        <p:nvSpPr>
          <p:cNvPr id="33" name="Line 14"/>
          <p:cNvSpPr>
            <a:spLocks noChangeShapeType="1"/>
          </p:cNvSpPr>
          <p:nvPr/>
        </p:nvSpPr>
        <p:spPr bwMode="auto">
          <a:xfrm>
            <a:off x="5003800" y="4808538"/>
            <a:ext cx="884238" cy="0"/>
          </a:xfrm>
          <a:prstGeom prst="line">
            <a:avLst/>
          </a:prstGeom>
          <a:noFill/>
          <a:ln w="76200" cmpd="sng">
            <a:solidFill>
              <a:schemeClr val="accent1">
                <a:lumMod val="50000"/>
              </a:schemeClr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hu-HU">
              <a:latin typeface="+mj-lt"/>
            </a:endParaRPr>
          </a:p>
        </p:txBody>
      </p:sp>
      <p:sp>
        <p:nvSpPr>
          <p:cNvPr id="34" name="Line 15"/>
          <p:cNvSpPr>
            <a:spLocks noChangeShapeType="1"/>
          </p:cNvSpPr>
          <p:nvPr/>
        </p:nvSpPr>
        <p:spPr bwMode="auto">
          <a:xfrm>
            <a:off x="6877050" y="5013325"/>
            <a:ext cx="0" cy="515937"/>
          </a:xfrm>
          <a:prstGeom prst="line">
            <a:avLst/>
          </a:prstGeom>
          <a:noFill/>
          <a:ln w="76200" cmpd="sng">
            <a:solidFill>
              <a:schemeClr val="accent1">
                <a:lumMod val="50000"/>
              </a:schemeClr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hu-HU">
              <a:latin typeface="+mj-lt"/>
            </a:endParaRPr>
          </a:p>
        </p:txBody>
      </p:sp>
      <p:sp>
        <p:nvSpPr>
          <p:cNvPr id="35" name="Text Box 16"/>
          <p:cNvSpPr txBox="1">
            <a:spLocks noChangeArrowheads="1"/>
          </p:cNvSpPr>
          <p:nvPr/>
        </p:nvSpPr>
        <p:spPr bwMode="auto">
          <a:xfrm>
            <a:off x="1476375" y="5894388"/>
            <a:ext cx="1182688" cy="328612"/>
          </a:xfrm>
          <a:prstGeom prst="rect">
            <a:avLst/>
          </a:prstGeom>
          <a:blipFill>
            <a:blip r:embed="rId2" cstate="print"/>
            <a:tile tx="0" ty="0" sx="100000" sy="100000" flip="none" algn="tl"/>
          </a:blipFill>
          <a:ln w="9525">
            <a:noFill/>
            <a:miter lim="800000"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pPr algn="ctr"/>
            <a:r>
              <a:rPr lang="hu-HU" sz="1600" b="1">
                <a:latin typeface="+mj-lt"/>
              </a:rPr>
              <a:t>Termelés</a:t>
            </a:r>
            <a:endParaRPr lang="hu-HU" sz="2400" b="1">
              <a:latin typeface="+mj-lt"/>
            </a:endParaRPr>
          </a:p>
        </p:txBody>
      </p:sp>
      <p:sp>
        <p:nvSpPr>
          <p:cNvPr id="36" name="Line 17"/>
          <p:cNvSpPr>
            <a:spLocks noChangeShapeType="1"/>
          </p:cNvSpPr>
          <p:nvPr/>
        </p:nvSpPr>
        <p:spPr bwMode="auto">
          <a:xfrm>
            <a:off x="1949450" y="4492625"/>
            <a:ext cx="0" cy="1401762"/>
          </a:xfrm>
          <a:prstGeom prst="line">
            <a:avLst/>
          </a:prstGeom>
          <a:noFill/>
          <a:ln w="76200" cmpd="sng">
            <a:solidFill>
              <a:schemeClr val="accent1">
                <a:lumMod val="50000"/>
              </a:schemeClr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hu-HU">
              <a:latin typeface="+mj-lt"/>
            </a:endParaRPr>
          </a:p>
        </p:txBody>
      </p:sp>
      <p:sp>
        <p:nvSpPr>
          <p:cNvPr id="37" name="Line 18"/>
          <p:cNvSpPr>
            <a:spLocks noChangeShapeType="1"/>
          </p:cNvSpPr>
          <p:nvPr/>
        </p:nvSpPr>
        <p:spPr bwMode="auto">
          <a:xfrm flipH="1" flipV="1">
            <a:off x="2265363" y="5661025"/>
            <a:ext cx="4251325" cy="73025"/>
          </a:xfrm>
          <a:prstGeom prst="line">
            <a:avLst/>
          </a:prstGeom>
          <a:noFill/>
          <a:ln w="76200" cmpd="sng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/>
          <a:lstStyle/>
          <a:p>
            <a:endParaRPr lang="hu-HU">
              <a:latin typeface="+mj-lt"/>
            </a:endParaRPr>
          </a:p>
        </p:txBody>
      </p:sp>
      <p:sp>
        <p:nvSpPr>
          <p:cNvPr id="38" name="Line 19"/>
          <p:cNvSpPr>
            <a:spLocks noChangeShapeType="1"/>
          </p:cNvSpPr>
          <p:nvPr/>
        </p:nvSpPr>
        <p:spPr bwMode="auto">
          <a:xfrm>
            <a:off x="2244725" y="5653088"/>
            <a:ext cx="0" cy="241300"/>
          </a:xfrm>
          <a:prstGeom prst="line">
            <a:avLst/>
          </a:prstGeom>
          <a:noFill/>
          <a:ln w="76200" cmpd="sng">
            <a:solidFill>
              <a:schemeClr val="accent1">
                <a:lumMod val="50000"/>
              </a:schemeClr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hu-HU">
              <a:latin typeface="+mj-lt"/>
            </a:endParaRPr>
          </a:p>
        </p:txBody>
      </p:sp>
      <p:sp>
        <p:nvSpPr>
          <p:cNvPr id="39" name="Line 23"/>
          <p:cNvSpPr>
            <a:spLocks noChangeShapeType="1"/>
          </p:cNvSpPr>
          <p:nvPr/>
        </p:nvSpPr>
        <p:spPr bwMode="auto">
          <a:xfrm>
            <a:off x="7451725" y="3716338"/>
            <a:ext cx="0" cy="1800225"/>
          </a:xfrm>
          <a:prstGeom prst="line">
            <a:avLst/>
          </a:prstGeom>
          <a:noFill/>
          <a:ln w="76200" cmpd="sng">
            <a:solidFill>
              <a:schemeClr val="accent1">
                <a:lumMod val="50000"/>
              </a:schemeClr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hu-HU">
              <a:latin typeface="+mj-lt"/>
            </a:endParaRPr>
          </a:p>
        </p:txBody>
      </p:sp>
      <p:sp>
        <p:nvSpPr>
          <p:cNvPr id="41" name="Text Box 5"/>
          <p:cNvSpPr txBox="1">
            <a:spLocks noChangeArrowheads="1"/>
          </p:cNvSpPr>
          <p:nvPr/>
        </p:nvSpPr>
        <p:spPr bwMode="auto">
          <a:xfrm>
            <a:off x="5148263" y="3105150"/>
            <a:ext cx="2663825" cy="647700"/>
          </a:xfrm>
          <a:prstGeom prst="rect">
            <a:avLst/>
          </a:prstGeom>
          <a:blipFill>
            <a:blip r:embed="rId2" cstate="print"/>
            <a:tile tx="0" ty="0" sx="100000" sy="100000" flip="none" algn="tl"/>
          </a:blipFill>
          <a:ln w="9525">
            <a:noFill/>
            <a:miter lim="800000"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pPr algn="ctr"/>
            <a:r>
              <a:rPr lang="hu-HU" sz="1600" b="1">
                <a:latin typeface="+mj-lt"/>
              </a:rPr>
              <a:t>Felhasználás vezérelt feltétel beszerzés</a:t>
            </a:r>
            <a:endParaRPr lang="hu-HU" sz="2400" b="1">
              <a:latin typeface="+mj-lt"/>
            </a:endParaRPr>
          </a:p>
        </p:txBody>
      </p:sp>
      <p:sp>
        <p:nvSpPr>
          <p:cNvPr id="42" name="Line 21"/>
          <p:cNvSpPr>
            <a:spLocks noChangeShapeType="1"/>
          </p:cNvSpPr>
          <p:nvPr/>
        </p:nvSpPr>
        <p:spPr bwMode="auto">
          <a:xfrm>
            <a:off x="6516688" y="2565400"/>
            <a:ext cx="0" cy="503238"/>
          </a:xfrm>
          <a:prstGeom prst="line">
            <a:avLst/>
          </a:prstGeom>
          <a:noFill/>
          <a:ln w="76200" cmpd="sng">
            <a:solidFill>
              <a:schemeClr val="accent1">
                <a:lumMod val="50000"/>
              </a:schemeClr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hu-HU">
              <a:latin typeface="+mj-lt"/>
            </a:endParaRPr>
          </a:p>
        </p:txBody>
      </p:sp>
      <p:sp>
        <p:nvSpPr>
          <p:cNvPr id="43" name="Line 24"/>
          <p:cNvSpPr>
            <a:spLocks noChangeShapeType="1"/>
          </p:cNvSpPr>
          <p:nvPr/>
        </p:nvSpPr>
        <p:spPr bwMode="auto">
          <a:xfrm>
            <a:off x="3995738" y="3429000"/>
            <a:ext cx="1223963" cy="0"/>
          </a:xfrm>
          <a:prstGeom prst="line">
            <a:avLst/>
          </a:prstGeom>
          <a:noFill/>
          <a:ln w="76200" cmpd="sng">
            <a:solidFill>
              <a:schemeClr val="accent1">
                <a:lumMod val="50000"/>
              </a:schemeClr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hu-HU">
              <a:latin typeface="+mj-lt"/>
            </a:endParaRPr>
          </a:p>
        </p:txBody>
      </p:sp>
      <p:sp>
        <p:nvSpPr>
          <p:cNvPr id="44" name="Line 25"/>
          <p:cNvSpPr>
            <a:spLocks noChangeShapeType="1"/>
          </p:cNvSpPr>
          <p:nvPr/>
        </p:nvSpPr>
        <p:spPr bwMode="auto">
          <a:xfrm flipV="1">
            <a:off x="3995738" y="2565400"/>
            <a:ext cx="0" cy="863600"/>
          </a:xfrm>
          <a:prstGeom prst="line">
            <a:avLst/>
          </a:prstGeom>
          <a:noFill/>
          <a:ln w="76200" cmpd="sng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/>
          <a:lstStyle/>
          <a:p>
            <a:endParaRPr lang="hu-HU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Kiemelt témakörök a félévre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457200" y="1993692"/>
            <a:ext cx="8229600" cy="4132471"/>
          </a:xfrm>
        </p:spPr>
        <p:txBody>
          <a:bodyPr/>
          <a:lstStyle/>
          <a:p>
            <a:pPr>
              <a:spcAft>
                <a:spcPts val="1200"/>
              </a:spcAft>
            </a:pPr>
            <a:r>
              <a:rPr lang="hu-HU" dirty="0"/>
              <a:t>Modern termelésszervezési megoldások</a:t>
            </a:r>
          </a:p>
          <a:p>
            <a:pPr>
              <a:spcAft>
                <a:spcPts val="1200"/>
              </a:spcAft>
            </a:pPr>
            <a:r>
              <a:rPr lang="hu-HU" dirty="0"/>
              <a:t>Teljesítőképesség vizsgálata</a:t>
            </a:r>
          </a:p>
          <a:p>
            <a:pPr>
              <a:spcAft>
                <a:spcPts val="1200"/>
              </a:spcAft>
            </a:pPr>
            <a:r>
              <a:rPr lang="hu-HU" dirty="0"/>
              <a:t>Gyártási átfutási idő</a:t>
            </a:r>
          </a:p>
          <a:p>
            <a:pPr>
              <a:spcAft>
                <a:spcPts val="1200"/>
              </a:spcAft>
            </a:pPr>
            <a:r>
              <a:rPr lang="hu-HU" dirty="0"/>
              <a:t>Termék-kapcsolati modellezés</a:t>
            </a:r>
          </a:p>
          <a:p>
            <a:pPr>
              <a:spcAft>
                <a:spcPts val="1200"/>
              </a:spcAft>
            </a:pPr>
            <a:r>
              <a:rPr lang="hu-HU" dirty="0"/>
              <a:t>Karbantartás-menedzsment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-té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-téma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té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658</TotalTime>
  <Words>242</Words>
  <Application>Microsoft Office PowerPoint</Application>
  <PresentationFormat>Diavetítés a képernyőre (4:3 oldalarány)</PresentationFormat>
  <Paragraphs>103</Paragraphs>
  <Slides>12</Slides>
  <Notes>0</Notes>
  <HiddenSlides>0</HiddenSlides>
  <MMClips>0</MMClips>
  <ScaleCrop>false</ScaleCrop>
  <HeadingPairs>
    <vt:vector size="8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Beágyazott OLE kiszolgálók</vt:lpstr>
      </vt:variant>
      <vt:variant>
        <vt:i4>1</vt:i4>
      </vt:variant>
      <vt:variant>
        <vt:lpstr>Diacímek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Wingdings</vt:lpstr>
      <vt:lpstr>Office-téma</vt:lpstr>
      <vt:lpstr>Equation</vt:lpstr>
      <vt:lpstr>PowerPoint-bemutató</vt:lpstr>
      <vt:lpstr>Termelés tömegszerűsége</vt:lpstr>
      <vt:lpstr>Termelés tömegszerűsége</vt:lpstr>
      <vt:lpstr>Termelés tömegszerűsége</vt:lpstr>
      <vt:lpstr>Termelés tömegszerűsége</vt:lpstr>
      <vt:lpstr>Gyártási típusok jellemzői</vt:lpstr>
      <vt:lpstr>Gyártási típusok jellemzői</vt:lpstr>
      <vt:lpstr>Termelőüzem elrendezése</vt:lpstr>
      <vt:lpstr>Feladatvezérelt elv</vt:lpstr>
      <vt:lpstr>Feltételvezérelt elv</vt:lpstr>
      <vt:lpstr>Felhasználásvezérelt elv</vt:lpstr>
      <vt:lpstr>Kiemelt témakörök a félévre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bemutató</dc:title>
  <dc:creator>Dr. Berényi László</dc:creator>
  <cp:lastModifiedBy>Lászlo Dr. Berényi</cp:lastModifiedBy>
  <cp:revision>81</cp:revision>
  <dcterms:created xsi:type="dcterms:W3CDTF">2015-07-30T19:30:28Z</dcterms:created>
  <dcterms:modified xsi:type="dcterms:W3CDTF">2021-04-25T19:20:55Z</dcterms:modified>
</cp:coreProperties>
</file>