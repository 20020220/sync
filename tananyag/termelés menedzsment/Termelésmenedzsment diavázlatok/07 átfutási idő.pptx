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9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</p:sldIdLst>
  <p:sldSz cx="9144000" cy="6858000" type="screen4x3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5" autoAdjust="0"/>
    <p:restoredTop sz="94249" autoAdjust="0"/>
  </p:normalViewPr>
  <p:slideViewPr>
    <p:cSldViewPr snapToGrid="0">
      <p:cViewPr varScale="1">
        <p:scale>
          <a:sx n="58" d="100"/>
          <a:sy n="58" d="100"/>
        </p:scale>
        <p:origin x="101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60AF14-04B3-4F12-BDAB-056B885BFB88}" type="datetimeFigureOut">
              <a:rPr lang="hu-HU" smtClean="0"/>
              <a:t>2021. 04. 25.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DB1FE6-2C46-4E21-8F97-2C7463EAA1E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5759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Alcím mintájának szerkesztése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5915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2114" y="365127"/>
            <a:ext cx="7383236" cy="766988"/>
          </a:xfrm>
        </p:spPr>
        <p:txBody>
          <a:bodyPr>
            <a:normAutofit/>
          </a:bodyPr>
          <a:lstStyle>
            <a:lvl1pPr>
              <a:defRPr sz="2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 dirty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Clr>
                <a:srgbClr val="899FB2"/>
              </a:buClr>
              <a:buFont typeface="Wingdings" panose="05000000000000000000" pitchFamily="2" charset="2"/>
              <a:buChar char="§"/>
              <a:defRPr/>
            </a:lvl1pPr>
            <a:lvl2pPr marL="685800" indent="-228600">
              <a:buClr>
                <a:srgbClr val="899FB2"/>
              </a:buClr>
              <a:buFont typeface="Wingdings" panose="05000000000000000000" pitchFamily="2" charset="2"/>
              <a:buChar char="§"/>
              <a:defRPr/>
            </a:lvl2pPr>
            <a:lvl3pPr marL="1143000" indent="-228600">
              <a:buClr>
                <a:srgbClr val="899FB2"/>
              </a:buClr>
              <a:buFont typeface="Wingdings" panose="05000000000000000000" pitchFamily="2" charset="2"/>
              <a:buChar char="§"/>
              <a:defRPr/>
            </a:lvl3pPr>
            <a:lvl4pPr marL="1600200" indent="-228600">
              <a:buClr>
                <a:srgbClr val="899FB2"/>
              </a:buClr>
              <a:buFont typeface="Wingdings" panose="05000000000000000000" pitchFamily="2" charset="2"/>
              <a:buChar char="§"/>
              <a:defRPr/>
            </a:lvl4pPr>
            <a:lvl5pPr marL="2057400" indent="-228600">
              <a:buClr>
                <a:srgbClr val="899FB2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8179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18484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2021. 04. 25.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17486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2021. 04. 25.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90881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2021. 04. 25.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21332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2021. 04. 25.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78807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2021. 04. 25.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78210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2021. 04. 25.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26435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66111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64534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8E6249-B6F5-480E-9F9C-1860EA85840D}" type="datetimeFigureOut">
              <a:rPr lang="hu-HU" smtClean="0"/>
              <a:t>2021. 04. 25.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  <p:sp>
        <p:nvSpPr>
          <p:cNvPr id="10" name="Rectangle 6"/>
          <p:cNvSpPr/>
          <p:nvPr userDrawn="1"/>
        </p:nvSpPr>
        <p:spPr>
          <a:xfrm>
            <a:off x="0" y="-1"/>
            <a:ext cx="9144000" cy="1422000"/>
          </a:xfrm>
          <a:prstGeom prst="rect">
            <a:avLst/>
          </a:prstGeom>
          <a:solidFill>
            <a:srgbClr val="133F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2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1395168"/>
            <a:ext cx="9144000" cy="57150"/>
          </a:xfrm>
          <a:prstGeom prst="rect">
            <a:avLst/>
          </a:prstGeom>
        </p:spPr>
      </p:pic>
      <p:pic>
        <p:nvPicPr>
          <p:cNvPr id="7" name="Kép 6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351258" y="426153"/>
            <a:ext cx="554784" cy="524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11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/>
        </p:nvSpPr>
        <p:spPr>
          <a:xfrm>
            <a:off x="0" y="0"/>
            <a:ext cx="9144000" cy="4561344"/>
          </a:xfrm>
          <a:prstGeom prst="rect">
            <a:avLst/>
          </a:prstGeom>
          <a:solidFill>
            <a:srgbClr val="133F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61344"/>
            <a:ext cx="9144000" cy="57150"/>
          </a:xfrm>
          <a:prstGeom prst="rect">
            <a:avLst/>
          </a:prstGeom>
        </p:spPr>
      </p:pic>
      <p:pic>
        <p:nvPicPr>
          <p:cNvPr id="6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255" y="541288"/>
            <a:ext cx="3553211" cy="931285"/>
          </a:xfrm>
          <a:prstGeom prst="rect">
            <a:avLst/>
          </a:prstGeom>
        </p:spPr>
      </p:pic>
      <p:sp>
        <p:nvSpPr>
          <p:cNvPr id="2" name="Szövegdoboz 1"/>
          <p:cNvSpPr txBox="1"/>
          <p:nvPr/>
        </p:nvSpPr>
        <p:spPr>
          <a:xfrm>
            <a:off x="2218038" y="5102632"/>
            <a:ext cx="47079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400" b="1" dirty="0"/>
              <a:t>Dr. Berényi László</a:t>
            </a:r>
          </a:p>
          <a:p>
            <a:pPr algn="ctr"/>
            <a:endParaRPr lang="hu-HU" sz="2400" dirty="0"/>
          </a:p>
          <a:p>
            <a:pPr algn="ctr"/>
            <a:r>
              <a:rPr lang="hu-HU" sz="2400" dirty="0"/>
              <a:t>Vezetéstudományi Intézet</a:t>
            </a:r>
          </a:p>
        </p:txBody>
      </p:sp>
      <p:sp>
        <p:nvSpPr>
          <p:cNvPr id="7" name="Cím 1"/>
          <p:cNvSpPr txBox="1">
            <a:spLocks/>
          </p:cNvSpPr>
          <p:nvPr/>
        </p:nvSpPr>
        <p:spPr>
          <a:xfrm>
            <a:off x="1073499" y="3168793"/>
            <a:ext cx="7383236" cy="76698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sz="4400" b="1" dirty="0">
                <a:solidFill>
                  <a:schemeClr val="bg1"/>
                </a:solidFill>
              </a:rPr>
              <a:t>Termelésmenedzsment alapjai</a:t>
            </a:r>
          </a:p>
          <a:p>
            <a:endParaRPr lang="hu-HU" sz="3600" dirty="0">
              <a:solidFill>
                <a:schemeClr val="bg1"/>
              </a:solidFill>
            </a:endParaRPr>
          </a:p>
          <a:p>
            <a:r>
              <a:rPr lang="hu-HU" sz="3600" dirty="0">
                <a:solidFill>
                  <a:schemeClr val="bg1"/>
                </a:solidFill>
              </a:rPr>
              <a:t>Átfutási idő</a:t>
            </a:r>
          </a:p>
        </p:txBody>
      </p:sp>
    </p:spTree>
    <p:extLst>
      <p:ext uri="{BB962C8B-B14F-4D97-AF65-F5344CB8AC3E}">
        <p14:creationId xmlns:p14="http://schemas.microsoft.com/office/powerpoint/2010/main" val="2075884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Átfutási idő elemei</a:t>
            </a: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755650" y="2205038"/>
            <a:ext cx="1584325" cy="1444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u-HU">
              <a:latin typeface="+mj-lt"/>
            </a:endParaRPr>
          </a:p>
        </p:txBody>
      </p:sp>
      <p:sp>
        <p:nvSpPr>
          <p:cNvPr id="5" name="Rectangle 7"/>
          <p:cNvSpPr>
            <a:spLocks noChangeArrowheads="1"/>
          </p:cNvSpPr>
          <p:nvPr/>
        </p:nvSpPr>
        <p:spPr bwMode="auto">
          <a:xfrm flipV="1">
            <a:off x="2339975" y="2420938"/>
            <a:ext cx="2232025" cy="1444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u-HU">
              <a:latin typeface="+mj-lt"/>
            </a:endParaRPr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4572000" y="2852738"/>
            <a:ext cx="2592388" cy="1444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u-HU">
              <a:latin typeface="+mj-lt"/>
            </a:endParaRPr>
          </a:p>
        </p:txBody>
      </p:sp>
      <p:sp>
        <p:nvSpPr>
          <p:cNvPr id="7" name="Rectangle 9"/>
          <p:cNvSpPr>
            <a:spLocks noChangeArrowheads="1"/>
          </p:cNvSpPr>
          <p:nvPr/>
        </p:nvSpPr>
        <p:spPr bwMode="auto">
          <a:xfrm>
            <a:off x="7164388" y="3284538"/>
            <a:ext cx="1223962" cy="1444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hu-HU">
              <a:latin typeface="+mj-lt"/>
            </a:endParaRPr>
          </a:p>
        </p:txBody>
      </p:sp>
      <p:sp>
        <p:nvSpPr>
          <p:cNvPr id="8" name="Line 10"/>
          <p:cNvSpPr>
            <a:spLocks noChangeShapeType="1"/>
          </p:cNvSpPr>
          <p:nvPr/>
        </p:nvSpPr>
        <p:spPr bwMode="auto">
          <a:xfrm>
            <a:off x="2339975" y="1989138"/>
            <a:ext cx="0" cy="1079500"/>
          </a:xfrm>
          <a:prstGeom prst="line">
            <a:avLst/>
          </a:prstGeom>
          <a:noFill/>
          <a:ln w="9525">
            <a:solidFill>
              <a:schemeClr val="bg2">
                <a:lumMod val="10000"/>
              </a:schemeClr>
            </a:solidFill>
            <a:round/>
            <a:headEnd/>
            <a:tailEnd/>
          </a:ln>
          <a:effectLst/>
        </p:spPr>
        <p:txBody>
          <a:bodyPr/>
          <a:lstStyle/>
          <a:p>
            <a:pPr algn="ctr"/>
            <a:endParaRPr lang="hu-HU">
              <a:latin typeface="+mj-lt"/>
            </a:endParaRP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1659618" y="3108325"/>
            <a:ext cx="158432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hu-HU" sz="2000" b="1">
                <a:latin typeface="+mj-lt"/>
              </a:rPr>
              <a:t>Szerződés kötés</a:t>
            </a:r>
          </a:p>
        </p:txBody>
      </p:sp>
      <p:sp>
        <p:nvSpPr>
          <p:cNvPr id="10" name="Line 12"/>
          <p:cNvSpPr>
            <a:spLocks noChangeShapeType="1"/>
          </p:cNvSpPr>
          <p:nvPr/>
        </p:nvSpPr>
        <p:spPr bwMode="auto">
          <a:xfrm>
            <a:off x="4572000" y="2133600"/>
            <a:ext cx="0" cy="1295400"/>
          </a:xfrm>
          <a:prstGeom prst="line">
            <a:avLst/>
          </a:prstGeom>
          <a:noFill/>
          <a:ln w="9525">
            <a:solidFill>
              <a:schemeClr val="bg2">
                <a:lumMod val="10000"/>
              </a:schemeClr>
            </a:solidFill>
            <a:round/>
            <a:headEnd/>
            <a:tailEnd/>
          </a:ln>
          <a:effectLst/>
        </p:spPr>
        <p:txBody>
          <a:bodyPr/>
          <a:lstStyle/>
          <a:p>
            <a:pPr algn="ctr"/>
            <a:endParaRPr lang="hu-HU">
              <a:latin typeface="+mj-lt"/>
            </a:endParaRPr>
          </a:p>
        </p:txBody>
      </p:sp>
      <p:sp>
        <p:nvSpPr>
          <p:cNvPr id="11" name="Text Box 13"/>
          <p:cNvSpPr txBox="1">
            <a:spLocks noChangeArrowheads="1"/>
          </p:cNvSpPr>
          <p:nvPr/>
        </p:nvSpPr>
        <p:spPr bwMode="auto">
          <a:xfrm>
            <a:off x="3814763" y="3429000"/>
            <a:ext cx="1512887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hu-HU" sz="2000" b="1">
                <a:latin typeface="+mj-lt"/>
              </a:rPr>
              <a:t>Gyártás kezdete</a:t>
            </a:r>
          </a:p>
        </p:txBody>
      </p:sp>
      <p:sp>
        <p:nvSpPr>
          <p:cNvPr id="12" name="Line 14"/>
          <p:cNvSpPr>
            <a:spLocks noChangeShapeType="1"/>
          </p:cNvSpPr>
          <p:nvPr/>
        </p:nvSpPr>
        <p:spPr bwMode="auto">
          <a:xfrm>
            <a:off x="7164388" y="2636838"/>
            <a:ext cx="0" cy="1152525"/>
          </a:xfrm>
          <a:prstGeom prst="line">
            <a:avLst/>
          </a:prstGeom>
          <a:noFill/>
          <a:ln w="9525">
            <a:solidFill>
              <a:schemeClr val="bg2">
                <a:lumMod val="10000"/>
              </a:schemeClr>
            </a:solidFill>
            <a:round/>
            <a:headEnd/>
            <a:tailEnd/>
          </a:ln>
          <a:effectLst/>
        </p:spPr>
        <p:txBody>
          <a:bodyPr/>
          <a:lstStyle/>
          <a:p>
            <a:pPr algn="ctr"/>
            <a:endParaRPr lang="hu-HU">
              <a:latin typeface="+mj-lt"/>
            </a:endParaRPr>
          </a:p>
        </p:txBody>
      </p:sp>
      <p:sp>
        <p:nvSpPr>
          <p:cNvPr id="13" name="Text Box 15"/>
          <p:cNvSpPr txBox="1">
            <a:spLocks noChangeArrowheads="1"/>
          </p:cNvSpPr>
          <p:nvPr/>
        </p:nvSpPr>
        <p:spPr bwMode="auto">
          <a:xfrm>
            <a:off x="6516688" y="3789363"/>
            <a:ext cx="136842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hu-HU" sz="2000" b="1">
                <a:latin typeface="+mj-lt"/>
              </a:rPr>
              <a:t>Gyártás vége</a:t>
            </a:r>
          </a:p>
        </p:txBody>
      </p:sp>
      <p:sp>
        <p:nvSpPr>
          <p:cNvPr id="14" name="Text Box 16"/>
          <p:cNvSpPr txBox="1">
            <a:spLocks noChangeArrowheads="1"/>
          </p:cNvSpPr>
          <p:nvPr/>
        </p:nvSpPr>
        <p:spPr bwMode="auto">
          <a:xfrm>
            <a:off x="755650" y="1773238"/>
            <a:ext cx="20510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hu-HU" sz="2000" b="1" dirty="0">
                <a:latin typeface="+mj-lt"/>
              </a:rPr>
              <a:t>Vállalkozás</a:t>
            </a:r>
          </a:p>
        </p:txBody>
      </p:sp>
      <p:sp>
        <p:nvSpPr>
          <p:cNvPr id="15" name="Text Box 17"/>
          <p:cNvSpPr txBox="1">
            <a:spLocks noChangeArrowheads="1"/>
          </p:cNvSpPr>
          <p:nvPr/>
        </p:nvSpPr>
        <p:spPr bwMode="auto">
          <a:xfrm>
            <a:off x="2268538" y="1773238"/>
            <a:ext cx="28797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hu-HU" b="1" dirty="0">
                <a:latin typeface="+mj-lt"/>
              </a:rPr>
              <a:t>Műszaki előkészítés</a:t>
            </a:r>
          </a:p>
        </p:txBody>
      </p:sp>
      <p:sp>
        <p:nvSpPr>
          <p:cNvPr id="16" name="Text Box 18"/>
          <p:cNvSpPr txBox="1">
            <a:spLocks noChangeArrowheads="1"/>
          </p:cNvSpPr>
          <p:nvPr/>
        </p:nvSpPr>
        <p:spPr bwMode="auto">
          <a:xfrm>
            <a:off x="4859338" y="2266950"/>
            <a:ext cx="21605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hu-HU" b="1">
                <a:latin typeface="+mj-lt"/>
              </a:rPr>
              <a:t>Gyártás</a:t>
            </a:r>
          </a:p>
        </p:txBody>
      </p:sp>
      <p:sp>
        <p:nvSpPr>
          <p:cNvPr id="17" name="Text Box 19"/>
          <p:cNvSpPr txBox="1">
            <a:spLocks noChangeArrowheads="1"/>
          </p:cNvSpPr>
          <p:nvPr/>
        </p:nvSpPr>
        <p:spPr bwMode="auto">
          <a:xfrm>
            <a:off x="7380288" y="2636838"/>
            <a:ext cx="176371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hu-HU" b="1">
                <a:latin typeface="+mj-lt"/>
              </a:rPr>
              <a:t>Értékesítés</a:t>
            </a:r>
          </a:p>
        </p:txBody>
      </p:sp>
      <p:sp>
        <p:nvSpPr>
          <p:cNvPr id="18" name="Line 20"/>
          <p:cNvSpPr>
            <a:spLocks noChangeShapeType="1"/>
          </p:cNvSpPr>
          <p:nvPr/>
        </p:nvSpPr>
        <p:spPr bwMode="auto">
          <a:xfrm>
            <a:off x="2339975" y="4005263"/>
            <a:ext cx="0" cy="2303462"/>
          </a:xfrm>
          <a:prstGeom prst="line">
            <a:avLst/>
          </a:prstGeom>
          <a:noFill/>
          <a:ln w="9525">
            <a:solidFill>
              <a:schemeClr val="bg2">
                <a:lumMod val="10000"/>
              </a:schemeClr>
            </a:solidFill>
            <a:round/>
            <a:headEnd/>
            <a:tailEnd/>
          </a:ln>
          <a:effectLst/>
        </p:spPr>
        <p:txBody>
          <a:bodyPr/>
          <a:lstStyle/>
          <a:p>
            <a:pPr algn="ctr"/>
            <a:endParaRPr lang="hu-HU">
              <a:latin typeface="+mj-lt"/>
            </a:endParaRPr>
          </a:p>
        </p:txBody>
      </p:sp>
      <p:sp>
        <p:nvSpPr>
          <p:cNvPr id="19" name="Line 21"/>
          <p:cNvSpPr>
            <a:spLocks noChangeShapeType="1"/>
          </p:cNvSpPr>
          <p:nvPr/>
        </p:nvSpPr>
        <p:spPr bwMode="auto">
          <a:xfrm>
            <a:off x="4572000" y="4292600"/>
            <a:ext cx="0" cy="792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/>
            <a:endParaRPr lang="hu-HU">
              <a:latin typeface="+mj-lt"/>
            </a:endParaRPr>
          </a:p>
        </p:txBody>
      </p:sp>
      <p:sp>
        <p:nvSpPr>
          <p:cNvPr id="20" name="Line 22"/>
          <p:cNvSpPr>
            <a:spLocks noChangeShapeType="1"/>
          </p:cNvSpPr>
          <p:nvPr/>
        </p:nvSpPr>
        <p:spPr bwMode="auto">
          <a:xfrm>
            <a:off x="7164388" y="4724400"/>
            <a:ext cx="0" cy="10096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/>
            <a:endParaRPr lang="hu-HU">
              <a:latin typeface="+mj-lt"/>
            </a:endParaRPr>
          </a:p>
        </p:txBody>
      </p:sp>
      <p:sp>
        <p:nvSpPr>
          <p:cNvPr id="21" name="Line 23"/>
          <p:cNvSpPr>
            <a:spLocks noChangeShapeType="1"/>
          </p:cNvSpPr>
          <p:nvPr/>
        </p:nvSpPr>
        <p:spPr bwMode="auto">
          <a:xfrm>
            <a:off x="4572000" y="5013325"/>
            <a:ext cx="2592388" cy="0"/>
          </a:xfrm>
          <a:prstGeom prst="line">
            <a:avLst/>
          </a:prstGeom>
          <a:noFill/>
          <a:ln w="9525">
            <a:solidFill>
              <a:schemeClr val="bg2">
                <a:lumMod val="10000"/>
              </a:schemeClr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pPr algn="ctr"/>
            <a:endParaRPr lang="hu-HU">
              <a:latin typeface="+mj-lt"/>
            </a:endParaRPr>
          </a:p>
        </p:txBody>
      </p:sp>
      <p:sp>
        <p:nvSpPr>
          <p:cNvPr id="22" name="Line 24"/>
          <p:cNvSpPr>
            <a:spLocks noChangeShapeType="1"/>
          </p:cNvSpPr>
          <p:nvPr/>
        </p:nvSpPr>
        <p:spPr bwMode="auto">
          <a:xfrm>
            <a:off x="8388349" y="3068638"/>
            <a:ext cx="26307" cy="3212419"/>
          </a:xfrm>
          <a:prstGeom prst="line">
            <a:avLst/>
          </a:prstGeom>
          <a:noFill/>
          <a:ln w="9525">
            <a:solidFill>
              <a:schemeClr val="bg2">
                <a:lumMod val="10000"/>
              </a:schemeClr>
            </a:solidFill>
            <a:round/>
            <a:headEnd/>
            <a:tailEnd/>
          </a:ln>
          <a:effectLst/>
        </p:spPr>
        <p:txBody>
          <a:bodyPr/>
          <a:lstStyle/>
          <a:p>
            <a:pPr algn="ctr"/>
            <a:endParaRPr lang="hu-HU">
              <a:latin typeface="+mj-lt"/>
            </a:endParaRPr>
          </a:p>
        </p:txBody>
      </p:sp>
      <p:sp>
        <p:nvSpPr>
          <p:cNvPr id="23" name="Line 25"/>
          <p:cNvSpPr>
            <a:spLocks noChangeShapeType="1"/>
          </p:cNvSpPr>
          <p:nvPr/>
        </p:nvSpPr>
        <p:spPr bwMode="auto">
          <a:xfrm>
            <a:off x="2339975" y="5589587"/>
            <a:ext cx="4811939" cy="38326"/>
          </a:xfrm>
          <a:prstGeom prst="line">
            <a:avLst/>
          </a:prstGeom>
          <a:noFill/>
          <a:ln w="9525">
            <a:solidFill>
              <a:schemeClr val="bg2">
                <a:lumMod val="10000"/>
              </a:schemeClr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pPr algn="ctr"/>
            <a:endParaRPr lang="hu-HU">
              <a:latin typeface="+mj-lt"/>
            </a:endParaRPr>
          </a:p>
        </p:txBody>
      </p:sp>
      <p:sp>
        <p:nvSpPr>
          <p:cNvPr id="24" name="Line 26"/>
          <p:cNvSpPr>
            <a:spLocks noChangeShapeType="1"/>
          </p:cNvSpPr>
          <p:nvPr/>
        </p:nvSpPr>
        <p:spPr bwMode="auto">
          <a:xfrm>
            <a:off x="2339975" y="6237288"/>
            <a:ext cx="6074682" cy="226"/>
          </a:xfrm>
          <a:prstGeom prst="line">
            <a:avLst/>
          </a:prstGeom>
          <a:noFill/>
          <a:ln w="9525">
            <a:solidFill>
              <a:schemeClr val="bg2">
                <a:lumMod val="10000"/>
              </a:schemeClr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pPr algn="ctr"/>
            <a:endParaRPr lang="hu-HU">
              <a:latin typeface="+mj-lt"/>
            </a:endParaRPr>
          </a:p>
        </p:txBody>
      </p:sp>
      <p:sp>
        <p:nvSpPr>
          <p:cNvPr id="25" name="Text Box 27"/>
          <p:cNvSpPr txBox="1">
            <a:spLocks noChangeArrowheads="1"/>
          </p:cNvSpPr>
          <p:nvPr/>
        </p:nvSpPr>
        <p:spPr bwMode="auto">
          <a:xfrm>
            <a:off x="4572000" y="4508500"/>
            <a:ext cx="2520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hu-HU" b="1">
                <a:latin typeface="+mj-lt"/>
              </a:rPr>
              <a:t>Gyártási átfutási idő</a:t>
            </a:r>
          </a:p>
        </p:txBody>
      </p:sp>
      <p:sp>
        <p:nvSpPr>
          <p:cNvPr id="26" name="Text Box 28"/>
          <p:cNvSpPr txBox="1">
            <a:spLocks noChangeArrowheads="1"/>
          </p:cNvSpPr>
          <p:nvPr/>
        </p:nvSpPr>
        <p:spPr bwMode="auto">
          <a:xfrm>
            <a:off x="3311525" y="5157788"/>
            <a:ext cx="32051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hu-HU" b="1" dirty="0">
                <a:latin typeface="+mj-lt"/>
              </a:rPr>
              <a:t>Termelési átfutási idő</a:t>
            </a:r>
          </a:p>
        </p:txBody>
      </p:sp>
      <p:sp>
        <p:nvSpPr>
          <p:cNvPr id="27" name="Text Box 29"/>
          <p:cNvSpPr txBox="1">
            <a:spLocks noChangeArrowheads="1"/>
          </p:cNvSpPr>
          <p:nvPr/>
        </p:nvSpPr>
        <p:spPr bwMode="auto">
          <a:xfrm>
            <a:off x="3851275" y="5734050"/>
            <a:ext cx="2520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hu-HU" b="1">
                <a:latin typeface="+mj-lt"/>
              </a:rPr>
              <a:t>Teljes átfutási idő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Ráfordítás-növekedés</a:t>
            </a:r>
          </a:p>
        </p:txBody>
      </p:sp>
      <p:sp>
        <p:nvSpPr>
          <p:cNvPr id="4" name="AutoShape 55"/>
          <p:cNvSpPr>
            <a:spLocks noChangeArrowheads="1"/>
          </p:cNvSpPr>
          <p:nvPr/>
        </p:nvSpPr>
        <p:spPr bwMode="auto">
          <a:xfrm>
            <a:off x="5051425" y="5562600"/>
            <a:ext cx="1295400" cy="1295400"/>
          </a:xfrm>
          <a:prstGeom prst="irregularSeal1">
            <a:avLst/>
          </a:prstGeom>
          <a:blipFill>
            <a:blip r:embed="rId2" cstate="print"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hu-HU">
              <a:latin typeface="+mj-lt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 flipV="1">
            <a:off x="1882775" y="1817688"/>
            <a:ext cx="0" cy="3455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hu-HU">
              <a:latin typeface="+mj-lt"/>
            </a:endParaRPr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 flipV="1">
            <a:off x="1882775" y="5273675"/>
            <a:ext cx="4824413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hu-HU">
              <a:latin typeface="+mj-lt"/>
            </a:endParaRPr>
          </a:p>
        </p:txBody>
      </p:sp>
      <p:sp>
        <p:nvSpPr>
          <p:cNvPr id="7" name="Freeform 7"/>
          <p:cNvSpPr>
            <a:spLocks/>
          </p:cNvSpPr>
          <p:nvPr/>
        </p:nvSpPr>
        <p:spPr bwMode="auto">
          <a:xfrm>
            <a:off x="1847850" y="2492375"/>
            <a:ext cx="3744913" cy="2163763"/>
          </a:xfrm>
          <a:custGeom>
            <a:avLst/>
            <a:gdLst/>
            <a:ahLst/>
            <a:cxnLst>
              <a:cxn ang="0">
                <a:pos x="0" y="1363"/>
              </a:cxn>
              <a:cxn ang="0">
                <a:pos x="101" y="1308"/>
              </a:cxn>
              <a:cxn ang="0">
                <a:pos x="238" y="1207"/>
              </a:cxn>
              <a:cxn ang="0">
                <a:pos x="320" y="1161"/>
              </a:cxn>
              <a:cxn ang="0">
                <a:pos x="366" y="1134"/>
              </a:cxn>
              <a:cxn ang="0">
                <a:pos x="476" y="1070"/>
              </a:cxn>
              <a:cxn ang="0">
                <a:pos x="613" y="1024"/>
              </a:cxn>
              <a:cxn ang="0">
                <a:pos x="695" y="997"/>
              </a:cxn>
              <a:cxn ang="0">
                <a:pos x="750" y="979"/>
              </a:cxn>
              <a:cxn ang="0">
                <a:pos x="851" y="924"/>
              </a:cxn>
              <a:cxn ang="0">
                <a:pos x="942" y="814"/>
              </a:cxn>
              <a:cxn ang="0">
                <a:pos x="988" y="768"/>
              </a:cxn>
              <a:cxn ang="0">
                <a:pos x="1088" y="659"/>
              </a:cxn>
              <a:cxn ang="0">
                <a:pos x="1198" y="549"/>
              </a:cxn>
              <a:cxn ang="0">
                <a:pos x="1271" y="457"/>
              </a:cxn>
              <a:cxn ang="0">
                <a:pos x="1299" y="393"/>
              </a:cxn>
              <a:cxn ang="0">
                <a:pos x="1390" y="357"/>
              </a:cxn>
              <a:cxn ang="0">
                <a:pos x="1472" y="293"/>
              </a:cxn>
              <a:cxn ang="0">
                <a:pos x="1527" y="275"/>
              </a:cxn>
              <a:cxn ang="0">
                <a:pos x="1591" y="220"/>
              </a:cxn>
              <a:cxn ang="0">
                <a:pos x="1683" y="92"/>
              </a:cxn>
              <a:cxn ang="0">
                <a:pos x="1747" y="37"/>
              </a:cxn>
              <a:cxn ang="0">
                <a:pos x="2003" y="19"/>
              </a:cxn>
              <a:cxn ang="0">
                <a:pos x="2359" y="0"/>
              </a:cxn>
            </a:cxnLst>
            <a:rect l="0" t="0" r="r" b="b"/>
            <a:pathLst>
              <a:path w="2359" h="1363">
                <a:moveTo>
                  <a:pt x="0" y="1363"/>
                </a:moveTo>
                <a:cubicBezTo>
                  <a:pt x="39" y="1349"/>
                  <a:pt x="63" y="1321"/>
                  <a:pt x="101" y="1308"/>
                </a:cubicBezTo>
                <a:cubicBezTo>
                  <a:pt x="138" y="1269"/>
                  <a:pt x="188" y="1224"/>
                  <a:pt x="238" y="1207"/>
                </a:cubicBezTo>
                <a:cubicBezTo>
                  <a:pt x="267" y="1179"/>
                  <a:pt x="284" y="1175"/>
                  <a:pt x="320" y="1161"/>
                </a:cubicBezTo>
                <a:cubicBezTo>
                  <a:pt x="365" y="1118"/>
                  <a:pt x="310" y="1165"/>
                  <a:pt x="366" y="1134"/>
                </a:cubicBezTo>
                <a:cubicBezTo>
                  <a:pt x="405" y="1112"/>
                  <a:pt x="435" y="1088"/>
                  <a:pt x="476" y="1070"/>
                </a:cubicBezTo>
                <a:cubicBezTo>
                  <a:pt x="519" y="1051"/>
                  <a:pt x="568" y="1039"/>
                  <a:pt x="613" y="1024"/>
                </a:cubicBezTo>
                <a:cubicBezTo>
                  <a:pt x="640" y="1015"/>
                  <a:pt x="668" y="1006"/>
                  <a:pt x="695" y="997"/>
                </a:cubicBezTo>
                <a:cubicBezTo>
                  <a:pt x="713" y="991"/>
                  <a:pt x="750" y="979"/>
                  <a:pt x="750" y="979"/>
                </a:cubicBezTo>
                <a:cubicBezTo>
                  <a:pt x="775" y="953"/>
                  <a:pt x="816" y="935"/>
                  <a:pt x="851" y="924"/>
                </a:cubicBezTo>
                <a:cubicBezTo>
                  <a:pt x="884" y="889"/>
                  <a:pt x="911" y="850"/>
                  <a:pt x="942" y="814"/>
                </a:cubicBezTo>
                <a:cubicBezTo>
                  <a:pt x="956" y="798"/>
                  <a:pt x="988" y="768"/>
                  <a:pt x="988" y="768"/>
                </a:cubicBezTo>
                <a:cubicBezTo>
                  <a:pt x="1005" y="717"/>
                  <a:pt x="1036" y="676"/>
                  <a:pt x="1088" y="659"/>
                </a:cubicBezTo>
                <a:cubicBezTo>
                  <a:pt x="1129" y="618"/>
                  <a:pt x="1140" y="568"/>
                  <a:pt x="1198" y="549"/>
                </a:cubicBezTo>
                <a:cubicBezTo>
                  <a:pt x="1230" y="517"/>
                  <a:pt x="1246" y="504"/>
                  <a:pt x="1271" y="457"/>
                </a:cubicBezTo>
                <a:cubicBezTo>
                  <a:pt x="1282" y="436"/>
                  <a:pt x="1285" y="411"/>
                  <a:pt x="1299" y="393"/>
                </a:cubicBezTo>
                <a:cubicBezTo>
                  <a:pt x="1318" y="369"/>
                  <a:pt x="1363" y="364"/>
                  <a:pt x="1390" y="357"/>
                </a:cubicBezTo>
                <a:cubicBezTo>
                  <a:pt x="1433" y="314"/>
                  <a:pt x="1407" y="336"/>
                  <a:pt x="1472" y="293"/>
                </a:cubicBezTo>
                <a:cubicBezTo>
                  <a:pt x="1488" y="282"/>
                  <a:pt x="1527" y="275"/>
                  <a:pt x="1527" y="275"/>
                </a:cubicBezTo>
                <a:cubicBezTo>
                  <a:pt x="1551" y="251"/>
                  <a:pt x="1557" y="231"/>
                  <a:pt x="1591" y="220"/>
                </a:cubicBezTo>
                <a:cubicBezTo>
                  <a:pt x="1607" y="170"/>
                  <a:pt x="1647" y="128"/>
                  <a:pt x="1683" y="92"/>
                </a:cubicBezTo>
                <a:cubicBezTo>
                  <a:pt x="1708" y="67"/>
                  <a:pt x="1712" y="48"/>
                  <a:pt x="1747" y="37"/>
                </a:cubicBezTo>
                <a:cubicBezTo>
                  <a:pt x="1829" y="64"/>
                  <a:pt x="1921" y="39"/>
                  <a:pt x="2003" y="19"/>
                </a:cubicBezTo>
                <a:cubicBezTo>
                  <a:pt x="2117" y="23"/>
                  <a:pt x="2250" y="54"/>
                  <a:pt x="2359" y="0"/>
                </a:cubicBez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hu-HU">
              <a:latin typeface="+mj-lt"/>
            </a:endParaRPr>
          </a:p>
        </p:txBody>
      </p:sp>
      <p:sp>
        <p:nvSpPr>
          <p:cNvPr id="8" name="AutoShape 8"/>
          <p:cNvSpPr>
            <a:spLocks noChangeArrowheads="1"/>
          </p:cNvSpPr>
          <p:nvPr/>
        </p:nvSpPr>
        <p:spPr bwMode="auto">
          <a:xfrm>
            <a:off x="5410200" y="1412875"/>
            <a:ext cx="431800" cy="981075"/>
          </a:xfrm>
          <a:prstGeom prst="downArrow">
            <a:avLst>
              <a:gd name="adj1" fmla="val 50000"/>
              <a:gd name="adj2" fmla="val 56801"/>
            </a:avLst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hu-HU">
              <a:latin typeface="+mj-lt"/>
            </a:endParaRP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5867400" y="1844675"/>
            <a:ext cx="10795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hu-HU" b="1" i="1">
                <a:solidFill>
                  <a:schemeClr val="folHlink"/>
                </a:solidFill>
                <a:latin typeface="+mj-lt"/>
              </a:rPr>
              <a:t>Bevétel</a:t>
            </a:r>
          </a:p>
        </p:txBody>
      </p:sp>
      <p:sp>
        <p:nvSpPr>
          <p:cNvPr id="10" name="AutoShape 10"/>
          <p:cNvSpPr>
            <a:spLocks noChangeArrowheads="1"/>
          </p:cNvSpPr>
          <p:nvPr/>
        </p:nvSpPr>
        <p:spPr bwMode="auto">
          <a:xfrm>
            <a:off x="2314575" y="5778500"/>
            <a:ext cx="503238" cy="576263"/>
          </a:xfrm>
          <a:prstGeom prst="irregularSeal1">
            <a:avLst/>
          </a:prstGeom>
          <a:blipFill>
            <a:blip r:embed="rId2" cstate="print"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hu-HU">
              <a:latin typeface="+mj-lt"/>
            </a:endParaRPr>
          </a:p>
        </p:txBody>
      </p:sp>
      <p:sp>
        <p:nvSpPr>
          <p:cNvPr id="11" name="AutoShape 11"/>
          <p:cNvSpPr>
            <a:spLocks noChangeArrowheads="1"/>
          </p:cNvSpPr>
          <p:nvPr/>
        </p:nvSpPr>
        <p:spPr bwMode="auto">
          <a:xfrm>
            <a:off x="3609975" y="5634038"/>
            <a:ext cx="792163" cy="863600"/>
          </a:xfrm>
          <a:prstGeom prst="irregularSeal1">
            <a:avLst/>
          </a:prstGeom>
          <a:blipFill>
            <a:blip r:embed="rId2" cstate="print"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hu-HU">
              <a:latin typeface="+mj-lt"/>
            </a:endParaRPr>
          </a:p>
        </p:txBody>
      </p:sp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2314575" y="5922963"/>
            <a:ext cx="6477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hu-HU" sz="1400" b="1" dirty="0">
                <a:solidFill>
                  <a:srgbClr val="FF0000"/>
                </a:solidFill>
                <a:latin typeface="+mj-lt"/>
              </a:rPr>
              <a:t>Jó</a:t>
            </a:r>
          </a:p>
        </p:txBody>
      </p:sp>
      <p:sp>
        <p:nvSpPr>
          <p:cNvPr id="13" name="Rectangle 13"/>
          <p:cNvSpPr>
            <a:spLocks noChangeArrowheads="1"/>
          </p:cNvSpPr>
          <p:nvPr/>
        </p:nvSpPr>
        <p:spPr bwMode="auto">
          <a:xfrm>
            <a:off x="3609975" y="5922963"/>
            <a:ext cx="8016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hu-HU" b="1" dirty="0" err="1">
                <a:solidFill>
                  <a:srgbClr val="FF0000"/>
                </a:solidFill>
                <a:latin typeface="+mj-lt"/>
              </a:rPr>
              <a:t>Jósz</a:t>
            </a:r>
            <a:endParaRPr lang="hu-HU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4" name="Rectangle 14"/>
          <p:cNvSpPr>
            <a:spLocks noChangeArrowheads="1"/>
          </p:cNvSpPr>
          <p:nvPr/>
        </p:nvSpPr>
        <p:spPr bwMode="auto">
          <a:xfrm>
            <a:off x="5122863" y="5994400"/>
            <a:ext cx="13779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hu-HU" sz="2000" b="1">
                <a:solidFill>
                  <a:srgbClr val="FF0000"/>
                </a:solidFill>
                <a:latin typeface="+mj-lt"/>
              </a:rPr>
              <a:t>Jószág</a:t>
            </a:r>
          </a:p>
        </p:txBody>
      </p:sp>
      <p:sp>
        <p:nvSpPr>
          <p:cNvPr id="15" name="Line 15"/>
          <p:cNvSpPr>
            <a:spLocks noChangeShapeType="1"/>
          </p:cNvSpPr>
          <p:nvPr/>
        </p:nvSpPr>
        <p:spPr bwMode="auto">
          <a:xfrm>
            <a:off x="2962275" y="6138863"/>
            <a:ext cx="5762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hu-HU">
              <a:latin typeface="+mj-lt"/>
            </a:endParaRPr>
          </a:p>
        </p:txBody>
      </p:sp>
      <p:sp>
        <p:nvSpPr>
          <p:cNvPr id="16" name="Line 16"/>
          <p:cNvSpPr>
            <a:spLocks noChangeShapeType="1"/>
          </p:cNvSpPr>
          <p:nvPr/>
        </p:nvSpPr>
        <p:spPr bwMode="auto">
          <a:xfrm>
            <a:off x="4546600" y="6138863"/>
            <a:ext cx="43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hu-HU">
              <a:latin typeface="+mj-lt"/>
            </a:endParaRPr>
          </a:p>
        </p:txBody>
      </p:sp>
      <p:grpSp>
        <p:nvGrpSpPr>
          <p:cNvPr id="17" name="Group 17"/>
          <p:cNvGrpSpPr>
            <a:grpSpLocks/>
          </p:cNvGrpSpPr>
          <p:nvPr/>
        </p:nvGrpSpPr>
        <p:grpSpPr bwMode="auto">
          <a:xfrm>
            <a:off x="2422525" y="2825750"/>
            <a:ext cx="3060700" cy="2259013"/>
            <a:chOff x="1927" y="1780"/>
            <a:chExt cx="1928" cy="1423"/>
          </a:xfrm>
        </p:grpSpPr>
        <p:sp>
          <p:nvSpPr>
            <p:cNvPr id="18" name="AutoShape 18"/>
            <p:cNvSpPr>
              <a:spLocks noChangeArrowheads="1"/>
            </p:cNvSpPr>
            <p:nvPr/>
          </p:nvSpPr>
          <p:spPr bwMode="auto">
            <a:xfrm>
              <a:off x="1927" y="2795"/>
              <a:ext cx="45" cy="408"/>
            </a:xfrm>
            <a:prstGeom prst="upArrow">
              <a:avLst>
                <a:gd name="adj1" fmla="val 50000"/>
                <a:gd name="adj2" fmla="val 226667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>
                <a:latin typeface="+mj-lt"/>
              </a:endParaRPr>
            </a:p>
          </p:txBody>
        </p:sp>
        <p:sp>
          <p:nvSpPr>
            <p:cNvPr id="19" name="AutoShape 19"/>
            <p:cNvSpPr>
              <a:spLocks noChangeArrowheads="1"/>
            </p:cNvSpPr>
            <p:nvPr/>
          </p:nvSpPr>
          <p:spPr bwMode="auto">
            <a:xfrm>
              <a:off x="2811" y="2370"/>
              <a:ext cx="136" cy="635"/>
            </a:xfrm>
            <a:prstGeom prst="upArrow">
              <a:avLst>
                <a:gd name="adj1" fmla="val 50000"/>
                <a:gd name="adj2" fmla="val 116728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>
                <a:latin typeface="+mj-lt"/>
              </a:endParaRPr>
            </a:p>
          </p:txBody>
        </p:sp>
        <p:sp>
          <p:nvSpPr>
            <p:cNvPr id="20" name="AutoShape 20"/>
            <p:cNvSpPr>
              <a:spLocks noChangeArrowheads="1"/>
            </p:cNvSpPr>
            <p:nvPr/>
          </p:nvSpPr>
          <p:spPr bwMode="auto">
            <a:xfrm>
              <a:off x="3583" y="1780"/>
              <a:ext cx="226" cy="1043"/>
            </a:xfrm>
            <a:prstGeom prst="upArrow">
              <a:avLst>
                <a:gd name="adj1" fmla="val 50000"/>
                <a:gd name="adj2" fmla="val 115376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>
                <a:latin typeface="+mj-lt"/>
              </a:endParaRPr>
            </a:p>
          </p:txBody>
        </p:sp>
        <p:sp>
          <p:nvSpPr>
            <p:cNvPr id="21" name="Text Box 21"/>
            <p:cNvSpPr txBox="1">
              <a:spLocks noChangeArrowheads="1"/>
            </p:cNvSpPr>
            <p:nvPr/>
          </p:nvSpPr>
          <p:spPr bwMode="auto">
            <a:xfrm>
              <a:off x="2993" y="2914"/>
              <a:ext cx="86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hu-HU" b="1">
                  <a:solidFill>
                    <a:srgbClr val="FF0000"/>
                  </a:solidFill>
                  <a:latin typeface="+mj-lt"/>
                </a:rPr>
                <a:t>Kiadás</a:t>
              </a:r>
            </a:p>
          </p:txBody>
        </p:sp>
      </p:grpSp>
      <p:sp>
        <p:nvSpPr>
          <p:cNvPr id="22" name="Text Box 22"/>
          <p:cNvSpPr txBox="1">
            <a:spLocks noChangeArrowheads="1"/>
          </p:cNvSpPr>
          <p:nvPr/>
        </p:nvSpPr>
        <p:spPr bwMode="auto">
          <a:xfrm>
            <a:off x="1908175" y="1484313"/>
            <a:ext cx="1512888" cy="779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hu-HU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Ráfordított</a:t>
            </a:r>
          </a:p>
          <a:p>
            <a:pPr>
              <a:spcBef>
                <a:spcPct val="50000"/>
              </a:spcBef>
            </a:pPr>
            <a:r>
              <a:rPr lang="hu-HU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költségek</a:t>
            </a:r>
          </a:p>
        </p:txBody>
      </p:sp>
      <p:sp>
        <p:nvSpPr>
          <p:cNvPr id="23" name="Text Box 23"/>
          <p:cNvSpPr txBox="1">
            <a:spLocks noChangeArrowheads="1"/>
          </p:cNvSpPr>
          <p:nvPr/>
        </p:nvSpPr>
        <p:spPr bwMode="auto">
          <a:xfrm>
            <a:off x="1198563" y="2349500"/>
            <a:ext cx="431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hu-HU">
              <a:latin typeface="+mj-lt"/>
            </a:endParaRPr>
          </a:p>
        </p:txBody>
      </p:sp>
      <p:grpSp>
        <p:nvGrpSpPr>
          <p:cNvPr id="24" name="Group 24"/>
          <p:cNvGrpSpPr>
            <a:grpSpLocks/>
          </p:cNvGrpSpPr>
          <p:nvPr/>
        </p:nvGrpSpPr>
        <p:grpSpPr bwMode="auto">
          <a:xfrm>
            <a:off x="1331913" y="2349500"/>
            <a:ext cx="4822825" cy="3390900"/>
            <a:chOff x="1202" y="1480"/>
            <a:chExt cx="3038" cy="2136"/>
          </a:xfrm>
        </p:grpSpPr>
        <p:grpSp>
          <p:nvGrpSpPr>
            <p:cNvPr id="25" name="Group 25"/>
            <p:cNvGrpSpPr>
              <a:grpSpLocks/>
            </p:cNvGrpSpPr>
            <p:nvPr/>
          </p:nvGrpSpPr>
          <p:grpSpPr bwMode="auto">
            <a:xfrm>
              <a:off x="1429" y="1480"/>
              <a:ext cx="2676" cy="1950"/>
              <a:chOff x="1451" y="1463"/>
              <a:chExt cx="2676" cy="1950"/>
            </a:xfrm>
          </p:grpSpPr>
          <p:sp>
            <p:nvSpPr>
              <p:cNvPr id="28" name="Line 26"/>
              <p:cNvSpPr>
                <a:spLocks noChangeShapeType="1"/>
              </p:cNvSpPr>
              <p:nvPr/>
            </p:nvSpPr>
            <p:spPr bwMode="auto">
              <a:xfrm>
                <a:off x="3945" y="1463"/>
                <a:ext cx="0" cy="19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hu-HU">
                  <a:latin typeface="+mj-lt"/>
                </a:endParaRPr>
              </a:p>
            </p:txBody>
          </p:sp>
          <p:sp>
            <p:nvSpPr>
              <p:cNvPr id="29" name="Line 27"/>
              <p:cNvSpPr>
                <a:spLocks noChangeShapeType="1"/>
              </p:cNvSpPr>
              <p:nvPr/>
            </p:nvSpPr>
            <p:spPr bwMode="auto">
              <a:xfrm>
                <a:off x="1451" y="1554"/>
                <a:ext cx="26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hu-HU">
                  <a:latin typeface="+mj-lt"/>
                </a:endParaRPr>
              </a:p>
            </p:txBody>
          </p:sp>
        </p:grpSp>
        <p:sp>
          <p:nvSpPr>
            <p:cNvPr id="26" name="Text Box 28"/>
            <p:cNvSpPr txBox="1">
              <a:spLocks noChangeArrowheads="1"/>
            </p:cNvSpPr>
            <p:nvPr/>
          </p:nvSpPr>
          <p:spPr bwMode="auto">
            <a:xfrm>
              <a:off x="1202" y="1525"/>
              <a:ext cx="227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hu-HU" b="1">
                  <a:latin typeface="+mj-lt"/>
                </a:rPr>
                <a:t>K</a:t>
              </a:r>
            </a:p>
          </p:txBody>
        </p:sp>
        <p:sp>
          <p:nvSpPr>
            <p:cNvPr id="27" name="Text Box 29"/>
            <p:cNvSpPr txBox="1">
              <a:spLocks noChangeArrowheads="1"/>
            </p:cNvSpPr>
            <p:nvPr/>
          </p:nvSpPr>
          <p:spPr bwMode="auto">
            <a:xfrm>
              <a:off x="3696" y="3385"/>
              <a:ext cx="54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hu-HU" b="1">
                  <a:latin typeface="+mj-lt"/>
                </a:rPr>
                <a:t>100 %</a:t>
              </a:r>
            </a:p>
          </p:txBody>
        </p:sp>
      </p:grpSp>
      <p:sp>
        <p:nvSpPr>
          <p:cNvPr id="30" name="Text Box 56"/>
          <p:cNvSpPr txBox="1">
            <a:spLocks noChangeArrowheads="1"/>
          </p:cNvSpPr>
          <p:nvPr/>
        </p:nvSpPr>
        <p:spPr bwMode="auto">
          <a:xfrm>
            <a:off x="6804025" y="4941888"/>
            <a:ext cx="180022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hu-HU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Készültségi fok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Átfutási idő szerkezete</a:t>
            </a:r>
          </a:p>
        </p:txBody>
      </p:sp>
      <p:pic>
        <p:nvPicPr>
          <p:cNvPr id="4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3934" y="1469571"/>
            <a:ext cx="8410393" cy="4982029"/>
          </a:xfrm>
          <a:noFill/>
          <a:ln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Soros műveletkapcsolás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19400" y="2362200"/>
            <a:ext cx="5972175" cy="4052888"/>
          </a:xfrm>
          <a:prstGeom prst="rect">
            <a:avLst/>
          </a:prstGeom>
          <a:noFill/>
        </p:spPr>
      </p:pic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304800" y="1524000"/>
            <a:ext cx="8458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hu-HU" b="1">
                <a:latin typeface="+mj-lt"/>
              </a:rPr>
              <a:t>s </a:t>
            </a:r>
            <a:r>
              <a:rPr lang="hu-HU" b="1">
                <a:latin typeface="+mj-lt"/>
                <a:cs typeface="Times New Roman" pitchFamily="18" charset="0"/>
              </a:rPr>
              <a:t>=</a:t>
            </a:r>
            <a:r>
              <a:rPr lang="hu-HU">
                <a:latin typeface="+mj-lt"/>
                <a:cs typeface="Times New Roman" pitchFamily="18" charset="0"/>
              </a:rPr>
              <a:t>sorozatnagyság</a:t>
            </a:r>
            <a:r>
              <a:rPr lang="hu-HU">
                <a:latin typeface="+mj-lt"/>
              </a:rPr>
              <a:t> = 4	t</a:t>
            </a:r>
            <a:r>
              <a:rPr lang="hu-HU" baseline="-25000">
                <a:latin typeface="+mj-lt"/>
              </a:rPr>
              <a:t>1</a:t>
            </a:r>
            <a:r>
              <a:rPr lang="hu-HU">
                <a:latin typeface="+mj-lt"/>
              </a:rPr>
              <a:t>=2	t</a:t>
            </a:r>
            <a:r>
              <a:rPr lang="hu-HU" baseline="-25000">
                <a:latin typeface="+mj-lt"/>
              </a:rPr>
              <a:t>2</a:t>
            </a:r>
            <a:r>
              <a:rPr lang="hu-HU">
                <a:latin typeface="+mj-lt"/>
              </a:rPr>
              <a:t>=1	t</a:t>
            </a:r>
            <a:r>
              <a:rPr lang="hu-HU" baseline="-25000">
                <a:latin typeface="+mj-lt"/>
              </a:rPr>
              <a:t>3</a:t>
            </a:r>
            <a:r>
              <a:rPr lang="hu-HU">
                <a:latin typeface="+mj-lt"/>
              </a:rPr>
              <a:t>=3	t</a:t>
            </a:r>
            <a:r>
              <a:rPr lang="hu-HU" baseline="-25000">
                <a:latin typeface="+mj-lt"/>
              </a:rPr>
              <a:t>4</a:t>
            </a:r>
            <a:r>
              <a:rPr lang="hu-HU">
                <a:latin typeface="+mj-lt"/>
              </a:rPr>
              <a:t>=1	t</a:t>
            </a:r>
            <a:r>
              <a:rPr lang="hu-HU" baseline="-25000">
                <a:latin typeface="+mj-lt"/>
              </a:rPr>
              <a:t>5</a:t>
            </a:r>
            <a:r>
              <a:rPr lang="hu-HU">
                <a:latin typeface="+mj-lt"/>
              </a:rPr>
              <a:t>=2</a:t>
            </a:r>
          </a:p>
          <a:p>
            <a:r>
              <a:rPr lang="hu-HU">
                <a:latin typeface="+mj-lt"/>
                <a:ea typeface="SimSun" pitchFamily="2" charset="-122"/>
              </a:rPr>
              <a:t>∑</a:t>
            </a:r>
            <a:r>
              <a:rPr lang="hu-HU">
                <a:latin typeface="+mj-lt"/>
              </a:rPr>
              <a:t>t</a:t>
            </a:r>
            <a:r>
              <a:rPr lang="hu-HU" baseline="-25000">
                <a:latin typeface="+mj-lt"/>
              </a:rPr>
              <a:t>i </a:t>
            </a:r>
            <a:r>
              <a:rPr lang="hu-HU">
                <a:latin typeface="+mj-lt"/>
              </a:rPr>
              <a:t>= </a:t>
            </a:r>
            <a:r>
              <a:rPr lang="hu-HU">
                <a:latin typeface="+mj-lt"/>
                <a:cs typeface="Times New Roman" pitchFamily="18" charset="0"/>
              </a:rPr>
              <a:t>összegzett gyártási műveleti idő</a:t>
            </a:r>
            <a:r>
              <a:rPr lang="hu-HU">
                <a:latin typeface="+mj-lt"/>
              </a:rPr>
              <a:t> = 2+1+3+1+2 = 9</a:t>
            </a:r>
          </a:p>
        </p:txBody>
      </p:sp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6248400" y="2667000"/>
            <a:ext cx="2362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hu-HU" b="1" dirty="0" err="1">
                <a:latin typeface="+mj-lt"/>
              </a:rPr>
              <a:t>Z</a:t>
            </a:r>
            <a:r>
              <a:rPr lang="hu-HU" b="1" baseline="-25000" dirty="0" err="1">
                <a:latin typeface="+mj-lt"/>
              </a:rPr>
              <a:t>tech</a:t>
            </a:r>
            <a:r>
              <a:rPr lang="hu-HU" b="1" dirty="0">
                <a:latin typeface="+mj-lt"/>
              </a:rPr>
              <a:t>=s* </a:t>
            </a:r>
            <a:r>
              <a:rPr lang="hu-HU" b="1" dirty="0">
                <a:latin typeface="+mj-lt"/>
                <a:ea typeface="SimSun" pitchFamily="2" charset="-122"/>
              </a:rPr>
              <a:t>∑</a:t>
            </a:r>
            <a:r>
              <a:rPr lang="hu-HU" b="1" dirty="0">
                <a:latin typeface="+mj-lt"/>
              </a:rPr>
              <a:t>t</a:t>
            </a:r>
            <a:r>
              <a:rPr lang="hu-HU" b="1" baseline="-25000" dirty="0">
                <a:latin typeface="+mj-lt"/>
              </a:rPr>
              <a:t>i</a:t>
            </a:r>
            <a:r>
              <a:rPr lang="hu-HU" b="1" dirty="0">
                <a:latin typeface="+mj-lt"/>
              </a:rPr>
              <a:t> = 4*9=36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Párhuzamos műveletkapcsolás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304800" y="1524000"/>
            <a:ext cx="8458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hu-HU" b="1" dirty="0">
                <a:latin typeface="+mj-lt"/>
              </a:rPr>
              <a:t>s </a:t>
            </a:r>
            <a:r>
              <a:rPr lang="hu-HU" b="1" dirty="0">
                <a:latin typeface="+mj-lt"/>
                <a:cs typeface="Times New Roman" pitchFamily="18" charset="0"/>
              </a:rPr>
              <a:t>=</a:t>
            </a:r>
            <a:r>
              <a:rPr lang="hu-HU" dirty="0">
                <a:latin typeface="+mj-lt"/>
                <a:cs typeface="Times New Roman" pitchFamily="18" charset="0"/>
              </a:rPr>
              <a:t>sorozatnagyság</a:t>
            </a:r>
            <a:r>
              <a:rPr lang="hu-HU" dirty="0">
                <a:latin typeface="+mj-lt"/>
              </a:rPr>
              <a:t> = 4	t</a:t>
            </a:r>
            <a:r>
              <a:rPr lang="hu-HU" baseline="-25000" dirty="0">
                <a:latin typeface="+mj-lt"/>
              </a:rPr>
              <a:t>1</a:t>
            </a:r>
            <a:r>
              <a:rPr lang="hu-HU" dirty="0">
                <a:latin typeface="+mj-lt"/>
              </a:rPr>
              <a:t>=2	t</a:t>
            </a:r>
            <a:r>
              <a:rPr lang="hu-HU" baseline="-25000" dirty="0">
                <a:latin typeface="+mj-lt"/>
              </a:rPr>
              <a:t>2</a:t>
            </a:r>
            <a:r>
              <a:rPr lang="hu-HU" dirty="0">
                <a:latin typeface="+mj-lt"/>
              </a:rPr>
              <a:t>=1	t</a:t>
            </a:r>
            <a:r>
              <a:rPr lang="hu-HU" baseline="-25000" dirty="0">
                <a:latin typeface="+mj-lt"/>
              </a:rPr>
              <a:t>3</a:t>
            </a:r>
            <a:r>
              <a:rPr lang="hu-HU" dirty="0">
                <a:latin typeface="+mj-lt"/>
              </a:rPr>
              <a:t>=3	t</a:t>
            </a:r>
            <a:r>
              <a:rPr lang="hu-HU" baseline="-25000" dirty="0">
                <a:latin typeface="+mj-lt"/>
              </a:rPr>
              <a:t>4</a:t>
            </a:r>
            <a:r>
              <a:rPr lang="hu-HU" dirty="0">
                <a:latin typeface="+mj-lt"/>
              </a:rPr>
              <a:t>=1	t</a:t>
            </a:r>
            <a:r>
              <a:rPr lang="hu-HU" baseline="-25000" dirty="0">
                <a:latin typeface="+mj-lt"/>
              </a:rPr>
              <a:t>5</a:t>
            </a:r>
            <a:r>
              <a:rPr lang="hu-HU" dirty="0">
                <a:latin typeface="+mj-lt"/>
              </a:rPr>
              <a:t>=2</a:t>
            </a:r>
          </a:p>
          <a:p>
            <a:r>
              <a:rPr lang="hu-HU" dirty="0">
                <a:latin typeface="+mj-lt"/>
                <a:ea typeface="SimSun" pitchFamily="2" charset="-122"/>
              </a:rPr>
              <a:t>∑</a:t>
            </a:r>
            <a:r>
              <a:rPr lang="hu-HU" dirty="0">
                <a:latin typeface="+mj-lt"/>
              </a:rPr>
              <a:t>t</a:t>
            </a:r>
            <a:r>
              <a:rPr lang="hu-HU" baseline="-25000" dirty="0">
                <a:latin typeface="+mj-lt"/>
              </a:rPr>
              <a:t>i </a:t>
            </a:r>
            <a:r>
              <a:rPr lang="hu-HU" dirty="0">
                <a:latin typeface="+mj-lt"/>
              </a:rPr>
              <a:t>= </a:t>
            </a:r>
            <a:r>
              <a:rPr lang="hu-HU" dirty="0">
                <a:latin typeface="+mj-lt"/>
                <a:cs typeface="Times New Roman" pitchFamily="18" charset="0"/>
              </a:rPr>
              <a:t>összegzett gyártási műveleti idő</a:t>
            </a:r>
            <a:r>
              <a:rPr lang="hu-HU" dirty="0">
                <a:latin typeface="+mj-lt"/>
              </a:rPr>
              <a:t> = 2+1+3+1+2 = 9</a:t>
            </a:r>
          </a:p>
        </p:txBody>
      </p:sp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2469243"/>
            <a:ext cx="5573486" cy="4071168"/>
          </a:xfrm>
          <a:prstGeom prst="rect">
            <a:avLst/>
          </a:prstGeom>
          <a:noFill/>
        </p:spPr>
      </p:pic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5388429" y="2057400"/>
            <a:ext cx="3505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hu-HU" b="1" dirty="0" err="1">
                <a:latin typeface="+mj-lt"/>
              </a:rPr>
              <a:t>Z</a:t>
            </a:r>
            <a:r>
              <a:rPr lang="hu-HU" b="1" baseline="-25000" dirty="0" err="1">
                <a:latin typeface="+mj-lt"/>
              </a:rPr>
              <a:t>tech</a:t>
            </a:r>
            <a:r>
              <a:rPr lang="hu-HU" b="1" dirty="0">
                <a:latin typeface="+mj-lt"/>
              </a:rPr>
              <a:t>=</a:t>
            </a:r>
            <a:r>
              <a:rPr lang="hu-HU" b="1" dirty="0">
                <a:latin typeface="+mj-lt"/>
                <a:ea typeface="SimSun" pitchFamily="2" charset="-122"/>
              </a:rPr>
              <a:t>∑</a:t>
            </a:r>
            <a:r>
              <a:rPr lang="hu-HU" b="1" dirty="0">
                <a:latin typeface="+mj-lt"/>
              </a:rPr>
              <a:t>t</a:t>
            </a:r>
            <a:r>
              <a:rPr lang="hu-HU" b="1" baseline="-25000" dirty="0">
                <a:latin typeface="+mj-lt"/>
              </a:rPr>
              <a:t>i</a:t>
            </a:r>
            <a:r>
              <a:rPr lang="hu-HU" b="1" dirty="0">
                <a:latin typeface="+mj-lt"/>
              </a:rPr>
              <a:t> +(s-1)*</a:t>
            </a:r>
            <a:r>
              <a:rPr lang="hu-HU" b="1" dirty="0" err="1">
                <a:latin typeface="+mj-lt"/>
              </a:rPr>
              <a:t>t</a:t>
            </a:r>
            <a:r>
              <a:rPr lang="hu-HU" b="1" baseline="-25000" dirty="0" err="1">
                <a:latin typeface="+mj-lt"/>
              </a:rPr>
              <a:t>max</a:t>
            </a:r>
            <a:r>
              <a:rPr lang="hu-HU" b="1" dirty="0">
                <a:latin typeface="+mj-lt"/>
              </a:rPr>
              <a:t>= 9+3*</a:t>
            </a:r>
            <a:r>
              <a:rPr lang="hu-HU" b="1" dirty="0" err="1">
                <a:latin typeface="+mj-lt"/>
              </a:rPr>
              <a:t>3</a:t>
            </a:r>
            <a:r>
              <a:rPr lang="hu-HU" b="1" dirty="0">
                <a:latin typeface="+mj-lt"/>
              </a:rPr>
              <a:t>=18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Átlapolt műveletkapcsolás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304800" y="1524000"/>
            <a:ext cx="8458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hu-HU" b="1">
                <a:latin typeface="+mj-lt"/>
              </a:rPr>
              <a:t>s </a:t>
            </a:r>
            <a:r>
              <a:rPr lang="hu-HU" b="1">
                <a:latin typeface="+mj-lt"/>
                <a:cs typeface="Times New Roman" pitchFamily="18" charset="0"/>
              </a:rPr>
              <a:t>=</a:t>
            </a:r>
            <a:r>
              <a:rPr lang="hu-HU">
                <a:latin typeface="+mj-lt"/>
                <a:cs typeface="Times New Roman" pitchFamily="18" charset="0"/>
              </a:rPr>
              <a:t>sorozatnagyság</a:t>
            </a:r>
            <a:r>
              <a:rPr lang="hu-HU">
                <a:latin typeface="+mj-lt"/>
              </a:rPr>
              <a:t> = 4	t</a:t>
            </a:r>
            <a:r>
              <a:rPr lang="hu-HU" baseline="-25000">
                <a:latin typeface="+mj-lt"/>
              </a:rPr>
              <a:t>1</a:t>
            </a:r>
            <a:r>
              <a:rPr lang="hu-HU">
                <a:latin typeface="+mj-lt"/>
              </a:rPr>
              <a:t>=2	t</a:t>
            </a:r>
            <a:r>
              <a:rPr lang="hu-HU" baseline="-25000">
                <a:latin typeface="+mj-lt"/>
              </a:rPr>
              <a:t>2</a:t>
            </a:r>
            <a:r>
              <a:rPr lang="hu-HU">
                <a:latin typeface="+mj-lt"/>
              </a:rPr>
              <a:t>=1	t</a:t>
            </a:r>
            <a:r>
              <a:rPr lang="hu-HU" baseline="-25000">
                <a:latin typeface="+mj-lt"/>
              </a:rPr>
              <a:t>3</a:t>
            </a:r>
            <a:r>
              <a:rPr lang="hu-HU">
                <a:latin typeface="+mj-lt"/>
              </a:rPr>
              <a:t>=3	t</a:t>
            </a:r>
            <a:r>
              <a:rPr lang="hu-HU" baseline="-25000">
                <a:latin typeface="+mj-lt"/>
              </a:rPr>
              <a:t>4</a:t>
            </a:r>
            <a:r>
              <a:rPr lang="hu-HU">
                <a:latin typeface="+mj-lt"/>
              </a:rPr>
              <a:t>=1	t</a:t>
            </a:r>
            <a:r>
              <a:rPr lang="hu-HU" baseline="-25000">
                <a:latin typeface="+mj-lt"/>
              </a:rPr>
              <a:t>5</a:t>
            </a:r>
            <a:r>
              <a:rPr lang="hu-HU">
                <a:latin typeface="+mj-lt"/>
              </a:rPr>
              <a:t>=2</a:t>
            </a:r>
          </a:p>
          <a:p>
            <a:r>
              <a:rPr lang="hu-HU">
                <a:latin typeface="+mj-lt"/>
                <a:ea typeface="SimSun" pitchFamily="2" charset="-122"/>
              </a:rPr>
              <a:t>∑</a:t>
            </a:r>
            <a:r>
              <a:rPr lang="hu-HU">
                <a:latin typeface="+mj-lt"/>
              </a:rPr>
              <a:t>t</a:t>
            </a:r>
            <a:r>
              <a:rPr lang="hu-HU" baseline="-25000">
                <a:latin typeface="+mj-lt"/>
              </a:rPr>
              <a:t>i </a:t>
            </a:r>
            <a:r>
              <a:rPr lang="hu-HU">
                <a:latin typeface="+mj-lt"/>
              </a:rPr>
              <a:t>= </a:t>
            </a:r>
            <a:r>
              <a:rPr lang="hu-HU">
                <a:latin typeface="+mj-lt"/>
                <a:cs typeface="Times New Roman" pitchFamily="18" charset="0"/>
              </a:rPr>
              <a:t>összegzett gyártási műveleti idő</a:t>
            </a:r>
            <a:r>
              <a:rPr lang="hu-HU">
                <a:latin typeface="+mj-lt"/>
              </a:rPr>
              <a:t> = 2+1+3+1+2 = 9</a:t>
            </a:r>
          </a:p>
        </p:txBody>
      </p:sp>
      <p:pic>
        <p:nvPicPr>
          <p:cNvPr id="5" name="Picture 1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78429" y="2960914"/>
            <a:ext cx="5214257" cy="3407631"/>
          </a:xfrm>
          <a:prstGeom prst="rect">
            <a:avLst/>
          </a:prstGeom>
          <a:noFill/>
        </p:spPr>
      </p:pic>
      <p:sp>
        <p:nvSpPr>
          <p:cNvPr id="6" name="Text Box 16"/>
          <p:cNvSpPr txBox="1">
            <a:spLocks noChangeArrowheads="1"/>
          </p:cNvSpPr>
          <p:nvPr/>
        </p:nvSpPr>
        <p:spPr bwMode="auto">
          <a:xfrm>
            <a:off x="4441372" y="2503714"/>
            <a:ext cx="4419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hu-HU" b="1" dirty="0" err="1">
                <a:latin typeface="+mj-lt"/>
              </a:rPr>
              <a:t>Z</a:t>
            </a:r>
            <a:r>
              <a:rPr lang="hu-HU" b="1" baseline="-25000" dirty="0" err="1">
                <a:latin typeface="+mj-lt"/>
              </a:rPr>
              <a:t>tech</a:t>
            </a:r>
            <a:r>
              <a:rPr lang="hu-HU" b="1" dirty="0">
                <a:latin typeface="+mj-lt"/>
              </a:rPr>
              <a:t>=</a:t>
            </a:r>
            <a:r>
              <a:rPr lang="hu-HU" b="1" dirty="0">
                <a:latin typeface="+mj-lt"/>
                <a:ea typeface="SimSun" pitchFamily="2" charset="-122"/>
              </a:rPr>
              <a:t>∑</a:t>
            </a:r>
            <a:r>
              <a:rPr lang="hu-HU" b="1" dirty="0">
                <a:latin typeface="+mj-lt"/>
              </a:rPr>
              <a:t>t</a:t>
            </a:r>
            <a:r>
              <a:rPr lang="hu-HU" b="1" baseline="-25000" dirty="0">
                <a:latin typeface="+mj-lt"/>
              </a:rPr>
              <a:t>i</a:t>
            </a:r>
            <a:r>
              <a:rPr lang="hu-HU" b="1" dirty="0">
                <a:latin typeface="+mj-lt"/>
              </a:rPr>
              <a:t> +(s-1)*(</a:t>
            </a:r>
            <a:r>
              <a:rPr lang="hu-HU" b="1" dirty="0">
                <a:latin typeface="+mj-lt"/>
                <a:ea typeface="SimSun" pitchFamily="2" charset="-122"/>
              </a:rPr>
              <a:t>∑</a:t>
            </a:r>
            <a:r>
              <a:rPr lang="hu-HU" b="1" dirty="0">
                <a:latin typeface="+mj-lt"/>
              </a:rPr>
              <a:t>t</a:t>
            </a:r>
            <a:r>
              <a:rPr lang="hu-HU" b="1" baseline="-25000" dirty="0">
                <a:latin typeface="+mj-lt"/>
              </a:rPr>
              <a:t>h</a:t>
            </a:r>
            <a:r>
              <a:rPr lang="hu-HU" b="1" dirty="0">
                <a:latin typeface="+mj-lt"/>
              </a:rPr>
              <a:t>-</a:t>
            </a:r>
            <a:r>
              <a:rPr lang="hu-HU" b="1" dirty="0">
                <a:latin typeface="+mj-lt"/>
                <a:ea typeface="SimSun" pitchFamily="2" charset="-122"/>
              </a:rPr>
              <a:t>∑</a:t>
            </a:r>
            <a:r>
              <a:rPr lang="hu-HU" b="1" dirty="0" err="1">
                <a:latin typeface="+mj-lt"/>
              </a:rPr>
              <a:t>t</a:t>
            </a:r>
            <a:r>
              <a:rPr lang="hu-HU" b="1" baseline="-25000" dirty="0" err="1">
                <a:latin typeface="+mj-lt"/>
              </a:rPr>
              <a:t>r</a:t>
            </a:r>
            <a:r>
              <a:rPr lang="hu-HU" b="1" dirty="0">
                <a:latin typeface="+mj-lt"/>
              </a:rPr>
              <a:t>)= 9+3*(7-2)=24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511629" y="707571"/>
            <a:ext cx="8229600" cy="1143000"/>
          </a:xfrm>
        </p:spPr>
        <p:txBody>
          <a:bodyPr>
            <a:normAutofit/>
          </a:bodyPr>
          <a:lstStyle/>
          <a:p>
            <a:r>
              <a:rPr lang="hu-HU" dirty="0"/>
              <a:t>Technológiai fázisok összehangolása</a:t>
            </a:r>
          </a:p>
        </p:txBody>
      </p:sp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355813" y="2420938"/>
            <a:ext cx="2519362" cy="654050"/>
          </a:xfrm>
          <a:prstGeom prst="rect">
            <a:avLst/>
          </a:prstGeom>
          <a:solidFill>
            <a:srgbClr val="FFFF99"/>
          </a:solidFill>
          <a:ln w="127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hu-HU" b="1">
                <a:latin typeface="+mj-lt"/>
              </a:rPr>
              <a:t>Tápláló</a:t>
            </a:r>
            <a:br>
              <a:rPr lang="hu-HU" b="1">
                <a:latin typeface="+mj-lt"/>
              </a:rPr>
            </a:br>
            <a:r>
              <a:rPr lang="hu-HU" b="1">
                <a:latin typeface="+mj-lt"/>
              </a:rPr>
              <a:t> technológiai fázis</a:t>
            </a:r>
          </a:p>
        </p:txBody>
      </p:sp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5540588" y="2420938"/>
            <a:ext cx="2232025" cy="654050"/>
          </a:xfrm>
          <a:prstGeom prst="rect">
            <a:avLst/>
          </a:prstGeom>
          <a:solidFill>
            <a:srgbClr val="FFFF99"/>
          </a:solidFill>
          <a:ln w="127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hu-HU" b="1">
                <a:latin typeface="+mj-lt"/>
              </a:rPr>
              <a:t>Táplált </a:t>
            </a:r>
            <a:br>
              <a:rPr lang="hu-HU" b="1">
                <a:latin typeface="+mj-lt"/>
              </a:rPr>
            </a:br>
            <a:r>
              <a:rPr lang="hu-HU" b="1">
                <a:latin typeface="+mj-lt"/>
              </a:rPr>
              <a:t>technológiai fázis</a:t>
            </a:r>
          </a:p>
        </p:txBody>
      </p:sp>
      <p:sp>
        <p:nvSpPr>
          <p:cNvPr id="6" name="Line 10"/>
          <p:cNvSpPr>
            <a:spLocks noChangeShapeType="1"/>
          </p:cNvSpPr>
          <p:nvPr/>
        </p:nvSpPr>
        <p:spPr bwMode="auto">
          <a:xfrm>
            <a:off x="2875175" y="2708275"/>
            <a:ext cx="504825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hu-HU">
              <a:latin typeface="+mj-lt"/>
            </a:endParaRPr>
          </a:p>
        </p:txBody>
      </p:sp>
      <p:sp>
        <p:nvSpPr>
          <p:cNvPr id="7" name="Line 11"/>
          <p:cNvSpPr>
            <a:spLocks noChangeShapeType="1"/>
          </p:cNvSpPr>
          <p:nvPr/>
        </p:nvSpPr>
        <p:spPr bwMode="auto">
          <a:xfrm>
            <a:off x="5035763" y="2708275"/>
            <a:ext cx="504825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hu-HU">
              <a:latin typeface="+mj-lt"/>
            </a:endParaRPr>
          </a:p>
        </p:txBody>
      </p:sp>
      <p:sp>
        <p:nvSpPr>
          <p:cNvPr id="8" name="Text Box 12"/>
          <p:cNvSpPr txBox="1">
            <a:spLocks noChangeArrowheads="1"/>
          </p:cNvSpPr>
          <p:nvPr/>
        </p:nvSpPr>
        <p:spPr bwMode="auto">
          <a:xfrm>
            <a:off x="427250" y="3500438"/>
            <a:ext cx="4321175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hu-HU" b="1">
                <a:latin typeface="+mj-lt"/>
              </a:rPr>
              <a:t>Kibocsátási jellemzők:</a:t>
            </a:r>
          </a:p>
          <a:p>
            <a:r>
              <a:rPr lang="hu-HU" b="1">
                <a:latin typeface="+mj-lt"/>
              </a:rPr>
              <a:t>S = egyszerre megjelenő tétel</a:t>
            </a:r>
          </a:p>
          <a:p>
            <a:r>
              <a:rPr lang="hu-HU" b="1">
                <a:latin typeface="+mj-lt"/>
                <a:sym typeface="Symbol" pitchFamily="18" charset="2"/>
              </a:rPr>
              <a:t> = időnként megjelenő s mennyiség</a:t>
            </a:r>
          </a:p>
        </p:txBody>
      </p:sp>
      <p:sp>
        <p:nvSpPr>
          <p:cNvPr id="9" name="Line 13"/>
          <p:cNvSpPr>
            <a:spLocks noChangeShapeType="1"/>
          </p:cNvSpPr>
          <p:nvPr/>
        </p:nvSpPr>
        <p:spPr bwMode="auto">
          <a:xfrm flipV="1">
            <a:off x="2875175" y="2708275"/>
            <a:ext cx="288925" cy="792163"/>
          </a:xfrm>
          <a:prstGeom prst="line">
            <a:avLst/>
          </a:prstGeom>
          <a:noFill/>
          <a:ln w="9525">
            <a:solidFill>
              <a:schemeClr val="bg2">
                <a:lumMod val="25000"/>
              </a:schemeClr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hu-HU">
              <a:latin typeface="+mj-lt"/>
            </a:endParaRPr>
          </a:p>
        </p:txBody>
      </p:sp>
      <p:sp>
        <p:nvSpPr>
          <p:cNvPr id="10" name="Text Box 14"/>
          <p:cNvSpPr txBox="1">
            <a:spLocks noChangeArrowheads="1"/>
          </p:cNvSpPr>
          <p:nvPr/>
        </p:nvSpPr>
        <p:spPr bwMode="auto">
          <a:xfrm>
            <a:off x="4964325" y="3500438"/>
            <a:ext cx="4032250" cy="133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tabLst>
                <a:tab pos="0" algn="l"/>
                <a:tab pos="361950" algn="l"/>
              </a:tabLst>
            </a:pPr>
            <a:r>
              <a:rPr lang="hu-HU" b="1">
                <a:latin typeface="+mj-lt"/>
              </a:rPr>
              <a:t>Feldolgozási jellemzők:</a:t>
            </a:r>
            <a:br>
              <a:rPr lang="hu-HU" b="1">
                <a:latin typeface="+mj-lt"/>
              </a:rPr>
            </a:br>
            <a:r>
              <a:rPr lang="hu-HU" b="1">
                <a:latin typeface="+mj-lt"/>
              </a:rPr>
              <a:t>s’ = egyszerre feldolgozott 	mennyiség</a:t>
            </a:r>
          </a:p>
          <a:p>
            <a:pPr>
              <a:spcBef>
                <a:spcPct val="50000"/>
              </a:spcBef>
              <a:tabLst>
                <a:tab pos="0" algn="l"/>
                <a:tab pos="361950" algn="l"/>
              </a:tabLst>
            </a:pPr>
            <a:r>
              <a:rPr lang="hu-HU" b="1">
                <a:latin typeface="+mj-lt"/>
              </a:rPr>
              <a:t>Z</a:t>
            </a:r>
            <a:r>
              <a:rPr lang="hu-HU" b="1" baseline="-25000">
                <a:latin typeface="+mj-lt"/>
              </a:rPr>
              <a:t>sz</a:t>
            </a:r>
            <a:r>
              <a:rPr lang="hu-HU" b="1">
                <a:latin typeface="+mj-lt"/>
              </a:rPr>
              <a:t>   s   mennyiség feldolgozási 	     	  ideje</a:t>
            </a:r>
          </a:p>
        </p:txBody>
      </p:sp>
      <p:sp>
        <p:nvSpPr>
          <p:cNvPr id="11" name="Line 15"/>
          <p:cNvSpPr>
            <a:spLocks noChangeShapeType="1"/>
          </p:cNvSpPr>
          <p:nvPr/>
        </p:nvSpPr>
        <p:spPr bwMode="auto">
          <a:xfrm flipH="1" flipV="1">
            <a:off x="5251663" y="2781300"/>
            <a:ext cx="71437" cy="719138"/>
          </a:xfrm>
          <a:prstGeom prst="line">
            <a:avLst/>
          </a:prstGeom>
          <a:noFill/>
          <a:ln w="9525">
            <a:solidFill>
              <a:schemeClr val="bg2">
                <a:lumMod val="25000"/>
              </a:schemeClr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hu-HU">
              <a:latin typeface="+mj-lt"/>
            </a:endParaRPr>
          </a:p>
        </p:txBody>
      </p:sp>
      <p:sp>
        <p:nvSpPr>
          <p:cNvPr id="12" name="Text Box 16"/>
          <p:cNvSpPr txBox="1">
            <a:spLocks noChangeArrowheads="1"/>
          </p:cNvSpPr>
          <p:nvPr/>
        </p:nvSpPr>
        <p:spPr bwMode="auto">
          <a:xfrm>
            <a:off x="571713" y="5300663"/>
            <a:ext cx="7416800" cy="1068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hu-HU" sz="2800" b="1">
                <a:latin typeface="+mj-lt"/>
              </a:rPr>
              <a:t>Alap feltétel:	s = s’	 </a:t>
            </a:r>
            <a:r>
              <a:rPr lang="hu-HU" sz="2800" b="1">
                <a:latin typeface="+mj-lt"/>
                <a:sym typeface="Symbol" pitchFamily="18" charset="2"/>
              </a:rPr>
              <a:t> = z</a:t>
            </a:r>
            <a:r>
              <a:rPr lang="hu-HU" sz="2800" b="1" baseline="-25000">
                <a:latin typeface="+mj-lt"/>
                <a:sym typeface="Symbol" pitchFamily="18" charset="2"/>
              </a:rPr>
              <a:t>szer</a:t>
            </a:r>
          </a:p>
          <a:p>
            <a:r>
              <a:rPr lang="hu-HU" sz="3600" b="1" baseline="-25000">
                <a:latin typeface="+mj-lt"/>
                <a:sym typeface="Symbol" pitchFamily="18" charset="2"/>
              </a:rPr>
              <a:t>ebből biztosítható     s= s’ és adódik 	</a:t>
            </a:r>
            <a:endParaRPr lang="hu-HU" sz="3600" b="1">
              <a:latin typeface="+mj-lt"/>
              <a:sym typeface="Symbol" pitchFamily="18" charset="2"/>
            </a:endParaRPr>
          </a:p>
        </p:txBody>
      </p:sp>
      <p:sp>
        <p:nvSpPr>
          <p:cNvPr id="13" name="Rectangle 17"/>
          <p:cNvSpPr>
            <a:spLocks noChangeArrowheads="1"/>
          </p:cNvSpPr>
          <p:nvPr/>
        </p:nvSpPr>
        <p:spPr bwMode="auto">
          <a:xfrm>
            <a:off x="6115263" y="5876925"/>
            <a:ext cx="154561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hu-HU" sz="2800" b="1">
                <a:latin typeface="+mj-lt"/>
                <a:sym typeface="Symbol" pitchFamily="18" charset="2"/>
              </a:rPr>
              <a:t></a:t>
            </a:r>
            <a:r>
              <a:rPr lang="hu-HU">
                <a:latin typeface="+mj-lt"/>
              </a:rPr>
              <a:t> </a:t>
            </a:r>
            <a:r>
              <a:rPr lang="hu-HU" b="1">
                <a:latin typeface="+mj-lt"/>
                <a:sym typeface="Symbol" pitchFamily="18" charset="2"/>
              </a:rPr>
              <a:t>&gt;</a:t>
            </a:r>
            <a:r>
              <a:rPr lang="hu-HU" sz="2800" b="1">
                <a:latin typeface="+mj-lt"/>
                <a:sym typeface="Symbol" pitchFamily="18" charset="2"/>
              </a:rPr>
              <a:t> </a:t>
            </a:r>
            <a:r>
              <a:rPr lang="hu-HU" b="1">
                <a:latin typeface="+mj-lt"/>
                <a:sym typeface="Symbol" pitchFamily="18" charset="2"/>
              </a:rPr>
              <a:t>= </a:t>
            </a:r>
            <a:r>
              <a:rPr lang="hu-HU">
                <a:latin typeface="+mj-lt"/>
                <a:sym typeface="Symbol" pitchFamily="18" charset="2"/>
              </a:rPr>
              <a:t> </a:t>
            </a:r>
            <a:r>
              <a:rPr lang="hu-HU" sz="2800" b="1">
                <a:latin typeface="+mj-lt"/>
                <a:sym typeface="Symbol" pitchFamily="18" charset="2"/>
              </a:rPr>
              <a:t>z</a:t>
            </a:r>
            <a:r>
              <a:rPr lang="hu-HU" sz="2800" b="1" baseline="-25000">
                <a:latin typeface="+mj-lt"/>
                <a:sym typeface="Symbol" pitchFamily="18" charset="2"/>
              </a:rPr>
              <a:t>szer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0" grpId="0"/>
      <p:bldP spid="11" grpId="0" animBg="1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57200" y="555171"/>
            <a:ext cx="8229600" cy="1143000"/>
          </a:xfrm>
        </p:spPr>
        <p:txBody>
          <a:bodyPr>
            <a:normAutofit/>
          </a:bodyPr>
          <a:lstStyle/>
          <a:p>
            <a:r>
              <a:rPr lang="hu-HU" dirty="0"/>
              <a:t>Technológiai fázisok összehangolása</a:t>
            </a: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234621" y="1698852"/>
            <a:ext cx="619283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hu-HU" sz="2800" b="1" dirty="0">
                <a:latin typeface="+mj-lt"/>
                <a:sym typeface="Symbol" pitchFamily="18" charset="2"/>
              </a:rPr>
              <a:t>s = </a:t>
            </a:r>
            <a:r>
              <a:rPr lang="hu-HU" sz="2800" b="1" dirty="0" err="1">
                <a:latin typeface="+mj-lt"/>
                <a:sym typeface="Symbol" pitchFamily="18" charset="2"/>
              </a:rPr>
              <a:t>s</a:t>
            </a:r>
            <a:r>
              <a:rPr lang="hu-HU" sz="2800" b="1" dirty="0">
                <a:latin typeface="+mj-lt"/>
                <a:sym typeface="Symbol" pitchFamily="18" charset="2"/>
              </a:rPr>
              <a:t>’ és </a:t>
            </a:r>
            <a:r>
              <a:rPr lang="hu-HU" sz="2400" b="1" dirty="0">
                <a:latin typeface="+mj-lt"/>
                <a:sym typeface="Symbol" pitchFamily="18" charset="2"/>
              </a:rPr>
              <a:t> = </a:t>
            </a:r>
            <a:r>
              <a:rPr lang="hu-HU" sz="2400" b="1" dirty="0" err="1">
                <a:latin typeface="+mj-lt"/>
                <a:sym typeface="Symbol" pitchFamily="18" charset="2"/>
              </a:rPr>
              <a:t>z</a:t>
            </a:r>
            <a:r>
              <a:rPr lang="hu-HU" sz="2400" b="1" baseline="-25000" dirty="0" err="1">
                <a:latin typeface="+mj-lt"/>
                <a:sym typeface="Symbol" pitchFamily="18" charset="2"/>
              </a:rPr>
              <a:t>szer</a:t>
            </a:r>
            <a:endParaRPr lang="hu-HU" sz="2400" b="1" dirty="0">
              <a:latin typeface="+mj-lt"/>
              <a:sym typeface="Symbol" pitchFamily="18" charset="2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 flipV="1">
            <a:off x="2771775" y="2924175"/>
            <a:ext cx="0" cy="2449513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hu-HU">
              <a:latin typeface="+mj-lt"/>
            </a:endParaRPr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 flipV="1">
            <a:off x="2771775" y="5229225"/>
            <a:ext cx="4105275" cy="71438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hu-HU">
              <a:latin typeface="+mj-lt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7019925" y="5084763"/>
            <a:ext cx="8651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hu-HU" b="1">
                <a:latin typeface="+mj-lt"/>
              </a:rPr>
              <a:t>idő</a:t>
            </a: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1042988" y="3068638"/>
            <a:ext cx="151288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hu-HU" b="1">
                <a:latin typeface="+mj-lt"/>
              </a:rPr>
              <a:t>mennyiség</a:t>
            </a:r>
          </a:p>
        </p:txBody>
      </p:sp>
      <p:sp>
        <p:nvSpPr>
          <p:cNvPr id="9" name="Line 9"/>
          <p:cNvSpPr>
            <a:spLocks noChangeShapeType="1"/>
          </p:cNvSpPr>
          <p:nvPr/>
        </p:nvSpPr>
        <p:spPr bwMode="auto">
          <a:xfrm>
            <a:off x="2700338" y="3860800"/>
            <a:ext cx="3887787" cy="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hu-HU">
              <a:latin typeface="+mj-lt"/>
            </a:endParaRP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2268538" y="3500438"/>
            <a:ext cx="431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hu-HU" sz="2000">
                <a:latin typeface="+mj-lt"/>
              </a:rPr>
              <a:t>Q</a:t>
            </a:r>
          </a:p>
        </p:txBody>
      </p:sp>
      <p:sp>
        <p:nvSpPr>
          <p:cNvPr id="11" name="Line 11"/>
          <p:cNvSpPr>
            <a:spLocks noChangeShapeType="1"/>
          </p:cNvSpPr>
          <p:nvPr/>
        </p:nvSpPr>
        <p:spPr bwMode="auto">
          <a:xfrm flipV="1">
            <a:off x="2771775" y="3860800"/>
            <a:ext cx="2087563" cy="143986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hu-HU">
              <a:latin typeface="+mj-lt"/>
            </a:endParaRPr>
          </a:p>
        </p:txBody>
      </p:sp>
      <p:sp>
        <p:nvSpPr>
          <p:cNvPr id="12" name="Line 12"/>
          <p:cNvSpPr>
            <a:spLocks noChangeShapeType="1"/>
          </p:cNvSpPr>
          <p:nvPr/>
        </p:nvSpPr>
        <p:spPr bwMode="auto">
          <a:xfrm flipV="1">
            <a:off x="3527425" y="3860800"/>
            <a:ext cx="2087563" cy="143986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hu-HU">
              <a:latin typeface="+mj-lt"/>
            </a:endParaRPr>
          </a:p>
        </p:txBody>
      </p:sp>
      <p:sp>
        <p:nvSpPr>
          <p:cNvPr id="13" name="Line 13"/>
          <p:cNvSpPr>
            <a:spLocks noChangeShapeType="1"/>
          </p:cNvSpPr>
          <p:nvPr/>
        </p:nvSpPr>
        <p:spPr bwMode="auto">
          <a:xfrm>
            <a:off x="4859338" y="3141663"/>
            <a:ext cx="0" cy="7191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hu-HU">
              <a:latin typeface="+mj-lt"/>
            </a:endParaRPr>
          </a:p>
        </p:txBody>
      </p:sp>
      <p:sp>
        <p:nvSpPr>
          <p:cNvPr id="14" name="Line 14"/>
          <p:cNvSpPr>
            <a:spLocks noChangeShapeType="1"/>
          </p:cNvSpPr>
          <p:nvPr/>
        </p:nvSpPr>
        <p:spPr bwMode="auto">
          <a:xfrm flipV="1">
            <a:off x="5508625" y="3500438"/>
            <a:ext cx="71438" cy="25923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hu-HU">
              <a:latin typeface="+mj-lt"/>
            </a:endParaRPr>
          </a:p>
        </p:txBody>
      </p:sp>
      <p:sp>
        <p:nvSpPr>
          <p:cNvPr id="15" name="Line 15"/>
          <p:cNvSpPr>
            <a:spLocks noChangeShapeType="1"/>
          </p:cNvSpPr>
          <p:nvPr/>
        </p:nvSpPr>
        <p:spPr bwMode="auto">
          <a:xfrm>
            <a:off x="4859338" y="3500438"/>
            <a:ext cx="7207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hu-HU">
              <a:latin typeface="+mj-lt"/>
            </a:endParaRPr>
          </a:p>
        </p:txBody>
      </p:sp>
      <p:sp>
        <p:nvSpPr>
          <p:cNvPr id="16" name="Line 16"/>
          <p:cNvSpPr>
            <a:spLocks noChangeShapeType="1"/>
          </p:cNvSpPr>
          <p:nvPr/>
        </p:nvSpPr>
        <p:spPr bwMode="auto">
          <a:xfrm>
            <a:off x="2771775" y="3141663"/>
            <a:ext cx="20875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hu-HU">
              <a:latin typeface="+mj-lt"/>
            </a:endParaRPr>
          </a:p>
        </p:txBody>
      </p:sp>
      <p:sp>
        <p:nvSpPr>
          <p:cNvPr id="17" name="Line 17"/>
          <p:cNvSpPr>
            <a:spLocks noChangeShapeType="1"/>
          </p:cNvSpPr>
          <p:nvPr/>
        </p:nvSpPr>
        <p:spPr bwMode="auto">
          <a:xfrm>
            <a:off x="3563938" y="5229225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hu-HU">
              <a:latin typeface="+mj-lt"/>
            </a:endParaRPr>
          </a:p>
        </p:txBody>
      </p:sp>
      <p:sp>
        <p:nvSpPr>
          <p:cNvPr id="18" name="Line 19"/>
          <p:cNvSpPr>
            <a:spLocks noChangeShapeType="1"/>
          </p:cNvSpPr>
          <p:nvPr/>
        </p:nvSpPr>
        <p:spPr bwMode="auto">
          <a:xfrm>
            <a:off x="2771775" y="5300663"/>
            <a:ext cx="0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hu-HU">
              <a:latin typeface="+mj-lt"/>
            </a:endParaRPr>
          </a:p>
        </p:txBody>
      </p:sp>
      <p:sp>
        <p:nvSpPr>
          <p:cNvPr id="19" name="Line 20"/>
          <p:cNvSpPr>
            <a:spLocks noChangeShapeType="1"/>
          </p:cNvSpPr>
          <p:nvPr/>
        </p:nvSpPr>
        <p:spPr bwMode="auto">
          <a:xfrm>
            <a:off x="3563938" y="5589588"/>
            <a:ext cx="19446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hu-HU">
              <a:latin typeface="+mj-lt"/>
            </a:endParaRPr>
          </a:p>
        </p:txBody>
      </p:sp>
      <p:sp>
        <p:nvSpPr>
          <p:cNvPr id="20" name="Line 21"/>
          <p:cNvSpPr>
            <a:spLocks noChangeShapeType="1"/>
          </p:cNvSpPr>
          <p:nvPr/>
        </p:nvSpPr>
        <p:spPr bwMode="auto">
          <a:xfrm>
            <a:off x="2771775" y="5949950"/>
            <a:ext cx="27368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hu-HU">
              <a:latin typeface="+mj-lt"/>
            </a:endParaRPr>
          </a:p>
        </p:txBody>
      </p:sp>
      <p:sp>
        <p:nvSpPr>
          <p:cNvPr id="21" name="Text Box 22"/>
          <p:cNvSpPr txBox="1">
            <a:spLocks noChangeArrowheads="1"/>
          </p:cNvSpPr>
          <p:nvPr/>
        </p:nvSpPr>
        <p:spPr bwMode="auto">
          <a:xfrm>
            <a:off x="3059113" y="6165850"/>
            <a:ext cx="41052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hu-HU" b="1">
                <a:latin typeface="+mj-lt"/>
              </a:rPr>
              <a:t>Teljes átfutási idő</a:t>
            </a:r>
          </a:p>
        </p:txBody>
      </p:sp>
      <p:sp>
        <p:nvSpPr>
          <p:cNvPr id="22" name="Text Box 23"/>
          <p:cNvSpPr txBox="1">
            <a:spLocks noChangeArrowheads="1"/>
          </p:cNvSpPr>
          <p:nvPr/>
        </p:nvSpPr>
        <p:spPr bwMode="auto">
          <a:xfrm>
            <a:off x="3924300" y="5157788"/>
            <a:ext cx="15113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hu-HU" b="1">
                <a:latin typeface="+mj-lt"/>
              </a:rPr>
              <a:t>Szerelési átfutási idő</a:t>
            </a:r>
          </a:p>
        </p:txBody>
      </p:sp>
      <p:sp>
        <p:nvSpPr>
          <p:cNvPr id="23" name="Text Box 24"/>
          <p:cNvSpPr txBox="1">
            <a:spLocks noChangeArrowheads="1"/>
          </p:cNvSpPr>
          <p:nvPr/>
        </p:nvSpPr>
        <p:spPr bwMode="auto">
          <a:xfrm>
            <a:off x="5148263" y="2924175"/>
            <a:ext cx="6477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hu-HU" b="1">
                <a:latin typeface="+mj-lt"/>
              </a:rPr>
              <a:t>z</a:t>
            </a:r>
            <a:r>
              <a:rPr lang="hu-HU" b="1" baseline="-25000">
                <a:latin typeface="+mj-lt"/>
              </a:rPr>
              <a:t>szer</a:t>
            </a:r>
            <a:endParaRPr lang="hu-HU" b="1">
              <a:latin typeface="+mj-lt"/>
            </a:endParaRPr>
          </a:p>
        </p:txBody>
      </p:sp>
      <p:sp>
        <p:nvSpPr>
          <p:cNvPr id="24" name="Text Box 25"/>
          <p:cNvSpPr txBox="1">
            <a:spLocks noChangeArrowheads="1"/>
          </p:cNvSpPr>
          <p:nvPr/>
        </p:nvSpPr>
        <p:spPr bwMode="auto">
          <a:xfrm>
            <a:off x="3060700" y="2603500"/>
            <a:ext cx="15113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hu-HU" b="1">
                <a:latin typeface="+mj-lt"/>
              </a:rPr>
              <a:t>Forgácsoló átfutási idő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57200" y="555171"/>
            <a:ext cx="8229600" cy="1143000"/>
          </a:xfrm>
        </p:spPr>
        <p:txBody>
          <a:bodyPr>
            <a:normAutofit/>
          </a:bodyPr>
          <a:lstStyle/>
          <a:p>
            <a:r>
              <a:rPr lang="hu-HU" dirty="0"/>
              <a:t>Technológiai fázisok összehangolása</a:t>
            </a: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234621" y="1698852"/>
            <a:ext cx="619283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hu-HU" sz="2800" b="1" dirty="0">
                <a:latin typeface="+mj-lt"/>
                <a:sym typeface="Symbol" pitchFamily="18" charset="2"/>
              </a:rPr>
              <a:t>s = </a:t>
            </a:r>
            <a:r>
              <a:rPr lang="hu-HU" sz="2800" b="1" dirty="0" err="1">
                <a:latin typeface="+mj-lt"/>
                <a:sym typeface="Symbol" pitchFamily="18" charset="2"/>
              </a:rPr>
              <a:t>s</a:t>
            </a:r>
            <a:r>
              <a:rPr lang="hu-HU" sz="2800" b="1" dirty="0">
                <a:latin typeface="+mj-lt"/>
                <a:sym typeface="Symbol" pitchFamily="18" charset="2"/>
              </a:rPr>
              <a:t>’ és </a:t>
            </a:r>
            <a:r>
              <a:rPr lang="hu-HU" sz="2400" b="1" dirty="0">
                <a:latin typeface="+mj-lt"/>
                <a:sym typeface="Symbol" pitchFamily="18" charset="2"/>
              </a:rPr>
              <a:t> &gt; </a:t>
            </a:r>
            <a:r>
              <a:rPr lang="hu-HU" sz="2400" b="1" dirty="0" err="1">
                <a:latin typeface="+mj-lt"/>
                <a:sym typeface="Symbol" pitchFamily="18" charset="2"/>
              </a:rPr>
              <a:t>z</a:t>
            </a:r>
            <a:r>
              <a:rPr lang="hu-HU" sz="2400" b="1" baseline="-25000" dirty="0" err="1">
                <a:latin typeface="+mj-lt"/>
                <a:sym typeface="Symbol" pitchFamily="18" charset="2"/>
              </a:rPr>
              <a:t>szer</a:t>
            </a:r>
            <a:endParaRPr lang="hu-HU" sz="2400" b="1" dirty="0">
              <a:latin typeface="+mj-lt"/>
              <a:sym typeface="Symbol" pitchFamily="18" charset="2"/>
            </a:endParaRPr>
          </a:p>
        </p:txBody>
      </p:sp>
      <p:sp>
        <p:nvSpPr>
          <p:cNvPr id="25" name="Line 4"/>
          <p:cNvSpPr>
            <a:spLocks noChangeShapeType="1"/>
          </p:cNvSpPr>
          <p:nvPr/>
        </p:nvSpPr>
        <p:spPr bwMode="auto">
          <a:xfrm flipV="1">
            <a:off x="2771775" y="2924175"/>
            <a:ext cx="0" cy="2449513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hu-HU">
              <a:latin typeface="+mj-lt"/>
            </a:endParaRPr>
          </a:p>
        </p:txBody>
      </p:sp>
      <p:sp>
        <p:nvSpPr>
          <p:cNvPr id="26" name="Line 5"/>
          <p:cNvSpPr>
            <a:spLocks noChangeShapeType="1"/>
          </p:cNvSpPr>
          <p:nvPr/>
        </p:nvSpPr>
        <p:spPr bwMode="auto">
          <a:xfrm flipV="1">
            <a:off x="2771775" y="5229225"/>
            <a:ext cx="4105275" cy="71438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hu-HU">
              <a:latin typeface="+mj-lt"/>
            </a:endParaRPr>
          </a:p>
        </p:txBody>
      </p:sp>
      <p:sp>
        <p:nvSpPr>
          <p:cNvPr id="27" name="Text Box 6"/>
          <p:cNvSpPr txBox="1">
            <a:spLocks noChangeArrowheads="1"/>
          </p:cNvSpPr>
          <p:nvPr/>
        </p:nvSpPr>
        <p:spPr bwMode="auto">
          <a:xfrm>
            <a:off x="7019925" y="5084763"/>
            <a:ext cx="8651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hu-HU" b="1">
                <a:latin typeface="+mj-lt"/>
              </a:rPr>
              <a:t>idő</a:t>
            </a:r>
          </a:p>
        </p:txBody>
      </p:sp>
      <p:sp>
        <p:nvSpPr>
          <p:cNvPr id="28" name="Text Box 7"/>
          <p:cNvSpPr txBox="1">
            <a:spLocks noChangeArrowheads="1"/>
          </p:cNvSpPr>
          <p:nvPr/>
        </p:nvSpPr>
        <p:spPr bwMode="auto">
          <a:xfrm>
            <a:off x="1042988" y="3068638"/>
            <a:ext cx="151288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hu-HU" b="1">
                <a:latin typeface="+mj-lt"/>
              </a:rPr>
              <a:t>mennyiség</a:t>
            </a:r>
          </a:p>
        </p:txBody>
      </p:sp>
      <p:sp>
        <p:nvSpPr>
          <p:cNvPr id="29" name="Line 8"/>
          <p:cNvSpPr>
            <a:spLocks noChangeShapeType="1"/>
          </p:cNvSpPr>
          <p:nvPr/>
        </p:nvSpPr>
        <p:spPr bwMode="auto">
          <a:xfrm>
            <a:off x="2700338" y="3860800"/>
            <a:ext cx="3887787" cy="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hu-HU">
              <a:latin typeface="+mj-lt"/>
            </a:endParaRPr>
          </a:p>
        </p:txBody>
      </p:sp>
      <p:sp>
        <p:nvSpPr>
          <p:cNvPr id="30" name="Text Box 9"/>
          <p:cNvSpPr txBox="1">
            <a:spLocks noChangeArrowheads="1"/>
          </p:cNvSpPr>
          <p:nvPr/>
        </p:nvSpPr>
        <p:spPr bwMode="auto">
          <a:xfrm>
            <a:off x="2268538" y="3500438"/>
            <a:ext cx="431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hu-HU" sz="2000">
                <a:latin typeface="+mj-lt"/>
              </a:rPr>
              <a:t>Q</a:t>
            </a:r>
          </a:p>
        </p:txBody>
      </p:sp>
      <p:sp>
        <p:nvSpPr>
          <p:cNvPr id="31" name="Line 10"/>
          <p:cNvSpPr>
            <a:spLocks noChangeShapeType="1"/>
          </p:cNvSpPr>
          <p:nvPr/>
        </p:nvSpPr>
        <p:spPr bwMode="auto">
          <a:xfrm flipV="1">
            <a:off x="2771775" y="3860800"/>
            <a:ext cx="2087563" cy="143986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hu-HU">
              <a:latin typeface="+mj-lt"/>
            </a:endParaRPr>
          </a:p>
        </p:txBody>
      </p:sp>
      <p:sp>
        <p:nvSpPr>
          <p:cNvPr id="32" name="Line 11"/>
          <p:cNvSpPr>
            <a:spLocks noChangeShapeType="1"/>
          </p:cNvSpPr>
          <p:nvPr/>
        </p:nvSpPr>
        <p:spPr bwMode="auto">
          <a:xfrm flipV="1">
            <a:off x="4356100" y="3860800"/>
            <a:ext cx="1258888" cy="143986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hu-HU">
              <a:latin typeface="+mj-lt"/>
            </a:endParaRPr>
          </a:p>
        </p:txBody>
      </p:sp>
      <p:sp>
        <p:nvSpPr>
          <p:cNvPr id="33" name="Line 12"/>
          <p:cNvSpPr>
            <a:spLocks noChangeShapeType="1"/>
          </p:cNvSpPr>
          <p:nvPr/>
        </p:nvSpPr>
        <p:spPr bwMode="auto">
          <a:xfrm>
            <a:off x="4859338" y="3141663"/>
            <a:ext cx="0" cy="7191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hu-HU">
              <a:latin typeface="+mj-lt"/>
            </a:endParaRPr>
          </a:p>
        </p:txBody>
      </p:sp>
      <p:sp>
        <p:nvSpPr>
          <p:cNvPr id="34" name="Line 13"/>
          <p:cNvSpPr>
            <a:spLocks noChangeShapeType="1"/>
          </p:cNvSpPr>
          <p:nvPr/>
        </p:nvSpPr>
        <p:spPr bwMode="auto">
          <a:xfrm flipV="1">
            <a:off x="5508625" y="3500438"/>
            <a:ext cx="71438" cy="25923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hu-HU">
              <a:latin typeface="+mj-lt"/>
            </a:endParaRPr>
          </a:p>
        </p:txBody>
      </p:sp>
      <p:sp>
        <p:nvSpPr>
          <p:cNvPr id="35" name="Line 14"/>
          <p:cNvSpPr>
            <a:spLocks noChangeShapeType="1"/>
          </p:cNvSpPr>
          <p:nvPr/>
        </p:nvSpPr>
        <p:spPr bwMode="auto">
          <a:xfrm>
            <a:off x="4859338" y="3500438"/>
            <a:ext cx="7207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hu-HU">
              <a:latin typeface="+mj-lt"/>
            </a:endParaRPr>
          </a:p>
        </p:txBody>
      </p:sp>
      <p:sp>
        <p:nvSpPr>
          <p:cNvPr id="36" name="Line 15"/>
          <p:cNvSpPr>
            <a:spLocks noChangeShapeType="1"/>
          </p:cNvSpPr>
          <p:nvPr/>
        </p:nvSpPr>
        <p:spPr bwMode="auto">
          <a:xfrm>
            <a:off x="2771775" y="3141663"/>
            <a:ext cx="20875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hu-HU">
              <a:latin typeface="+mj-lt"/>
            </a:endParaRPr>
          </a:p>
        </p:txBody>
      </p:sp>
      <p:sp>
        <p:nvSpPr>
          <p:cNvPr id="37" name="Line 16"/>
          <p:cNvSpPr>
            <a:spLocks noChangeShapeType="1"/>
          </p:cNvSpPr>
          <p:nvPr/>
        </p:nvSpPr>
        <p:spPr bwMode="auto">
          <a:xfrm>
            <a:off x="4356100" y="5300663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hu-HU">
              <a:latin typeface="+mj-lt"/>
            </a:endParaRPr>
          </a:p>
        </p:txBody>
      </p:sp>
      <p:sp>
        <p:nvSpPr>
          <p:cNvPr id="38" name="Line 17"/>
          <p:cNvSpPr>
            <a:spLocks noChangeShapeType="1"/>
          </p:cNvSpPr>
          <p:nvPr/>
        </p:nvSpPr>
        <p:spPr bwMode="auto">
          <a:xfrm>
            <a:off x="2771775" y="5300663"/>
            <a:ext cx="0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hu-HU">
              <a:latin typeface="+mj-lt"/>
            </a:endParaRPr>
          </a:p>
        </p:txBody>
      </p:sp>
      <p:sp>
        <p:nvSpPr>
          <p:cNvPr id="39" name="Line 18"/>
          <p:cNvSpPr>
            <a:spLocks noChangeShapeType="1"/>
          </p:cNvSpPr>
          <p:nvPr/>
        </p:nvSpPr>
        <p:spPr bwMode="auto">
          <a:xfrm>
            <a:off x="4356100" y="5589588"/>
            <a:ext cx="11525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hu-HU">
              <a:latin typeface="+mj-lt"/>
            </a:endParaRPr>
          </a:p>
        </p:txBody>
      </p:sp>
      <p:sp>
        <p:nvSpPr>
          <p:cNvPr id="40" name="Line 19"/>
          <p:cNvSpPr>
            <a:spLocks noChangeShapeType="1"/>
          </p:cNvSpPr>
          <p:nvPr/>
        </p:nvSpPr>
        <p:spPr bwMode="auto">
          <a:xfrm>
            <a:off x="2771775" y="5949950"/>
            <a:ext cx="27368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hu-HU">
              <a:latin typeface="+mj-lt"/>
            </a:endParaRPr>
          </a:p>
        </p:txBody>
      </p:sp>
      <p:sp>
        <p:nvSpPr>
          <p:cNvPr id="41" name="Text Box 20"/>
          <p:cNvSpPr txBox="1">
            <a:spLocks noChangeArrowheads="1"/>
          </p:cNvSpPr>
          <p:nvPr/>
        </p:nvSpPr>
        <p:spPr bwMode="auto">
          <a:xfrm>
            <a:off x="3059113" y="6165850"/>
            <a:ext cx="41052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hu-HU" b="1">
                <a:latin typeface="+mj-lt"/>
              </a:rPr>
              <a:t>Teljes átfutási idő</a:t>
            </a:r>
          </a:p>
        </p:txBody>
      </p:sp>
      <p:sp>
        <p:nvSpPr>
          <p:cNvPr id="42" name="Text Box 21"/>
          <p:cNvSpPr txBox="1">
            <a:spLocks noChangeArrowheads="1"/>
          </p:cNvSpPr>
          <p:nvPr/>
        </p:nvSpPr>
        <p:spPr bwMode="auto">
          <a:xfrm>
            <a:off x="5940425" y="5805488"/>
            <a:ext cx="15113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hu-HU" b="1">
                <a:latin typeface="+mj-lt"/>
              </a:rPr>
              <a:t>Szerelési átfutási idő</a:t>
            </a:r>
          </a:p>
        </p:txBody>
      </p:sp>
      <p:sp>
        <p:nvSpPr>
          <p:cNvPr id="43" name="Text Box 22"/>
          <p:cNvSpPr txBox="1">
            <a:spLocks noChangeArrowheads="1"/>
          </p:cNvSpPr>
          <p:nvPr/>
        </p:nvSpPr>
        <p:spPr bwMode="auto">
          <a:xfrm>
            <a:off x="5148263" y="2924175"/>
            <a:ext cx="6477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hu-HU" b="1">
                <a:latin typeface="+mj-lt"/>
              </a:rPr>
              <a:t>z</a:t>
            </a:r>
            <a:r>
              <a:rPr lang="hu-HU" b="1" baseline="-25000">
                <a:latin typeface="+mj-lt"/>
              </a:rPr>
              <a:t>szer</a:t>
            </a:r>
            <a:endParaRPr lang="hu-HU" b="1">
              <a:latin typeface="+mj-lt"/>
            </a:endParaRPr>
          </a:p>
        </p:txBody>
      </p:sp>
      <p:sp>
        <p:nvSpPr>
          <p:cNvPr id="44" name="Text Box 23"/>
          <p:cNvSpPr txBox="1">
            <a:spLocks noChangeArrowheads="1"/>
          </p:cNvSpPr>
          <p:nvPr/>
        </p:nvSpPr>
        <p:spPr bwMode="auto">
          <a:xfrm>
            <a:off x="3060700" y="2603500"/>
            <a:ext cx="15113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hu-HU" b="1">
                <a:latin typeface="+mj-lt"/>
              </a:rPr>
              <a:t>Forgácsoló átfutási idő</a:t>
            </a:r>
          </a:p>
        </p:txBody>
      </p:sp>
      <p:sp>
        <p:nvSpPr>
          <p:cNvPr id="45" name="Line 24"/>
          <p:cNvSpPr>
            <a:spLocks noChangeShapeType="1"/>
          </p:cNvSpPr>
          <p:nvPr/>
        </p:nvSpPr>
        <p:spPr bwMode="auto">
          <a:xfrm flipH="1" flipV="1">
            <a:off x="5076825" y="5589588"/>
            <a:ext cx="863600" cy="43180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hu-HU">
              <a:latin typeface="+mj-lt"/>
            </a:endParaRPr>
          </a:p>
        </p:txBody>
      </p:sp>
      <p:sp>
        <p:nvSpPr>
          <p:cNvPr id="46" name="Line 25"/>
          <p:cNvSpPr>
            <a:spLocks noChangeShapeType="1"/>
          </p:cNvSpPr>
          <p:nvPr/>
        </p:nvSpPr>
        <p:spPr bwMode="auto">
          <a:xfrm>
            <a:off x="2771775" y="5661025"/>
            <a:ext cx="1584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hu-HU">
              <a:latin typeface="+mj-lt"/>
            </a:endParaRPr>
          </a:p>
        </p:txBody>
      </p:sp>
      <p:sp>
        <p:nvSpPr>
          <p:cNvPr id="47" name="Text Box 26"/>
          <p:cNvSpPr txBox="1">
            <a:spLocks noChangeArrowheads="1"/>
          </p:cNvSpPr>
          <p:nvPr/>
        </p:nvSpPr>
        <p:spPr bwMode="auto">
          <a:xfrm>
            <a:off x="755650" y="4941888"/>
            <a:ext cx="1439863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hu-HU" b="1">
                <a:latin typeface="+mj-lt"/>
              </a:rPr>
              <a:t>Előtartási idő</a:t>
            </a:r>
          </a:p>
        </p:txBody>
      </p:sp>
      <p:sp>
        <p:nvSpPr>
          <p:cNvPr id="48" name="Line 27"/>
          <p:cNvSpPr>
            <a:spLocks noChangeShapeType="1"/>
          </p:cNvSpPr>
          <p:nvPr/>
        </p:nvSpPr>
        <p:spPr bwMode="auto">
          <a:xfrm>
            <a:off x="1835150" y="5300663"/>
            <a:ext cx="1441450" cy="288925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hu-HU">
              <a:latin typeface="+mj-lt"/>
            </a:endParaRPr>
          </a:p>
        </p:txBody>
      </p:sp>
      <p:sp>
        <p:nvSpPr>
          <p:cNvPr id="49" name="Line 28"/>
          <p:cNvSpPr>
            <a:spLocks noChangeShapeType="1"/>
          </p:cNvSpPr>
          <p:nvPr/>
        </p:nvSpPr>
        <p:spPr bwMode="auto">
          <a:xfrm flipV="1">
            <a:off x="4356100" y="4221163"/>
            <a:ext cx="0" cy="1079500"/>
          </a:xfrm>
          <a:prstGeom prst="line">
            <a:avLst/>
          </a:prstGeom>
          <a:noFill/>
          <a:ln w="9525">
            <a:solidFill>
              <a:srgbClr val="FF66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hu-HU">
              <a:latin typeface="+mj-lt"/>
            </a:endParaRPr>
          </a:p>
        </p:txBody>
      </p:sp>
      <p:sp>
        <p:nvSpPr>
          <p:cNvPr id="50" name="Text Box 29"/>
          <p:cNvSpPr txBox="1">
            <a:spLocks noChangeArrowheads="1"/>
          </p:cNvSpPr>
          <p:nvPr/>
        </p:nvSpPr>
        <p:spPr bwMode="auto">
          <a:xfrm>
            <a:off x="5940425" y="4138613"/>
            <a:ext cx="287972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544513" indent="-544513">
              <a:spcBef>
                <a:spcPct val="50000"/>
              </a:spcBef>
            </a:pPr>
            <a:r>
              <a:rPr lang="hu-HU">
                <a:latin typeface="+mj-lt"/>
              </a:rPr>
              <a:t>H</a:t>
            </a:r>
            <a:r>
              <a:rPr lang="hu-HU" baseline="-25000">
                <a:latin typeface="+mj-lt"/>
              </a:rPr>
              <a:t>max</a:t>
            </a:r>
            <a:r>
              <a:rPr lang="hu-HU">
                <a:latin typeface="+mj-lt"/>
              </a:rPr>
              <a:t> művelet közi </a:t>
            </a:r>
            <a:br>
              <a:rPr lang="hu-HU">
                <a:latin typeface="+mj-lt"/>
              </a:rPr>
            </a:br>
            <a:r>
              <a:rPr lang="hu-HU">
                <a:latin typeface="+mj-lt"/>
              </a:rPr>
              <a:t>készlet maximum</a:t>
            </a:r>
          </a:p>
        </p:txBody>
      </p:sp>
      <p:sp>
        <p:nvSpPr>
          <p:cNvPr id="51" name="Line 30"/>
          <p:cNvSpPr>
            <a:spLocks noChangeShapeType="1"/>
          </p:cNvSpPr>
          <p:nvPr/>
        </p:nvSpPr>
        <p:spPr bwMode="auto">
          <a:xfrm flipH="1">
            <a:off x="4356100" y="4508500"/>
            <a:ext cx="1655763" cy="215900"/>
          </a:xfrm>
          <a:prstGeom prst="line">
            <a:avLst/>
          </a:prstGeom>
          <a:noFill/>
          <a:ln w="9525">
            <a:solidFill>
              <a:srgbClr val="FF66FF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hu-HU">
              <a:latin typeface="+mj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57200" y="555171"/>
            <a:ext cx="8229600" cy="1143000"/>
          </a:xfrm>
        </p:spPr>
        <p:txBody>
          <a:bodyPr>
            <a:normAutofit/>
          </a:bodyPr>
          <a:lstStyle/>
          <a:p>
            <a:r>
              <a:rPr lang="hu-HU" dirty="0"/>
              <a:t>Technológiai fázisok összehangolása</a:t>
            </a: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234621" y="1698852"/>
            <a:ext cx="619283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hu-HU" sz="2800" b="1" dirty="0">
                <a:latin typeface="+mj-lt"/>
                <a:sym typeface="Symbol" pitchFamily="18" charset="2"/>
              </a:rPr>
              <a:t>s = </a:t>
            </a:r>
            <a:r>
              <a:rPr lang="hu-HU" sz="2800" b="1" dirty="0" err="1">
                <a:latin typeface="+mj-lt"/>
                <a:sym typeface="Symbol" pitchFamily="18" charset="2"/>
              </a:rPr>
              <a:t>s</a:t>
            </a:r>
            <a:r>
              <a:rPr lang="hu-HU" sz="2800" b="1" dirty="0">
                <a:latin typeface="+mj-lt"/>
                <a:sym typeface="Symbol" pitchFamily="18" charset="2"/>
              </a:rPr>
              <a:t>’ és </a:t>
            </a:r>
            <a:r>
              <a:rPr lang="hu-HU" sz="2400" b="1" dirty="0">
                <a:latin typeface="+mj-lt"/>
                <a:sym typeface="Symbol" pitchFamily="18" charset="2"/>
              </a:rPr>
              <a:t> &lt; </a:t>
            </a:r>
            <a:r>
              <a:rPr lang="hu-HU" sz="2400" b="1" dirty="0" err="1">
                <a:latin typeface="+mj-lt"/>
                <a:sym typeface="Symbol" pitchFamily="18" charset="2"/>
              </a:rPr>
              <a:t>z</a:t>
            </a:r>
            <a:r>
              <a:rPr lang="hu-HU" sz="2400" b="1" baseline="-25000" dirty="0" err="1">
                <a:latin typeface="+mj-lt"/>
                <a:sym typeface="Symbol" pitchFamily="18" charset="2"/>
              </a:rPr>
              <a:t>szer</a:t>
            </a:r>
            <a:endParaRPr lang="hu-HU" sz="2400" b="1" dirty="0">
              <a:latin typeface="+mj-lt"/>
              <a:sym typeface="Symbol" pitchFamily="18" charset="2"/>
            </a:endParaRPr>
          </a:p>
        </p:txBody>
      </p:sp>
      <p:sp>
        <p:nvSpPr>
          <p:cNvPr id="25" name="Line 25"/>
          <p:cNvSpPr>
            <a:spLocks noChangeShapeType="1"/>
          </p:cNvSpPr>
          <p:nvPr/>
        </p:nvSpPr>
        <p:spPr bwMode="auto">
          <a:xfrm flipV="1">
            <a:off x="2771775" y="2924175"/>
            <a:ext cx="0" cy="2449513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hu-HU">
              <a:latin typeface="+mj-lt"/>
            </a:endParaRPr>
          </a:p>
        </p:txBody>
      </p:sp>
      <p:sp>
        <p:nvSpPr>
          <p:cNvPr id="26" name="Line 26"/>
          <p:cNvSpPr>
            <a:spLocks noChangeShapeType="1"/>
          </p:cNvSpPr>
          <p:nvPr/>
        </p:nvSpPr>
        <p:spPr bwMode="auto">
          <a:xfrm flipV="1">
            <a:off x="2771775" y="5229225"/>
            <a:ext cx="4105275" cy="71438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hu-HU">
              <a:latin typeface="+mj-lt"/>
            </a:endParaRPr>
          </a:p>
        </p:txBody>
      </p:sp>
      <p:sp>
        <p:nvSpPr>
          <p:cNvPr id="27" name="Text Box 27"/>
          <p:cNvSpPr txBox="1">
            <a:spLocks noChangeArrowheads="1"/>
          </p:cNvSpPr>
          <p:nvPr/>
        </p:nvSpPr>
        <p:spPr bwMode="auto">
          <a:xfrm>
            <a:off x="7019925" y="5084763"/>
            <a:ext cx="8651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hu-HU" b="1">
                <a:latin typeface="+mj-lt"/>
              </a:rPr>
              <a:t>idő</a:t>
            </a:r>
          </a:p>
        </p:txBody>
      </p:sp>
      <p:sp>
        <p:nvSpPr>
          <p:cNvPr id="28" name="Text Box 28"/>
          <p:cNvSpPr txBox="1">
            <a:spLocks noChangeArrowheads="1"/>
          </p:cNvSpPr>
          <p:nvPr/>
        </p:nvSpPr>
        <p:spPr bwMode="auto">
          <a:xfrm>
            <a:off x="1042988" y="3068638"/>
            <a:ext cx="151288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hu-HU" b="1">
                <a:latin typeface="+mj-lt"/>
              </a:rPr>
              <a:t>mennyiség</a:t>
            </a:r>
          </a:p>
        </p:txBody>
      </p:sp>
      <p:sp>
        <p:nvSpPr>
          <p:cNvPr id="29" name="Line 29"/>
          <p:cNvSpPr>
            <a:spLocks noChangeShapeType="1"/>
          </p:cNvSpPr>
          <p:nvPr/>
        </p:nvSpPr>
        <p:spPr bwMode="auto">
          <a:xfrm>
            <a:off x="2700338" y="3860800"/>
            <a:ext cx="3887787" cy="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hu-HU">
              <a:latin typeface="+mj-lt"/>
            </a:endParaRPr>
          </a:p>
        </p:txBody>
      </p:sp>
      <p:sp>
        <p:nvSpPr>
          <p:cNvPr id="30" name="Text Box 30"/>
          <p:cNvSpPr txBox="1">
            <a:spLocks noChangeArrowheads="1"/>
          </p:cNvSpPr>
          <p:nvPr/>
        </p:nvSpPr>
        <p:spPr bwMode="auto">
          <a:xfrm>
            <a:off x="2268538" y="3500438"/>
            <a:ext cx="431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hu-HU" sz="2000">
                <a:latin typeface="+mj-lt"/>
              </a:rPr>
              <a:t>Q</a:t>
            </a:r>
          </a:p>
        </p:txBody>
      </p:sp>
      <p:sp>
        <p:nvSpPr>
          <p:cNvPr id="31" name="Line 31"/>
          <p:cNvSpPr>
            <a:spLocks noChangeShapeType="1"/>
          </p:cNvSpPr>
          <p:nvPr/>
        </p:nvSpPr>
        <p:spPr bwMode="auto">
          <a:xfrm flipV="1">
            <a:off x="2771775" y="3860800"/>
            <a:ext cx="2087563" cy="143986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hu-HU">
              <a:latin typeface="+mj-lt"/>
            </a:endParaRPr>
          </a:p>
        </p:txBody>
      </p:sp>
      <p:sp>
        <p:nvSpPr>
          <p:cNvPr id="32" name="Line 32"/>
          <p:cNvSpPr>
            <a:spLocks noChangeShapeType="1"/>
          </p:cNvSpPr>
          <p:nvPr/>
        </p:nvSpPr>
        <p:spPr bwMode="auto">
          <a:xfrm flipV="1">
            <a:off x="3348038" y="3860800"/>
            <a:ext cx="2879725" cy="143986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hu-HU">
              <a:latin typeface="+mj-lt"/>
            </a:endParaRPr>
          </a:p>
        </p:txBody>
      </p:sp>
      <p:sp>
        <p:nvSpPr>
          <p:cNvPr id="33" name="Line 33"/>
          <p:cNvSpPr>
            <a:spLocks noChangeShapeType="1"/>
          </p:cNvSpPr>
          <p:nvPr/>
        </p:nvSpPr>
        <p:spPr bwMode="auto">
          <a:xfrm>
            <a:off x="4859338" y="3141663"/>
            <a:ext cx="0" cy="7191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hu-HU">
              <a:latin typeface="+mj-lt"/>
            </a:endParaRPr>
          </a:p>
        </p:txBody>
      </p:sp>
      <p:sp>
        <p:nvSpPr>
          <p:cNvPr id="34" name="Line 34"/>
          <p:cNvSpPr>
            <a:spLocks noChangeShapeType="1"/>
          </p:cNvSpPr>
          <p:nvPr/>
        </p:nvSpPr>
        <p:spPr bwMode="auto">
          <a:xfrm flipV="1">
            <a:off x="6156325" y="3573463"/>
            <a:ext cx="71438" cy="25923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hu-HU">
              <a:latin typeface="+mj-lt"/>
            </a:endParaRPr>
          </a:p>
        </p:txBody>
      </p:sp>
      <p:sp>
        <p:nvSpPr>
          <p:cNvPr id="35" name="Line 36"/>
          <p:cNvSpPr>
            <a:spLocks noChangeShapeType="1"/>
          </p:cNvSpPr>
          <p:nvPr/>
        </p:nvSpPr>
        <p:spPr bwMode="auto">
          <a:xfrm>
            <a:off x="2771775" y="3141663"/>
            <a:ext cx="20875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hu-HU">
              <a:latin typeface="+mj-lt"/>
            </a:endParaRPr>
          </a:p>
        </p:txBody>
      </p:sp>
      <p:sp>
        <p:nvSpPr>
          <p:cNvPr id="36" name="Line 37"/>
          <p:cNvSpPr>
            <a:spLocks noChangeShapeType="1"/>
          </p:cNvSpPr>
          <p:nvPr/>
        </p:nvSpPr>
        <p:spPr bwMode="auto">
          <a:xfrm>
            <a:off x="3348038" y="5300663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hu-HU">
              <a:latin typeface="+mj-lt"/>
            </a:endParaRPr>
          </a:p>
        </p:txBody>
      </p:sp>
      <p:sp>
        <p:nvSpPr>
          <p:cNvPr id="37" name="Line 38"/>
          <p:cNvSpPr>
            <a:spLocks noChangeShapeType="1"/>
          </p:cNvSpPr>
          <p:nvPr/>
        </p:nvSpPr>
        <p:spPr bwMode="auto">
          <a:xfrm>
            <a:off x="2771775" y="5300663"/>
            <a:ext cx="0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hu-HU">
              <a:latin typeface="+mj-lt"/>
            </a:endParaRPr>
          </a:p>
        </p:txBody>
      </p:sp>
      <p:sp>
        <p:nvSpPr>
          <p:cNvPr id="38" name="Line 39"/>
          <p:cNvSpPr>
            <a:spLocks noChangeShapeType="1"/>
          </p:cNvSpPr>
          <p:nvPr/>
        </p:nvSpPr>
        <p:spPr bwMode="auto">
          <a:xfrm>
            <a:off x="3348038" y="5589588"/>
            <a:ext cx="28082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hu-HU">
              <a:latin typeface="+mj-lt"/>
            </a:endParaRPr>
          </a:p>
        </p:txBody>
      </p:sp>
      <p:sp>
        <p:nvSpPr>
          <p:cNvPr id="39" name="Line 40"/>
          <p:cNvSpPr>
            <a:spLocks noChangeShapeType="1"/>
          </p:cNvSpPr>
          <p:nvPr/>
        </p:nvSpPr>
        <p:spPr bwMode="auto">
          <a:xfrm>
            <a:off x="2771775" y="5949950"/>
            <a:ext cx="3384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hu-HU">
              <a:latin typeface="+mj-lt"/>
            </a:endParaRPr>
          </a:p>
        </p:txBody>
      </p:sp>
      <p:sp>
        <p:nvSpPr>
          <p:cNvPr id="40" name="Text Box 41"/>
          <p:cNvSpPr txBox="1">
            <a:spLocks noChangeArrowheads="1"/>
          </p:cNvSpPr>
          <p:nvPr/>
        </p:nvSpPr>
        <p:spPr bwMode="auto">
          <a:xfrm>
            <a:off x="3059113" y="6165850"/>
            <a:ext cx="41052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hu-HU" b="1">
                <a:latin typeface="+mj-lt"/>
              </a:rPr>
              <a:t>Teljes átfutási idő</a:t>
            </a:r>
          </a:p>
        </p:txBody>
      </p:sp>
      <p:sp>
        <p:nvSpPr>
          <p:cNvPr id="41" name="Text Box 42"/>
          <p:cNvSpPr txBox="1">
            <a:spLocks noChangeArrowheads="1"/>
          </p:cNvSpPr>
          <p:nvPr/>
        </p:nvSpPr>
        <p:spPr bwMode="auto">
          <a:xfrm>
            <a:off x="6516688" y="5949950"/>
            <a:ext cx="15113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hu-HU" b="1">
                <a:latin typeface="+mj-lt"/>
              </a:rPr>
              <a:t>Szerelési átfutási idő</a:t>
            </a:r>
          </a:p>
        </p:txBody>
      </p:sp>
      <p:sp>
        <p:nvSpPr>
          <p:cNvPr id="42" name="Text Box 43"/>
          <p:cNvSpPr txBox="1">
            <a:spLocks noChangeArrowheads="1"/>
          </p:cNvSpPr>
          <p:nvPr/>
        </p:nvSpPr>
        <p:spPr bwMode="auto">
          <a:xfrm>
            <a:off x="1116013" y="5013325"/>
            <a:ext cx="6477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hu-HU" sz="2000" b="1">
                <a:latin typeface="+mj-lt"/>
              </a:rPr>
              <a:t>z</a:t>
            </a:r>
            <a:r>
              <a:rPr lang="hu-HU" sz="2000" b="1" baseline="-25000">
                <a:latin typeface="+mj-lt"/>
              </a:rPr>
              <a:t>forg</a:t>
            </a:r>
            <a:endParaRPr lang="hu-HU" sz="2000" b="1">
              <a:latin typeface="+mj-lt"/>
            </a:endParaRPr>
          </a:p>
        </p:txBody>
      </p:sp>
      <p:sp>
        <p:nvSpPr>
          <p:cNvPr id="43" name="Text Box 44"/>
          <p:cNvSpPr txBox="1">
            <a:spLocks noChangeArrowheads="1"/>
          </p:cNvSpPr>
          <p:nvPr/>
        </p:nvSpPr>
        <p:spPr bwMode="auto">
          <a:xfrm>
            <a:off x="3060700" y="2603500"/>
            <a:ext cx="15113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hu-HU" b="1">
                <a:latin typeface="+mj-lt"/>
              </a:rPr>
              <a:t>Forgácsoló átfutási idő</a:t>
            </a:r>
          </a:p>
        </p:txBody>
      </p:sp>
      <p:sp>
        <p:nvSpPr>
          <p:cNvPr id="44" name="Line 45"/>
          <p:cNvSpPr>
            <a:spLocks noChangeShapeType="1"/>
          </p:cNvSpPr>
          <p:nvPr/>
        </p:nvSpPr>
        <p:spPr bwMode="auto">
          <a:xfrm flipH="1" flipV="1">
            <a:off x="5076825" y="5589588"/>
            <a:ext cx="863600" cy="4318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hu-HU">
              <a:latin typeface="+mj-lt"/>
            </a:endParaRPr>
          </a:p>
        </p:txBody>
      </p:sp>
      <p:sp>
        <p:nvSpPr>
          <p:cNvPr id="45" name="Line 46"/>
          <p:cNvSpPr>
            <a:spLocks noChangeShapeType="1"/>
          </p:cNvSpPr>
          <p:nvPr/>
        </p:nvSpPr>
        <p:spPr bwMode="auto">
          <a:xfrm>
            <a:off x="2771775" y="5661025"/>
            <a:ext cx="5762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hu-HU">
              <a:latin typeface="+mj-lt"/>
            </a:endParaRPr>
          </a:p>
        </p:txBody>
      </p:sp>
      <p:sp>
        <p:nvSpPr>
          <p:cNvPr id="46" name="Line 48"/>
          <p:cNvSpPr>
            <a:spLocks noChangeShapeType="1"/>
          </p:cNvSpPr>
          <p:nvPr/>
        </p:nvSpPr>
        <p:spPr bwMode="auto">
          <a:xfrm>
            <a:off x="1835150" y="5300663"/>
            <a:ext cx="1223963" cy="288925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hu-HU">
              <a:latin typeface="+mj-lt"/>
            </a:endParaRPr>
          </a:p>
        </p:txBody>
      </p:sp>
      <p:sp>
        <p:nvSpPr>
          <p:cNvPr id="47" name="Line 49"/>
          <p:cNvSpPr>
            <a:spLocks noChangeShapeType="1"/>
          </p:cNvSpPr>
          <p:nvPr/>
        </p:nvSpPr>
        <p:spPr bwMode="auto">
          <a:xfrm flipV="1">
            <a:off x="4859338" y="3860800"/>
            <a:ext cx="0" cy="647700"/>
          </a:xfrm>
          <a:prstGeom prst="line">
            <a:avLst/>
          </a:prstGeom>
          <a:noFill/>
          <a:ln w="9525">
            <a:solidFill>
              <a:srgbClr val="FF66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hu-HU">
              <a:latin typeface="+mj-lt"/>
            </a:endParaRPr>
          </a:p>
        </p:txBody>
      </p:sp>
      <p:sp>
        <p:nvSpPr>
          <p:cNvPr id="48" name="Text Box 50"/>
          <p:cNvSpPr txBox="1">
            <a:spLocks noChangeArrowheads="1"/>
          </p:cNvSpPr>
          <p:nvPr/>
        </p:nvSpPr>
        <p:spPr bwMode="auto">
          <a:xfrm>
            <a:off x="6515100" y="4221163"/>
            <a:ext cx="26289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544513" indent="-544513">
              <a:spcBef>
                <a:spcPct val="50000"/>
              </a:spcBef>
            </a:pPr>
            <a:r>
              <a:rPr lang="hu-HU">
                <a:latin typeface="+mj-lt"/>
              </a:rPr>
              <a:t>H</a:t>
            </a:r>
            <a:r>
              <a:rPr lang="hu-HU" baseline="-25000">
                <a:latin typeface="+mj-lt"/>
              </a:rPr>
              <a:t>max</a:t>
            </a:r>
            <a:r>
              <a:rPr lang="hu-HU">
                <a:latin typeface="+mj-lt"/>
              </a:rPr>
              <a:t> művelet közi </a:t>
            </a:r>
            <a:br>
              <a:rPr lang="hu-HU">
                <a:latin typeface="+mj-lt"/>
              </a:rPr>
            </a:br>
            <a:r>
              <a:rPr lang="hu-HU">
                <a:latin typeface="+mj-lt"/>
              </a:rPr>
              <a:t>készlet maximum</a:t>
            </a:r>
          </a:p>
        </p:txBody>
      </p:sp>
      <p:sp>
        <p:nvSpPr>
          <p:cNvPr id="49" name="Line 51"/>
          <p:cNvSpPr>
            <a:spLocks noChangeShapeType="1"/>
          </p:cNvSpPr>
          <p:nvPr/>
        </p:nvSpPr>
        <p:spPr bwMode="auto">
          <a:xfrm flipH="1" flipV="1">
            <a:off x="4859338" y="4221163"/>
            <a:ext cx="1657350" cy="215900"/>
          </a:xfrm>
          <a:prstGeom prst="line">
            <a:avLst/>
          </a:prstGeom>
          <a:noFill/>
          <a:ln w="9525">
            <a:solidFill>
              <a:srgbClr val="FF66FF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hu-HU">
              <a:latin typeface="+mj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Példák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 dirty="0"/>
          </a:p>
          <a:p>
            <a:endParaRPr lang="hu-HU" dirty="0"/>
          </a:p>
          <a:p>
            <a:endParaRPr lang="hu-HU" dirty="0"/>
          </a:p>
          <a:p>
            <a:endParaRPr lang="hu-HU" dirty="0"/>
          </a:p>
          <a:p>
            <a:r>
              <a:rPr lang="hu-HU" dirty="0"/>
              <a:t>További tudnivalók példákon keresztül!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-té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ém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é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657</TotalTime>
  <Words>333</Words>
  <Application>Microsoft Office PowerPoint</Application>
  <PresentationFormat>Diavetítés a képernyőre (4:3 oldalarány)</PresentationFormat>
  <Paragraphs>88</Paragraphs>
  <Slides>12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Wingdings</vt:lpstr>
      <vt:lpstr>Office-téma</vt:lpstr>
      <vt:lpstr>PowerPoint-bemutató</vt:lpstr>
      <vt:lpstr>Átfutási idő elemei</vt:lpstr>
      <vt:lpstr>Ráfordítás-növekedés</vt:lpstr>
      <vt:lpstr>Átfutási idő szerkezete</vt:lpstr>
      <vt:lpstr>Soros műveletkapcsolás</vt:lpstr>
      <vt:lpstr>Párhuzamos műveletkapcsolás</vt:lpstr>
      <vt:lpstr>Átlapolt műveletkapcsolás</vt:lpstr>
      <vt:lpstr>Technológiai fázisok összehangolása</vt:lpstr>
      <vt:lpstr>Technológiai fázisok összehangolása</vt:lpstr>
      <vt:lpstr>Technológiai fázisok összehangolása</vt:lpstr>
      <vt:lpstr>Technológiai fázisok összehangolása</vt:lpstr>
      <vt:lpstr>Példák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bemutató</dc:title>
  <dc:creator>Dr. Berényi László</dc:creator>
  <cp:lastModifiedBy>Lászlo Dr. Berényi</cp:lastModifiedBy>
  <cp:revision>79</cp:revision>
  <dcterms:created xsi:type="dcterms:W3CDTF">2015-07-30T19:30:28Z</dcterms:created>
  <dcterms:modified xsi:type="dcterms:W3CDTF">2021-04-25T19:27:52Z</dcterms:modified>
</cp:coreProperties>
</file>